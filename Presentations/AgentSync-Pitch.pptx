
<file path=[Content_Types].xml><?xml version="1.0" encoding="utf-8"?>
<Types xmlns="http://schemas.openxmlformats.org/package/2006/content-types">
  <Default ContentType="application/x-fontdata" Extension="fntdata"/>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x="18288000" cy="10287000"/>
  <p:notesSz cx="6858000" cy="9144000"/>
  <p:embeddedFontLst>
    <p:embeddedFont>
      <p:font typeface="Arial Bold" charset="1" panose="020B0704020202020204"/>
      <p:regular r:id="rId21"/>
    </p:embeddedFont>
    <p:embeddedFont>
      <p:font typeface="Arial" charset="1" panose="020B0604020202020204"/>
      <p:regular r:id="rId22"/>
    </p:embeddedFont>
    <p:embeddedFont>
      <p:font typeface="Arial Italics" charset="1" panose="020B060402020209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notesMasters/notesMaster1.xml" Type="http://schemas.openxmlformats.org/officeDocument/2006/relationships/notesMaster"/><Relationship Id="rId19" Target="theme/theme2.xml" Type="http://schemas.openxmlformats.org/officeDocument/2006/relationships/theme"/><Relationship Id="rId2" Target="presProps.xml" Type="http://schemas.openxmlformats.org/officeDocument/2006/relationships/presProps"/><Relationship Id="rId20" Target="notesSlides/notesSlide1.xml" Type="http://schemas.openxmlformats.org/officeDocument/2006/relationships/notesSlide"/><Relationship Id="rId21" Target="fonts/font21.fntdata" Type="http://schemas.openxmlformats.org/officeDocument/2006/relationships/font"/><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fonts/font26.fntdata" Type="http://schemas.openxmlformats.org/officeDocument/2006/relationships/font"/><Relationship Id="rId27" Target="notesSlides/notesSlide5.xml" Type="http://schemas.openxmlformats.org/officeDocument/2006/relationships/notesSlide"/><Relationship Id="rId28" Target="notesSlides/notesSlide6.xml" Type="http://schemas.openxmlformats.org/officeDocument/2006/relationships/notesSlide"/><Relationship Id="rId29" Target="notesSlides/notesSlide7.xml" Type="http://schemas.openxmlformats.org/officeDocument/2006/relationships/notesSlide"/><Relationship Id="rId3" Target="viewProps.xml" Type="http://schemas.openxmlformats.org/officeDocument/2006/relationships/viewProps"/><Relationship Id="rId30" Target="notesSlides/notesSlide8.xml" Type="http://schemas.openxmlformats.org/officeDocument/2006/relationships/notesSlide"/><Relationship Id="rId31" Target="notesSlides/notesSlide9.xml" Type="http://schemas.openxmlformats.org/officeDocument/2006/relationships/notesSlide"/><Relationship Id="rId32" Target="notesSlides/notesSlide10.xml" Type="http://schemas.openxmlformats.org/officeDocument/2006/relationships/notesSlide"/><Relationship Id="rId33" Target="notesSlides/notesSlide11.xml" Type="http://schemas.openxmlformats.org/officeDocument/2006/relationships/notesSlide"/><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AgentSync is one platform where a team of AI helpers finds the cause of an IT problem and sends it to the right engineer, one who has the skills and the free time. Add your team name and problem statement ID on this slide.</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Fixing a problem takes time because people check logs and old records by hand. Then the alert goes to whoever is on the schedule, not whoever is the best fit or is free. The same experts get called again and again and burn out.</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AgentSync does the whole job: it investigates, finds the cause, and picks an engineer who has the right skills and enough free time. Everything is shown on one simple web dashboard.</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Users open one web dashboard. A connecting layer handles login, team skills and workload, and tickets, with an automatic backup if a service is down. The AI engine runs the agents in order: Planner, Investigation, Analysis, Risk check, Decision and engineer match. Five HR review agents support the matching. Underneath are the data and tools, long-term memory, the team data store and the AI model.</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Report: someone describes the problem. 2 Plan: the Planner checks if it is a real incident and makes a checklist. 3 Investigate: the AI reads logs, health, past cases and fix guides using 7 tools. 4 Analyse: finds the cause and how serious it is. 5 Decide: plans the fix; high risk goes straight to action, medium risk is re-checked. 6 Assign: the best-fit engineer under 100 percent workload gets the ticket. Afterwards the case is saved to memory.</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Four helpers solve the problem: Planner, Investigator, Analyst and Decision Maker. Five helpers look after people: Workload, Project Fit, Performance, Availability and Wellbeing.</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rule is simple: below 100 percent workload can be assigned, 100 percent or more is skipped, however skilled. Example: Tariq at 75 percent is chosen, Elena at 115 and Lucas at 120 are skipped. If workload goes above 85 percent or stress is high, the manager gets a check-in suggestion.</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Backend in Python with FastAPI. AI helpers use LangGraph and LangChain with the Groq model. The website uses React. The team data service uses Node.js with an automatic in-process backup. Data is stored in SQLite. 41 automated tests pass. The website is on Vercel and the server is on Render. All four milestones are complete.</a:t>
            </a:r>
          </a:p>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Main users work with the platform every day. Stakeholders do not use it directly but benefit from fewer outages and a healthier team.</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Faster fixes mean less downtime. Fair workload means healthier teams. The system also keeps working if one part fails, and it remembers past incidents.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Faster fixes mean less downtime. Fair workload means healthier teams. The system also keeps working if one part fails, and it remembers past incidents.</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jpeg" Type="http://schemas.openxmlformats.org/officeDocument/2006/relationships/image"/><Relationship Id="rId4" Target="https://agent-sync.vercel.app" TargetMode="External" Type="http://schemas.openxmlformats.org/officeDocument/2006/relationships/hyperlink"/></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AF0FA"/>
        </a:solidFill>
      </p:bgPr>
    </p:bg>
    <p:spTree>
      <p:nvGrpSpPr>
        <p:cNvPr id="1" name=""/>
        <p:cNvGrpSpPr/>
        <p:nvPr/>
      </p:nvGrpSpPr>
      <p:grpSpPr>
        <a:xfrm>
          <a:off x="0" y="0"/>
          <a:ext cx="0" cy="0"/>
          <a:chOff x="0" y="0"/>
          <a:chExt cx="0" cy="0"/>
        </a:xfrm>
      </p:grpSpPr>
      <p:grpSp>
        <p:nvGrpSpPr>
          <p:cNvPr name="Group 2" id="2"/>
          <p:cNvGrpSpPr/>
          <p:nvPr/>
        </p:nvGrpSpPr>
        <p:grpSpPr>
          <a:xfrm rot="0">
            <a:off x="914400" y="914400"/>
            <a:ext cx="16459200" cy="548640"/>
            <a:chOff x="0" y="0"/>
            <a:chExt cx="21945600" cy="731520"/>
          </a:xfrm>
        </p:grpSpPr>
        <p:sp>
          <p:nvSpPr>
            <p:cNvPr name="Freeform 3" id="3"/>
            <p:cNvSpPr/>
            <p:nvPr/>
          </p:nvSpPr>
          <p:spPr>
            <a:xfrm flipH="false" flipV="false" rot="0">
              <a:off x="0" y="0"/>
              <a:ext cx="21945600" cy="731520"/>
            </a:xfrm>
            <a:custGeom>
              <a:avLst/>
              <a:gdLst/>
              <a:ahLst/>
              <a:cxnLst/>
              <a:rect r="r" b="b" t="t" l="l"/>
              <a:pathLst>
                <a:path h="731520" w="21945600">
                  <a:moveTo>
                    <a:pt x="0" y="0"/>
                  </a:moveTo>
                  <a:lnTo>
                    <a:pt x="21945600" y="0"/>
                  </a:lnTo>
                  <a:lnTo>
                    <a:pt x="21945600" y="731520"/>
                  </a:lnTo>
                  <a:lnTo>
                    <a:pt x="0" y="731520"/>
                  </a:lnTo>
                  <a:close/>
                </a:path>
              </a:pathLst>
            </a:custGeom>
            <a:blipFill>
              <a:blip r:embed="rId3">
                <a:alphaModFix amt="0"/>
              </a:blip>
              <a:stretch>
                <a:fillRect l="0" t="-534551" r="0" b="-534551"/>
              </a:stretch>
            </a:blipFill>
          </p:spPr>
        </p:sp>
        <p:sp>
          <p:nvSpPr>
            <p:cNvPr name="TextBox 4" id="4"/>
            <p:cNvSpPr txBox="true"/>
            <p:nvPr/>
          </p:nvSpPr>
          <p:spPr>
            <a:xfrm>
              <a:off x="0" y="-19050"/>
              <a:ext cx="21945600" cy="750570"/>
            </a:xfrm>
            <a:prstGeom prst="rect">
              <a:avLst/>
            </a:prstGeom>
          </p:spPr>
          <p:txBody>
            <a:bodyPr anchor="ctr" rtlCol="false" tIns="0" lIns="0" bIns="0" rIns="0"/>
            <a:lstStyle/>
            <a:p>
              <a:pPr algn="l">
                <a:lnSpc>
                  <a:spcPts val="2639"/>
                </a:lnSpc>
              </a:pPr>
              <a:r>
                <a:rPr lang="en-US" sz="2199" b="true">
                  <a:solidFill>
                    <a:srgbClr val="F28C28"/>
                  </a:solidFill>
                  <a:latin typeface="Arial Bold"/>
                  <a:ea typeface="Arial Bold"/>
                  <a:cs typeface="Arial Bold"/>
                  <a:sym typeface="Arial Bold"/>
                </a:rPr>
                <a:t>INFOSYS SPRING BOARD</a:t>
              </a:r>
              <a:r>
                <a:rPr lang="en-US" sz="2199" b="true">
                  <a:solidFill>
                    <a:srgbClr val="F28C28"/>
                  </a:solidFill>
                  <a:latin typeface="Arial Bold"/>
                  <a:ea typeface="Arial Bold"/>
                  <a:cs typeface="Arial Bold"/>
                  <a:sym typeface="Arial Bold"/>
                </a:rPr>
                <a:t>  | INTERNSHIP</a:t>
              </a:r>
            </a:p>
          </p:txBody>
        </p:sp>
      </p:grpSp>
      <p:grpSp>
        <p:nvGrpSpPr>
          <p:cNvPr name="Group 5" id="5"/>
          <p:cNvGrpSpPr/>
          <p:nvPr/>
        </p:nvGrpSpPr>
        <p:grpSpPr>
          <a:xfrm rot="0">
            <a:off x="914400" y="2265507"/>
            <a:ext cx="16459200" cy="2337953"/>
            <a:chOff x="0" y="0"/>
            <a:chExt cx="21945600" cy="3117270"/>
          </a:xfrm>
        </p:grpSpPr>
        <p:sp>
          <p:nvSpPr>
            <p:cNvPr name="Freeform 6" id="6"/>
            <p:cNvSpPr/>
            <p:nvPr/>
          </p:nvSpPr>
          <p:spPr>
            <a:xfrm flipH="false" flipV="false" rot="0">
              <a:off x="0" y="0"/>
              <a:ext cx="21945600" cy="3117270"/>
            </a:xfrm>
            <a:custGeom>
              <a:avLst/>
              <a:gdLst/>
              <a:ahLst/>
              <a:cxnLst/>
              <a:rect r="r" b="b" t="t" l="l"/>
              <a:pathLst>
                <a:path h="3117270" w="21945600">
                  <a:moveTo>
                    <a:pt x="0" y="0"/>
                  </a:moveTo>
                  <a:lnTo>
                    <a:pt x="21945600" y="0"/>
                  </a:lnTo>
                  <a:lnTo>
                    <a:pt x="21945600" y="3117270"/>
                  </a:lnTo>
                  <a:lnTo>
                    <a:pt x="0" y="3117270"/>
                  </a:lnTo>
                  <a:close/>
                </a:path>
              </a:pathLst>
            </a:custGeom>
            <a:solidFill>
              <a:srgbClr val="FFFFFF"/>
            </a:solidFill>
          </p:spPr>
        </p:sp>
        <p:sp>
          <p:nvSpPr>
            <p:cNvPr name="TextBox 7" id="7"/>
            <p:cNvSpPr txBox="true"/>
            <p:nvPr/>
          </p:nvSpPr>
          <p:spPr>
            <a:xfrm>
              <a:off x="0" y="-38100"/>
              <a:ext cx="21945600" cy="3155370"/>
            </a:xfrm>
            <a:prstGeom prst="rect">
              <a:avLst/>
            </a:prstGeom>
          </p:spPr>
          <p:txBody>
            <a:bodyPr anchor="ctr" rtlCol="false" tIns="0" lIns="0" bIns="0" rIns="0"/>
            <a:lstStyle/>
            <a:p>
              <a:pPr algn="l">
                <a:lnSpc>
                  <a:spcPts val="7800"/>
                </a:lnSpc>
              </a:pPr>
              <a:r>
                <a:rPr lang="en-US" sz="6500" b="true">
                  <a:solidFill>
                    <a:srgbClr val="000000"/>
                  </a:solidFill>
                  <a:latin typeface="Arial Bold"/>
                  <a:ea typeface="Arial Bold"/>
                  <a:cs typeface="Arial Bold"/>
                  <a:sym typeface="Arial Bold"/>
                </a:rPr>
                <a:t>AgentSync: AI Agent Coordination &amp; Decision Engine</a:t>
              </a:r>
            </a:p>
          </p:txBody>
        </p:sp>
      </p:grpSp>
      <p:grpSp>
        <p:nvGrpSpPr>
          <p:cNvPr name="Group 8" id="8"/>
          <p:cNvGrpSpPr/>
          <p:nvPr/>
        </p:nvGrpSpPr>
        <p:grpSpPr>
          <a:xfrm rot="0">
            <a:off x="1028700" y="5405927"/>
            <a:ext cx="14630400" cy="2011680"/>
            <a:chOff x="0" y="0"/>
            <a:chExt cx="19507200" cy="2682240"/>
          </a:xfrm>
        </p:grpSpPr>
        <p:sp>
          <p:nvSpPr>
            <p:cNvPr name="Freeform 9" id="9"/>
            <p:cNvSpPr/>
            <p:nvPr/>
          </p:nvSpPr>
          <p:spPr>
            <a:xfrm flipH="false" flipV="false" rot="0">
              <a:off x="0" y="0"/>
              <a:ext cx="19507200" cy="2682240"/>
            </a:xfrm>
            <a:custGeom>
              <a:avLst/>
              <a:gdLst/>
              <a:ahLst/>
              <a:cxnLst/>
              <a:rect r="r" b="b" t="t" l="l"/>
              <a:pathLst>
                <a:path h="2682240" w="19507200">
                  <a:moveTo>
                    <a:pt x="0" y="0"/>
                  </a:moveTo>
                  <a:lnTo>
                    <a:pt x="19507200" y="0"/>
                  </a:lnTo>
                  <a:lnTo>
                    <a:pt x="19507200" y="2682240"/>
                  </a:lnTo>
                  <a:lnTo>
                    <a:pt x="0" y="2682240"/>
                  </a:lnTo>
                  <a:close/>
                </a:path>
              </a:pathLst>
            </a:custGeom>
            <a:blipFill>
              <a:blip r:embed="rId3">
                <a:alphaModFix amt="0"/>
              </a:blip>
              <a:stretch>
                <a:fillRect l="0" t="-91709" r="0" b="-91709"/>
              </a:stretch>
            </a:blipFill>
          </p:spPr>
        </p:sp>
        <p:sp>
          <p:nvSpPr>
            <p:cNvPr name="TextBox 10" id="10"/>
            <p:cNvSpPr txBox="true"/>
            <p:nvPr/>
          </p:nvSpPr>
          <p:spPr>
            <a:xfrm>
              <a:off x="0" y="-9525"/>
              <a:ext cx="19507200" cy="2691765"/>
            </a:xfrm>
            <a:prstGeom prst="rect">
              <a:avLst/>
            </a:prstGeom>
          </p:spPr>
          <p:txBody>
            <a:bodyPr anchor="ctr" rtlCol="false" tIns="0" lIns="0" bIns="0" rIns="0"/>
            <a:lstStyle/>
            <a:p>
              <a:pPr algn="l">
                <a:lnSpc>
                  <a:spcPts val="4799"/>
                </a:lnSpc>
              </a:pPr>
              <a:r>
                <a:rPr lang="en-US" sz="3999">
                  <a:solidFill>
                    <a:srgbClr val="000000"/>
                  </a:solidFill>
                  <a:latin typeface="Arial"/>
                  <a:ea typeface="Arial"/>
                  <a:cs typeface="Arial"/>
                  <a:sym typeface="Arial"/>
                </a:rPr>
                <a:t>Intelligent Incident Resolution with Workforce-Aware Resource Allocation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480060"/>
            <a:ext cx="16459200" cy="1155055"/>
            <a:chOff x="0" y="0"/>
            <a:chExt cx="21945600" cy="1540074"/>
          </a:xfrm>
        </p:grpSpPr>
        <p:sp>
          <p:nvSpPr>
            <p:cNvPr name="Freeform 3" id="3"/>
            <p:cNvSpPr/>
            <p:nvPr/>
          </p:nvSpPr>
          <p:spPr>
            <a:xfrm flipH="false" flipV="false" rot="0">
              <a:off x="0" y="0"/>
              <a:ext cx="21945600" cy="1540074"/>
            </a:xfrm>
            <a:custGeom>
              <a:avLst/>
              <a:gdLst/>
              <a:ahLst/>
              <a:cxnLst/>
              <a:rect r="r" b="b" t="t" l="l"/>
              <a:pathLst>
                <a:path h="1540074" w="21945600">
                  <a:moveTo>
                    <a:pt x="0" y="0"/>
                  </a:moveTo>
                  <a:lnTo>
                    <a:pt x="21945600" y="0"/>
                  </a:lnTo>
                  <a:lnTo>
                    <a:pt x="21945600" y="1540074"/>
                  </a:lnTo>
                  <a:lnTo>
                    <a:pt x="0" y="1540074"/>
                  </a:lnTo>
                  <a:close/>
                </a:path>
              </a:pathLst>
            </a:custGeom>
            <a:blipFill>
              <a:blip r:embed="rId3">
                <a:alphaModFix amt="0"/>
              </a:blip>
              <a:stretch>
                <a:fillRect l="0" t="-230157" r="0" b="-225155"/>
              </a:stretch>
            </a:blipFill>
          </p:spPr>
        </p:sp>
        <p:sp>
          <p:nvSpPr>
            <p:cNvPr name="TextBox 4" id="4"/>
            <p:cNvSpPr txBox="true"/>
            <p:nvPr/>
          </p:nvSpPr>
          <p:spPr>
            <a:xfrm>
              <a:off x="0" y="-38100"/>
              <a:ext cx="21945600" cy="1578174"/>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The Problem Statement</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T</a:t>
              </a:r>
              <a:r>
                <a:rPr lang="en-US" sz="2799">
                  <a:solidFill>
                    <a:srgbClr val="5B6B8C"/>
                  </a:solidFill>
                  <a:latin typeface="Arial"/>
                  <a:ea typeface="Arial"/>
                  <a:cs typeface="Arial"/>
                  <a:sym typeface="Arial"/>
                </a:rPr>
                <a:t>he Challenge: Slow Incident Resolution and Inefficient Workforce Allocation</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8817163" y="2725148"/>
            <a:ext cx="8836704" cy="5879985"/>
            <a:chOff x="0" y="0"/>
            <a:chExt cx="12868284" cy="8562618"/>
          </a:xfrm>
        </p:grpSpPr>
        <p:sp>
          <p:nvSpPr>
            <p:cNvPr name="Freeform 12" id="12"/>
            <p:cNvSpPr/>
            <p:nvPr/>
          </p:nvSpPr>
          <p:spPr>
            <a:xfrm flipH="false" flipV="false" rot="0">
              <a:off x="0" y="0"/>
              <a:ext cx="12868118" cy="8562498"/>
            </a:xfrm>
            <a:custGeom>
              <a:avLst/>
              <a:gdLst/>
              <a:ahLst/>
              <a:cxnLst/>
              <a:rect r="r" b="b" t="t" l="l"/>
              <a:pathLst>
                <a:path h="8562498" w="12868118">
                  <a:moveTo>
                    <a:pt x="0" y="263430"/>
                  </a:moveTo>
                  <a:cubicBezTo>
                    <a:pt x="0" y="117895"/>
                    <a:pt x="164585" y="0"/>
                    <a:pt x="367756" y="0"/>
                  </a:cubicBezTo>
                  <a:lnTo>
                    <a:pt x="12500362" y="0"/>
                  </a:lnTo>
                  <a:cubicBezTo>
                    <a:pt x="12703534" y="0"/>
                    <a:pt x="12868118" y="117895"/>
                    <a:pt x="12868118" y="263430"/>
                  </a:cubicBezTo>
                  <a:lnTo>
                    <a:pt x="12868118" y="8299069"/>
                  </a:lnTo>
                  <a:cubicBezTo>
                    <a:pt x="12868118" y="8444603"/>
                    <a:pt x="12703534" y="8562498"/>
                    <a:pt x="12500362" y="8562498"/>
                  </a:cubicBezTo>
                  <a:lnTo>
                    <a:pt x="367756" y="8562498"/>
                  </a:lnTo>
                  <a:cubicBezTo>
                    <a:pt x="164585" y="8562656"/>
                    <a:pt x="0" y="8444603"/>
                    <a:pt x="0" y="8299069"/>
                  </a:cubicBezTo>
                  <a:close/>
                </a:path>
              </a:pathLst>
            </a:custGeom>
            <a:solidFill>
              <a:srgbClr val="EAF0FA"/>
            </a:solidFill>
            <a:ln w="25400" cap="sq">
              <a:solidFill>
                <a:srgbClr val="EAF0FA"/>
              </a:solidFill>
              <a:prstDash val="solid"/>
              <a:miter/>
            </a:ln>
          </p:spPr>
        </p:sp>
      </p:grpSp>
      <p:sp>
        <p:nvSpPr>
          <p:cNvPr name="TextBox 13" id="13"/>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2</a:t>
            </a:r>
          </a:p>
        </p:txBody>
      </p:sp>
      <p:grpSp>
        <p:nvGrpSpPr>
          <p:cNvPr name="Group 14" id="14"/>
          <p:cNvGrpSpPr/>
          <p:nvPr/>
        </p:nvGrpSpPr>
        <p:grpSpPr>
          <a:xfrm rot="0">
            <a:off x="374212" y="2725148"/>
            <a:ext cx="7827668" cy="6098195"/>
            <a:chOff x="0" y="0"/>
            <a:chExt cx="2061608" cy="1606109"/>
          </a:xfrm>
        </p:grpSpPr>
        <p:sp>
          <p:nvSpPr>
            <p:cNvPr name="Freeform 15" id="15"/>
            <p:cNvSpPr/>
            <p:nvPr/>
          </p:nvSpPr>
          <p:spPr>
            <a:xfrm flipH="false" flipV="false" rot="0">
              <a:off x="0" y="0"/>
              <a:ext cx="2061608" cy="1606109"/>
            </a:xfrm>
            <a:custGeom>
              <a:avLst/>
              <a:gdLst/>
              <a:ahLst/>
              <a:cxnLst/>
              <a:rect r="r" b="b" t="t" l="l"/>
              <a:pathLst>
                <a:path h="1606109" w="2061608">
                  <a:moveTo>
                    <a:pt x="11869" y="0"/>
                  </a:moveTo>
                  <a:lnTo>
                    <a:pt x="2049740" y="0"/>
                  </a:lnTo>
                  <a:cubicBezTo>
                    <a:pt x="2056294" y="0"/>
                    <a:pt x="2061608" y="5314"/>
                    <a:pt x="2061608" y="11869"/>
                  </a:cubicBezTo>
                  <a:lnTo>
                    <a:pt x="2061608" y="1594240"/>
                  </a:lnTo>
                  <a:cubicBezTo>
                    <a:pt x="2061608" y="1600795"/>
                    <a:pt x="2056294" y="1606109"/>
                    <a:pt x="2049740" y="1606109"/>
                  </a:cubicBezTo>
                  <a:lnTo>
                    <a:pt x="11869" y="1606109"/>
                  </a:lnTo>
                  <a:cubicBezTo>
                    <a:pt x="5314" y="1606109"/>
                    <a:pt x="0" y="1600795"/>
                    <a:pt x="0" y="1594240"/>
                  </a:cubicBezTo>
                  <a:lnTo>
                    <a:pt x="0" y="11869"/>
                  </a:lnTo>
                  <a:cubicBezTo>
                    <a:pt x="0" y="5314"/>
                    <a:pt x="5314" y="0"/>
                    <a:pt x="11869" y="0"/>
                  </a:cubicBezTo>
                  <a:close/>
                </a:path>
              </a:pathLst>
            </a:custGeom>
            <a:solidFill>
              <a:srgbClr val="0F2557"/>
            </a:solidFill>
          </p:spPr>
        </p:sp>
        <p:sp>
          <p:nvSpPr>
            <p:cNvPr name="TextBox 16" id="16"/>
            <p:cNvSpPr txBox="true"/>
            <p:nvPr/>
          </p:nvSpPr>
          <p:spPr>
            <a:xfrm>
              <a:off x="0" y="-9525"/>
              <a:ext cx="2061608" cy="1615634"/>
            </a:xfrm>
            <a:prstGeom prst="rect">
              <a:avLst/>
            </a:prstGeom>
          </p:spPr>
          <p:txBody>
            <a:bodyPr anchor="ctr" rtlCol="false" tIns="50800" lIns="50800" bIns="50800" rIns="50800"/>
            <a:lstStyle/>
            <a:p>
              <a:pPr algn="l">
                <a:lnSpc>
                  <a:spcPts val="3479"/>
                </a:lnSpc>
              </a:pPr>
            </a:p>
            <a:p>
              <a:pPr algn="l">
                <a:lnSpc>
                  <a:spcPts val="3479"/>
                </a:lnSpc>
              </a:pPr>
            </a:p>
            <a:p>
              <a:pPr algn="l">
                <a:lnSpc>
                  <a:spcPts val="3479"/>
                </a:lnSpc>
              </a:pPr>
            </a:p>
            <a:p>
              <a:pPr algn="l">
                <a:lnSpc>
                  <a:spcPts val="3479"/>
                </a:lnSpc>
              </a:pPr>
            </a:p>
            <a:p>
              <a:pPr algn="l">
                <a:lnSpc>
                  <a:spcPts val="2400"/>
                </a:lnSpc>
              </a:pPr>
            </a:p>
          </p:txBody>
        </p:sp>
      </p:grpSp>
      <p:sp>
        <p:nvSpPr>
          <p:cNvPr name="TextBox 17" id="17"/>
          <p:cNvSpPr txBox="true"/>
          <p:nvPr/>
        </p:nvSpPr>
        <p:spPr>
          <a:xfrm rot="0">
            <a:off x="9099806" y="3396331"/>
            <a:ext cx="8286501" cy="1228725"/>
          </a:xfrm>
          <a:prstGeom prst="rect">
            <a:avLst/>
          </a:prstGeom>
        </p:spPr>
        <p:txBody>
          <a:bodyPr anchor="t" rtlCol="false" tIns="0" lIns="0" bIns="0" rIns="0">
            <a:spAutoFit/>
          </a:bodyPr>
          <a:lstStyle/>
          <a:p>
            <a:pPr algn="ctr">
              <a:lnSpc>
                <a:spcPts val="2400"/>
              </a:lnSpc>
              <a:spcBef>
                <a:spcPct val="0"/>
              </a:spcBef>
            </a:pPr>
            <a:r>
              <a:rPr lang="en-US" b="true" sz="2000">
                <a:solidFill>
                  <a:srgbClr val="000000"/>
                </a:solidFill>
                <a:latin typeface="Arial Bold"/>
                <a:ea typeface="Arial Bold"/>
                <a:cs typeface="Arial Bold"/>
                <a:sym typeface="Arial Bold"/>
              </a:rPr>
              <a:t>Slow, manual triage</a:t>
            </a:r>
          </a:p>
          <a:p>
            <a:pPr algn="ctr">
              <a:lnSpc>
                <a:spcPts val="2400"/>
              </a:lnSpc>
              <a:spcBef>
                <a:spcPct val="0"/>
              </a:spcBef>
            </a:pPr>
            <a:r>
              <a:rPr lang="en-US" sz="2000">
                <a:solidFill>
                  <a:srgbClr val="000000"/>
                </a:solidFill>
                <a:latin typeface="Arial"/>
                <a:ea typeface="Arial"/>
                <a:cs typeface="Arial"/>
                <a:sym typeface="Arial"/>
              </a:rPr>
              <a:t>Engineers jump between monitoring, logs, wikis and old tickets to understand a single incident.</a:t>
            </a:r>
          </a:p>
          <a:p>
            <a:pPr algn="ctr">
              <a:lnSpc>
                <a:spcPts val="2400"/>
              </a:lnSpc>
              <a:spcBef>
                <a:spcPct val="0"/>
              </a:spcBef>
            </a:pPr>
          </a:p>
        </p:txBody>
      </p:sp>
      <p:sp>
        <p:nvSpPr>
          <p:cNvPr name="TextBox 18" id="18"/>
          <p:cNvSpPr txBox="true"/>
          <p:nvPr/>
        </p:nvSpPr>
        <p:spPr>
          <a:xfrm rot="0">
            <a:off x="9144000" y="5046015"/>
            <a:ext cx="8286501" cy="1228725"/>
          </a:xfrm>
          <a:prstGeom prst="rect">
            <a:avLst/>
          </a:prstGeom>
        </p:spPr>
        <p:txBody>
          <a:bodyPr anchor="t" rtlCol="false" tIns="0" lIns="0" bIns="0" rIns="0">
            <a:spAutoFit/>
          </a:bodyPr>
          <a:lstStyle/>
          <a:p>
            <a:pPr algn="ctr">
              <a:lnSpc>
                <a:spcPts val="2400"/>
              </a:lnSpc>
              <a:spcBef>
                <a:spcPct val="0"/>
              </a:spcBef>
            </a:pPr>
            <a:r>
              <a:rPr lang="en-US" b="true" sz="2000">
                <a:solidFill>
                  <a:srgbClr val="000000"/>
                </a:solidFill>
                <a:latin typeface="Arial Bold"/>
                <a:ea typeface="Arial Bold"/>
                <a:cs typeface="Arial Bold"/>
                <a:sym typeface="Arial Bold"/>
              </a:rPr>
              <a:t>B</a:t>
            </a:r>
            <a:r>
              <a:rPr lang="en-US" b="true" sz="2000">
                <a:solidFill>
                  <a:srgbClr val="000000"/>
                </a:solidFill>
                <a:latin typeface="Arial Bold"/>
                <a:ea typeface="Arial Bold"/>
                <a:cs typeface="Arial Bold"/>
                <a:sym typeface="Arial Bold"/>
              </a:rPr>
              <a:t>lind assignment</a:t>
            </a:r>
          </a:p>
          <a:p>
            <a:pPr algn="ctr">
              <a:lnSpc>
                <a:spcPts val="2400"/>
              </a:lnSpc>
              <a:spcBef>
                <a:spcPct val="0"/>
              </a:spcBef>
            </a:pPr>
            <a:r>
              <a:rPr lang="en-US" sz="2000">
                <a:solidFill>
                  <a:srgbClr val="000000"/>
                </a:solidFill>
                <a:latin typeface="Arial"/>
                <a:ea typeface="Arial"/>
                <a:cs typeface="Arial"/>
                <a:sym typeface="Arial"/>
              </a:rPr>
              <a:t>Tickets go to whoever is online, not to the person with the right skills and spare capacity.</a:t>
            </a:r>
          </a:p>
          <a:p>
            <a:pPr algn="ctr">
              <a:lnSpc>
                <a:spcPts val="2400"/>
              </a:lnSpc>
              <a:spcBef>
                <a:spcPct val="0"/>
              </a:spcBef>
            </a:pPr>
          </a:p>
        </p:txBody>
      </p:sp>
      <p:sp>
        <p:nvSpPr>
          <p:cNvPr name="TextBox 19" id="19"/>
          <p:cNvSpPr txBox="true"/>
          <p:nvPr/>
        </p:nvSpPr>
        <p:spPr>
          <a:xfrm rot="0">
            <a:off x="9099806" y="6759102"/>
            <a:ext cx="8286501" cy="1228725"/>
          </a:xfrm>
          <a:prstGeom prst="rect">
            <a:avLst/>
          </a:prstGeom>
        </p:spPr>
        <p:txBody>
          <a:bodyPr anchor="t" rtlCol="false" tIns="0" lIns="0" bIns="0" rIns="0">
            <a:spAutoFit/>
          </a:bodyPr>
          <a:lstStyle/>
          <a:p>
            <a:pPr algn="ctr">
              <a:lnSpc>
                <a:spcPts val="2400"/>
              </a:lnSpc>
              <a:spcBef>
                <a:spcPct val="0"/>
              </a:spcBef>
            </a:pPr>
            <a:r>
              <a:rPr lang="en-US" b="true" sz="2000">
                <a:solidFill>
                  <a:srgbClr val="000000"/>
                </a:solidFill>
                <a:latin typeface="Arial Bold"/>
                <a:ea typeface="Arial Bold"/>
                <a:cs typeface="Arial Bold"/>
                <a:sym typeface="Arial Bold"/>
              </a:rPr>
              <a:t>Overloaded teams</a:t>
            </a:r>
          </a:p>
          <a:p>
            <a:pPr algn="ctr">
              <a:lnSpc>
                <a:spcPts val="2400"/>
              </a:lnSpc>
              <a:spcBef>
                <a:spcPct val="0"/>
              </a:spcBef>
            </a:pPr>
            <a:r>
              <a:rPr lang="en-US" sz="2000">
                <a:solidFill>
                  <a:srgbClr val="000000"/>
                </a:solidFill>
                <a:latin typeface="Arial"/>
                <a:ea typeface="Arial"/>
                <a:cs typeface="Arial"/>
                <a:sym typeface="Arial"/>
              </a:rPr>
              <a:t>Key specialists are repeatedly overbooked, which raises delay and error risk.</a:t>
            </a:r>
          </a:p>
          <a:p>
            <a:pPr algn="ctr">
              <a:lnSpc>
                <a:spcPts val="2400"/>
              </a:lnSpc>
              <a:spcBef>
                <a:spcPct val="0"/>
              </a:spcBef>
            </a:pPr>
          </a:p>
        </p:txBody>
      </p:sp>
      <p:sp>
        <p:nvSpPr>
          <p:cNvPr name="TextBox 20" id="20"/>
          <p:cNvSpPr txBox="true"/>
          <p:nvPr/>
        </p:nvSpPr>
        <p:spPr>
          <a:xfrm rot="0">
            <a:off x="653842" y="7435377"/>
            <a:ext cx="7268409" cy="552450"/>
          </a:xfrm>
          <a:prstGeom prst="rect">
            <a:avLst/>
          </a:prstGeom>
        </p:spPr>
        <p:txBody>
          <a:bodyPr anchor="t" rtlCol="false" tIns="0" lIns="0" bIns="0" rIns="0">
            <a:spAutoFit/>
          </a:bodyPr>
          <a:lstStyle/>
          <a:p>
            <a:pPr algn="ctr">
              <a:lnSpc>
                <a:spcPts val="2160"/>
              </a:lnSpc>
              <a:spcBef>
                <a:spcPct val="0"/>
              </a:spcBef>
            </a:pPr>
            <a:r>
              <a:rPr lang="en-US" sz="1800">
                <a:solidFill>
                  <a:srgbClr val="E3F4EB"/>
                </a:solidFill>
                <a:latin typeface="Arial"/>
                <a:ea typeface="Arial"/>
                <a:cs typeface="Arial"/>
                <a:sym typeface="Arial"/>
              </a:rPr>
              <a:t>Result: longer downtime, overloaded specialists and repeated mistakes.</a:t>
            </a:r>
          </a:p>
          <a:p>
            <a:pPr algn="ctr">
              <a:lnSpc>
                <a:spcPts val="2160"/>
              </a:lnSpc>
              <a:spcBef>
                <a:spcPct val="0"/>
              </a:spcBef>
            </a:pPr>
          </a:p>
        </p:txBody>
      </p:sp>
      <p:sp>
        <p:nvSpPr>
          <p:cNvPr name="TextBox 21" id="21"/>
          <p:cNvSpPr txBox="true"/>
          <p:nvPr/>
        </p:nvSpPr>
        <p:spPr>
          <a:xfrm rot="0">
            <a:off x="794068" y="3559886"/>
            <a:ext cx="6987956" cy="3400425"/>
          </a:xfrm>
          <a:prstGeom prst="rect">
            <a:avLst/>
          </a:prstGeom>
        </p:spPr>
        <p:txBody>
          <a:bodyPr anchor="t" rtlCol="false" tIns="0" lIns="0" bIns="0" rIns="0">
            <a:spAutoFit/>
          </a:bodyPr>
          <a:lstStyle/>
          <a:p>
            <a:pPr algn="l">
              <a:lnSpc>
                <a:spcPts val="4439"/>
              </a:lnSpc>
              <a:spcBef>
                <a:spcPct val="0"/>
              </a:spcBef>
            </a:pPr>
            <a:r>
              <a:rPr lang="en-US" b="true" sz="3699">
                <a:solidFill>
                  <a:srgbClr val="FFFFFF"/>
                </a:solidFill>
                <a:latin typeface="Arial Bold"/>
                <a:ea typeface="Arial Bold"/>
                <a:cs typeface="Arial Bold"/>
                <a:sym typeface="Arial Bold"/>
              </a:rPr>
              <a:t>When a critical IT service fails, organisations lose time twice: first diagnosing the fault, then finding an engineer who has the right skills and is actually free to fix it.</a:t>
            </a:r>
          </a:p>
        </p:txBody>
      </p:sp>
      <p:sp>
        <p:nvSpPr>
          <p:cNvPr name="TextBox 22" id="22"/>
          <p:cNvSpPr txBox="true"/>
          <p:nvPr/>
        </p:nvSpPr>
        <p:spPr>
          <a:xfrm rot="0">
            <a:off x="-1970978" y="3096907"/>
            <a:ext cx="7636324" cy="613749"/>
          </a:xfrm>
          <a:prstGeom prst="rect">
            <a:avLst/>
          </a:prstGeom>
        </p:spPr>
        <p:txBody>
          <a:bodyPr anchor="t" rtlCol="false" tIns="0" lIns="0" bIns="0" rIns="0">
            <a:spAutoFit/>
          </a:bodyPr>
          <a:lstStyle/>
          <a:p>
            <a:pPr algn="ctr">
              <a:lnSpc>
                <a:spcPts val="2341"/>
              </a:lnSpc>
              <a:spcBef>
                <a:spcPct val="0"/>
              </a:spcBef>
            </a:pPr>
            <a:r>
              <a:rPr lang="en-US" b="true" sz="1951">
                <a:solidFill>
                  <a:srgbClr val="F28C28"/>
                </a:solidFill>
                <a:latin typeface="Arial Bold"/>
                <a:ea typeface="Arial Bold"/>
                <a:cs typeface="Arial Bold"/>
                <a:sym typeface="Arial Bold"/>
              </a:rPr>
              <a:t>THE PROBLEM</a:t>
            </a:r>
          </a:p>
          <a:p>
            <a:pPr algn="ctr">
              <a:lnSpc>
                <a:spcPts val="2341"/>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38100"/>
              <a:ext cx="21945600" cy="1501140"/>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Our Solution</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One platform that finds the problem, decides the fix and picks the right person.</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901703" y="2730503"/>
            <a:ext cx="5152794" cy="4583215"/>
            <a:chOff x="0" y="0"/>
            <a:chExt cx="10762831" cy="9573132"/>
          </a:xfrm>
        </p:grpSpPr>
        <p:sp>
          <p:nvSpPr>
            <p:cNvPr name="Freeform 12" id="12"/>
            <p:cNvSpPr/>
            <p:nvPr/>
          </p:nvSpPr>
          <p:spPr>
            <a:xfrm flipH="false" flipV="false" rot="0">
              <a:off x="0" y="0"/>
              <a:ext cx="10762869" cy="9573170"/>
            </a:xfrm>
            <a:custGeom>
              <a:avLst/>
              <a:gdLst/>
              <a:ahLst/>
              <a:cxnLst/>
              <a:rect r="r" b="b" t="t" l="l"/>
              <a:pathLst>
                <a:path h="9573170" w="10762869">
                  <a:moveTo>
                    <a:pt x="0" y="567368"/>
                  </a:moveTo>
                  <a:cubicBezTo>
                    <a:pt x="0" y="254073"/>
                    <a:pt x="88265" y="0"/>
                    <a:pt x="197104" y="0"/>
                  </a:cubicBezTo>
                  <a:lnTo>
                    <a:pt x="10565765" y="0"/>
                  </a:lnTo>
                  <a:cubicBezTo>
                    <a:pt x="10674604" y="0"/>
                    <a:pt x="10762869" y="254073"/>
                    <a:pt x="10762869" y="567368"/>
                  </a:cubicBezTo>
                  <a:lnTo>
                    <a:pt x="10762869" y="9005874"/>
                  </a:lnTo>
                  <a:cubicBezTo>
                    <a:pt x="10762869" y="9319169"/>
                    <a:pt x="10674604" y="9573170"/>
                    <a:pt x="10565765" y="9573170"/>
                  </a:cubicBezTo>
                  <a:lnTo>
                    <a:pt x="197104" y="9573170"/>
                  </a:lnTo>
                  <a:cubicBezTo>
                    <a:pt x="88265" y="9573170"/>
                    <a:pt x="0" y="9319168"/>
                    <a:pt x="0" y="9005874"/>
                  </a:cubicBezTo>
                  <a:close/>
                </a:path>
              </a:pathLst>
            </a:custGeom>
            <a:solidFill>
              <a:srgbClr val="EAF0FA"/>
            </a:solidFill>
            <a:ln w="25400" cap="sq">
              <a:solidFill>
                <a:srgbClr val="EAF0FA"/>
              </a:solidFill>
              <a:prstDash val="solid"/>
              <a:miter/>
            </a:ln>
          </p:spPr>
        </p:sp>
      </p:grpSp>
      <p:grpSp>
        <p:nvGrpSpPr>
          <p:cNvPr name="Group 13" id="13"/>
          <p:cNvGrpSpPr/>
          <p:nvPr/>
        </p:nvGrpSpPr>
        <p:grpSpPr>
          <a:xfrm rot="0">
            <a:off x="1280160" y="3008435"/>
            <a:ext cx="4444845" cy="4403266"/>
            <a:chOff x="0" y="0"/>
            <a:chExt cx="5926460" cy="5871021"/>
          </a:xfrm>
        </p:grpSpPr>
        <p:sp>
          <p:nvSpPr>
            <p:cNvPr name="Freeform 14" id="14"/>
            <p:cNvSpPr/>
            <p:nvPr/>
          </p:nvSpPr>
          <p:spPr>
            <a:xfrm flipH="false" flipV="false" rot="0">
              <a:off x="0" y="0"/>
              <a:ext cx="5926460" cy="5871021"/>
            </a:xfrm>
            <a:custGeom>
              <a:avLst/>
              <a:gdLst/>
              <a:ahLst/>
              <a:cxnLst/>
              <a:rect r="r" b="b" t="t" l="l"/>
              <a:pathLst>
                <a:path h="5871021" w="5926460">
                  <a:moveTo>
                    <a:pt x="0" y="0"/>
                  </a:moveTo>
                  <a:lnTo>
                    <a:pt x="5926460" y="0"/>
                  </a:lnTo>
                  <a:lnTo>
                    <a:pt x="5926460" y="5871021"/>
                  </a:lnTo>
                  <a:lnTo>
                    <a:pt x="0" y="5871021"/>
                  </a:lnTo>
                  <a:close/>
                </a:path>
              </a:pathLst>
            </a:custGeom>
            <a:blipFill>
              <a:blip r:embed="rId3">
                <a:alphaModFix amt="0"/>
              </a:blip>
              <a:stretch>
                <a:fillRect l="0" t="-5145" r="-68691" b="38785"/>
              </a:stretch>
            </a:blipFill>
          </p:spPr>
        </p:sp>
        <p:sp>
          <p:nvSpPr>
            <p:cNvPr name="TextBox 15" id="15"/>
            <p:cNvSpPr txBox="true"/>
            <p:nvPr/>
          </p:nvSpPr>
          <p:spPr>
            <a:xfrm>
              <a:off x="0" y="-19050"/>
              <a:ext cx="5926460" cy="5890071"/>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I</a:t>
              </a:r>
              <a:r>
                <a:rPr lang="en-US" sz="3000" b="true">
                  <a:solidFill>
                    <a:srgbClr val="0F2557"/>
                  </a:solidFill>
                  <a:latin typeface="Arial Bold"/>
                  <a:ea typeface="Arial Bold"/>
                  <a:cs typeface="Arial Bold"/>
                  <a:sym typeface="Arial Bold"/>
                </a:rPr>
                <a:t>nvestigate</a:t>
              </a:r>
            </a:p>
            <a:p>
              <a:pPr algn="l">
                <a:lnSpc>
                  <a:spcPts val="3600"/>
                </a:lnSpc>
              </a:pPr>
            </a:p>
            <a:p>
              <a:pPr algn="l" marL="582932" indent="-291466" lvl="1">
                <a:lnSpc>
                  <a:spcPts val="3240"/>
                </a:lnSpc>
                <a:buFont typeface="Arial"/>
                <a:buChar char="•"/>
              </a:pPr>
              <a:r>
                <a:rPr lang="en-US" sz="2700">
                  <a:solidFill>
                    <a:srgbClr val="0F2557"/>
                  </a:solidFill>
                  <a:latin typeface="Arial"/>
                  <a:ea typeface="Arial"/>
                  <a:cs typeface="Arial"/>
                  <a:sym typeface="Arial"/>
                </a:rPr>
                <a:t>AI agents analyze incident details.</a:t>
              </a:r>
            </a:p>
            <a:p>
              <a:pPr algn="l" marL="582932" indent="-291466" lvl="1">
                <a:lnSpc>
                  <a:spcPts val="3240"/>
                </a:lnSpc>
                <a:buFont typeface="Arial"/>
                <a:buChar char="•"/>
              </a:pPr>
              <a:r>
                <a:rPr lang="en-US" sz="2700">
                  <a:solidFill>
                    <a:srgbClr val="0F2557"/>
                  </a:solidFill>
                  <a:latin typeface="Arial"/>
                  <a:ea typeface="Arial"/>
                  <a:cs typeface="Arial"/>
                  <a:sym typeface="Arial"/>
                </a:rPr>
                <a:t> Collect evidence from logs, service health and runbooks.</a:t>
              </a:r>
            </a:p>
            <a:p>
              <a:pPr algn="l" marL="582932" indent="-291466" lvl="1">
                <a:lnSpc>
                  <a:spcPts val="3240"/>
                </a:lnSpc>
                <a:buFont typeface="Arial"/>
                <a:buChar char="•"/>
              </a:pPr>
              <a:r>
                <a:rPr lang="en-US" sz="2700">
                  <a:solidFill>
                    <a:srgbClr val="0F2557"/>
                  </a:solidFill>
                  <a:latin typeface="Arial"/>
                  <a:ea typeface="Arial"/>
                  <a:cs typeface="Arial"/>
                  <a:sym typeface="Arial"/>
                </a:rPr>
                <a:t>I</a:t>
              </a:r>
              <a:r>
                <a:rPr lang="en-US" sz="2700">
                  <a:solidFill>
                    <a:srgbClr val="0F2557"/>
                  </a:solidFill>
                  <a:latin typeface="Arial"/>
                  <a:ea typeface="Arial"/>
                  <a:cs typeface="Arial"/>
                  <a:sym typeface="Arial"/>
                </a:rPr>
                <a:t>dentify likely causes and incident impact.</a:t>
              </a:r>
            </a:p>
            <a:p>
              <a:pPr algn="l">
                <a:lnSpc>
                  <a:spcPts val="3600"/>
                </a:lnSpc>
              </a:pPr>
            </a:p>
          </p:txBody>
        </p:sp>
      </p:grpSp>
      <p:grpSp>
        <p:nvGrpSpPr>
          <p:cNvPr name="Group 16" id="16"/>
          <p:cNvGrpSpPr/>
          <p:nvPr/>
        </p:nvGrpSpPr>
        <p:grpSpPr>
          <a:xfrm rot="0">
            <a:off x="6400800" y="2649217"/>
            <a:ext cx="4774417" cy="4664502"/>
            <a:chOff x="0" y="0"/>
            <a:chExt cx="6365889" cy="6219336"/>
          </a:xfrm>
        </p:grpSpPr>
        <p:sp>
          <p:nvSpPr>
            <p:cNvPr name="Freeform 17" id="17"/>
            <p:cNvSpPr/>
            <p:nvPr/>
          </p:nvSpPr>
          <p:spPr>
            <a:xfrm flipH="false" flipV="false" rot="0">
              <a:off x="0" y="0"/>
              <a:ext cx="6365927" cy="6219373"/>
            </a:xfrm>
            <a:custGeom>
              <a:avLst/>
              <a:gdLst/>
              <a:ahLst/>
              <a:cxnLst/>
              <a:rect r="r" b="b" t="t" l="l"/>
              <a:pathLst>
                <a:path h="6219373" w="6365927">
                  <a:moveTo>
                    <a:pt x="0" y="368600"/>
                  </a:moveTo>
                  <a:cubicBezTo>
                    <a:pt x="0" y="165062"/>
                    <a:pt x="52206" y="0"/>
                    <a:pt x="116581" y="0"/>
                  </a:cubicBezTo>
                  <a:lnTo>
                    <a:pt x="6249331" y="0"/>
                  </a:lnTo>
                  <a:cubicBezTo>
                    <a:pt x="6313705" y="0"/>
                    <a:pt x="6365927" y="165062"/>
                    <a:pt x="6365927" y="368600"/>
                  </a:cubicBezTo>
                  <a:lnTo>
                    <a:pt x="6365927" y="5850807"/>
                  </a:lnTo>
                  <a:cubicBezTo>
                    <a:pt x="6365927" y="6054345"/>
                    <a:pt x="6313705" y="6219373"/>
                    <a:pt x="6249331" y="6219373"/>
                  </a:cubicBezTo>
                  <a:lnTo>
                    <a:pt x="116581" y="6219373"/>
                  </a:lnTo>
                  <a:cubicBezTo>
                    <a:pt x="52206" y="6219373"/>
                    <a:pt x="0" y="6054344"/>
                    <a:pt x="0" y="5850807"/>
                  </a:cubicBezTo>
                  <a:close/>
                </a:path>
              </a:pathLst>
            </a:custGeom>
            <a:solidFill>
              <a:srgbClr val="EAF0FA"/>
            </a:solidFill>
            <a:ln w="25400" cap="sq">
              <a:solidFill>
                <a:srgbClr val="EAF0FA"/>
              </a:solidFill>
              <a:prstDash val="solid"/>
              <a:miter/>
            </a:ln>
          </p:spPr>
        </p:sp>
      </p:grpSp>
      <p:grpSp>
        <p:nvGrpSpPr>
          <p:cNvPr name="Group 18" id="18"/>
          <p:cNvGrpSpPr/>
          <p:nvPr/>
        </p:nvGrpSpPr>
        <p:grpSpPr>
          <a:xfrm rot="0">
            <a:off x="6666115" y="3008435"/>
            <a:ext cx="4421358" cy="3937834"/>
            <a:chOff x="0" y="0"/>
            <a:chExt cx="5895144" cy="5250445"/>
          </a:xfrm>
        </p:grpSpPr>
        <p:sp>
          <p:nvSpPr>
            <p:cNvPr name="Freeform 19" id="19"/>
            <p:cNvSpPr/>
            <p:nvPr/>
          </p:nvSpPr>
          <p:spPr>
            <a:xfrm flipH="false" flipV="false" rot="0">
              <a:off x="0" y="0"/>
              <a:ext cx="5895144" cy="5250445"/>
            </a:xfrm>
            <a:custGeom>
              <a:avLst/>
              <a:gdLst/>
              <a:ahLst/>
              <a:cxnLst/>
              <a:rect r="r" b="b" t="t" l="l"/>
              <a:pathLst>
                <a:path h="5250445" w="5895144">
                  <a:moveTo>
                    <a:pt x="0" y="0"/>
                  </a:moveTo>
                  <a:lnTo>
                    <a:pt x="5895144" y="0"/>
                  </a:lnTo>
                  <a:lnTo>
                    <a:pt x="5895144" y="5250445"/>
                  </a:lnTo>
                  <a:lnTo>
                    <a:pt x="0" y="5250445"/>
                  </a:lnTo>
                  <a:close/>
                </a:path>
              </a:pathLst>
            </a:custGeom>
            <a:blipFill>
              <a:blip r:embed="rId3">
                <a:alphaModFix amt="0"/>
              </a:blip>
              <a:stretch>
                <a:fillRect l="0" t="-5753" r="-69587" b="31550"/>
              </a:stretch>
            </a:blipFill>
          </p:spPr>
        </p:sp>
        <p:sp>
          <p:nvSpPr>
            <p:cNvPr name="TextBox 20" id="20"/>
            <p:cNvSpPr txBox="true"/>
            <p:nvPr/>
          </p:nvSpPr>
          <p:spPr>
            <a:xfrm>
              <a:off x="0" y="-19050"/>
              <a:ext cx="5895144" cy="5269495"/>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D</a:t>
              </a:r>
              <a:r>
                <a:rPr lang="en-US" sz="3000" b="true">
                  <a:solidFill>
                    <a:srgbClr val="0F2557"/>
                  </a:solidFill>
                  <a:latin typeface="Arial Bold"/>
                  <a:ea typeface="Arial Bold"/>
                  <a:cs typeface="Arial Bold"/>
                  <a:sym typeface="Arial Bold"/>
                </a:rPr>
                <a:t>ecide</a:t>
              </a:r>
            </a:p>
            <a:p>
              <a:pPr algn="l">
                <a:lnSpc>
                  <a:spcPts val="3600"/>
                </a:lnSpc>
              </a:pPr>
            </a:p>
            <a:p>
              <a:pPr algn="l">
                <a:lnSpc>
                  <a:spcPts val="3239"/>
                </a:lnSpc>
              </a:pPr>
              <a:r>
                <a:rPr lang="en-US" sz="2699">
                  <a:solidFill>
                    <a:srgbClr val="1B2433"/>
                  </a:solidFill>
                  <a:latin typeface="Arial"/>
                  <a:ea typeface="Arial"/>
                  <a:cs typeface="Arial"/>
                  <a:sym typeface="Arial"/>
                </a:rPr>
                <a:t>• Evaluate severity and operational risk.</a:t>
              </a:r>
            </a:p>
            <a:p>
              <a:pPr algn="l">
                <a:lnSpc>
                  <a:spcPts val="3239"/>
                </a:lnSpc>
              </a:pPr>
              <a:r>
                <a:rPr lang="en-US" sz="2699">
                  <a:solidFill>
                    <a:srgbClr val="1B2433"/>
                  </a:solidFill>
                  <a:latin typeface="Arial"/>
                  <a:ea typeface="Arial"/>
                  <a:cs typeface="Arial"/>
                  <a:sym typeface="Arial"/>
                </a:rPr>
                <a:t>• Recommend evidence-based resolution steps.</a:t>
              </a:r>
            </a:p>
            <a:p>
              <a:pPr algn="l">
                <a:lnSpc>
                  <a:spcPts val="3239"/>
                </a:lnSpc>
              </a:pPr>
              <a:r>
                <a:rPr lang="en-US" sz="2699">
                  <a:solidFill>
                    <a:srgbClr val="1B2433"/>
                  </a:solidFill>
                  <a:latin typeface="Arial"/>
                  <a:ea typeface="Arial"/>
                  <a:cs typeface="Arial"/>
                  <a:sym typeface="Arial"/>
                </a:rPr>
                <a:t>• Escalate high-risk cases for human review.</a:t>
              </a:r>
            </a:p>
            <a:p>
              <a:pPr algn="l">
                <a:lnSpc>
                  <a:spcPts val="3239"/>
                </a:lnSpc>
              </a:pPr>
            </a:p>
          </p:txBody>
        </p:sp>
      </p:grpSp>
      <p:grpSp>
        <p:nvGrpSpPr>
          <p:cNvPr name="Group 21" id="21"/>
          <p:cNvGrpSpPr/>
          <p:nvPr/>
        </p:nvGrpSpPr>
        <p:grpSpPr>
          <a:xfrm rot="0">
            <a:off x="11377198" y="2649217"/>
            <a:ext cx="5032523" cy="4664502"/>
            <a:chOff x="0" y="0"/>
            <a:chExt cx="6710031" cy="6219336"/>
          </a:xfrm>
        </p:grpSpPr>
        <p:sp>
          <p:nvSpPr>
            <p:cNvPr name="Freeform 22" id="22"/>
            <p:cNvSpPr/>
            <p:nvPr/>
          </p:nvSpPr>
          <p:spPr>
            <a:xfrm flipH="false" flipV="false" rot="0">
              <a:off x="0" y="0"/>
              <a:ext cx="6710069" cy="6219373"/>
            </a:xfrm>
            <a:custGeom>
              <a:avLst/>
              <a:gdLst/>
              <a:ahLst/>
              <a:cxnLst/>
              <a:rect r="r" b="b" t="t" l="l"/>
              <a:pathLst>
                <a:path h="6219373" w="6710069">
                  <a:moveTo>
                    <a:pt x="0" y="368600"/>
                  </a:moveTo>
                  <a:cubicBezTo>
                    <a:pt x="0" y="165062"/>
                    <a:pt x="55028" y="0"/>
                    <a:pt x="122883" y="0"/>
                  </a:cubicBezTo>
                  <a:lnTo>
                    <a:pt x="6587172" y="0"/>
                  </a:lnTo>
                  <a:cubicBezTo>
                    <a:pt x="6655027" y="0"/>
                    <a:pt x="6710069" y="165062"/>
                    <a:pt x="6710069" y="368600"/>
                  </a:cubicBezTo>
                  <a:lnTo>
                    <a:pt x="6710069" y="5850807"/>
                  </a:lnTo>
                  <a:cubicBezTo>
                    <a:pt x="6710069" y="6054345"/>
                    <a:pt x="6655027" y="6219373"/>
                    <a:pt x="6587172" y="6219373"/>
                  </a:cubicBezTo>
                  <a:lnTo>
                    <a:pt x="122883" y="6219373"/>
                  </a:lnTo>
                  <a:cubicBezTo>
                    <a:pt x="55028" y="6219373"/>
                    <a:pt x="0" y="6054344"/>
                    <a:pt x="0" y="5850807"/>
                  </a:cubicBezTo>
                  <a:close/>
                </a:path>
              </a:pathLst>
            </a:custGeom>
            <a:solidFill>
              <a:srgbClr val="EAF0FA"/>
            </a:solidFill>
            <a:ln w="25400" cap="sq">
              <a:solidFill>
                <a:srgbClr val="EAF0FA"/>
              </a:solidFill>
              <a:prstDash val="solid"/>
              <a:miter/>
            </a:ln>
          </p:spPr>
        </p:sp>
      </p:grpSp>
      <p:grpSp>
        <p:nvGrpSpPr>
          <p:cNvPr name="Group 23" id="23"/>
          <p:cNvGrpSpPr/>
          <p:nvPr/>
        </p:nvGrpSpPr>
        <p:grpSpPr>
          <a:xfrm rot="0">
            <a:off x="11699092" y="2863340"/>
            <a:ext cx="4679709" cy="4037121"/>
            <a:chOff x="0" y="0"/>
            <a:chExt cx="6239612" cy="5382828"/>
          </a:xfrm>
        </p:grpSpPr>
        <p:sp>
          <p:nvSpPr>
            <p:cNvPr name="Freeform 24" id="24"/>
            <p:cNvSpPr/>
            <p:nvPr/>
          </p:nvSpPr>
          <p:spPr>
            <a:xfrm flipH="false" flipV="false" rot="0">
              <a:off x="0" y="0"/>
              <a:ext cx="6239612" cy="5382828"/>
            </a:xfrm>
            <a:custGeom>
              <a:avLst/>
              <a:gdLst/>
              <a:ahLst/>
              <a:cxnLst/>
              <a:rect r="r" b="b" t="t" l="l"/>
              <a:pathLst>
                <a:path h="5382828" w="6239612">
                  <a:moveTo>
                    <a:pt x="0" y="0"/>
                  </a:moveTo>
                  <a:lnTo>
                    <a:pt x="6239612" y="0"/>
                  </a:lnTo>
                  <a:lnTo>
                    <a:pt x="6239612" y="5382828"/>
                  </a:lnTo>
                  <a:lnTo>
                    <a:pt x="0" y="5382828"/>
                  </a:lnTo>
                  <a:close/>
                </a:path>
              </a:pathLst>
            </a:custGeom>
            <a:blipFill>
              <a:blip r:embed="rId3">
                <a:alphaModFix amt="0"/>
              </a:blip>
              <a:stretch>
                <a:fillRect l="0" t="-5612" r="-60225" b="33233"/>
              </a:stretch>
            </a:blipFill>
          </p:spPr>
        </p:sp>
        <p:sp>
          <p:nvSpPr>
            <p:cNvPr name="TextBox 25" id="25"/>
            <p:cNvSpPr txBox="true"/>
            <p:nvPr/>
          </p:nvSpPr>
          <p:spPr>
            <a:xfrm>
              <a:off x="0" y="-19050"/>
              <a:ext cx="6239612" cy="5401878"/>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As</a:t>
              </a:r>
              <a:r>
                <a:rPr lang="en-US" sz="3000" b="true">
                  <a:solidFill>
                    <a:srgbClr val="0F2557"/>
                  </a:solidFill>
                  <a:latin typeface="Arial Bold"/>
                  <a:ea typeface="Arial Bold"/>
                  <a:cs typeface="Arial Bold"/>
                  <a:sym typeface="Arial Bold"/>
                </a:rPr>
                <a:t>sign</a:t>
              </a:r>
            </a:p>
            <a:p>
              <a:pPr algn="l">
                <a:lnSpc>
                  <a:spcPts val="3600"/>
                </a:lnSpc>
              </a:pPr>
            </a:p>
            <a:p>
              <a:pPr algn="l" marL="539749" indent="-269875" lvl="1">
                <a:lnSpc>
                  <a:spcPts val="2999"/>
                </a:lnSpc>
                <a:buFont typeface="Arial"/>
                <a:buChar char="•"/>
              </a:pPr>
              <a:r>
                <a:rPr lang="en-US" sz="2499">
                  <a:solidFill>
                    <a:srgbClr val="1B2433"/>
                  </a:solidFill>
                  <a:latin typeface="Arial"/>
                  <a:ea typeface="Arial"/>
                  <a:cs typeface="Arial"/>
                  <a:sym typeface="Arial"/>
                </a:rPr>
                <a:t>Match required skills with engineer profiles.</a:t>
              </a:r>
            </a:p>
            <a:p>
              <a:pPr algn="l" marL="539749" indent="-269875" lvl="1">
                <a:lnSpc>
                  <a:spcPts val="2999"/>
                </a:lnSpc>
                <a:buFont typeface="Arial"/>
                <a:buChar char="•"/>
              </a:pPr>
              <a:r>
                <a:rPr lang="en-US" sz="2499">
                  <a:solidFill>
                    <a:srgbClr val="1B2433"/>
                  </a:solidFill>
                  <a:latin typeface="Arial"/>
                  <a:ea typeface="Arial"/>
                  <a:cs typeface="Arial"/>
                  <a:sym typeface="Arial"/>
                </a:rPr>
                <a:t>Rank eligible engineers by skill fit and capacity.</a:t>
              </a:r>
            </a:p>
            <a:p>
              <a:pPr algn="l" marL="539749" indent="-269875" lvl="1">
                <a:lnSpc>
                  <a:spcPts val="2999"/>
                </a:lnSpc>
                <a:buFont typeface="Arial"/>
                <a:buChar char="•"/>
              </a:pPr>
              <a:r>
                <a:rPr lang="en-US" sz="2499">
                  <a:solidFill>
                    <a:srgbClr val="1B2433"/>
                  </a:solidFill>
                  <a:latin typeface="Arial"/>
                  <a:ea typeface="Arial"/>
                  <a:cs typeface="Arial"/>
                  <a:sym typeface="Arial"/>
                </a:rPr>
                <a:t>Prevent over-capacity assignments and update workload records.</a:t>
              </a:r>
            </a:p>
            <a:p>
              <a:pPr algn="l">
                <a:lnSpc>
                  <a:spcPts val="2999"/>
                </a:lnSpc>
              </a:pPr>
            </a:p>
          </p:txBody>
        </p:sp>
      </p:grpSp>
      <p:grpSp>
        <p:nvGrpSpPr>
          <p:cNvPr name="Group 26" id="26"/>
          <p:cNvGrpSpPr/>
          <p:nvPr/>
        </p:nvGrpSpPr>
        <p:grpSpPr>
          <a:xfrm rot="0">
            <a:off x="901703" y="8204809"/>
            <a:ext cx="16857113" cy="1442111"/>
            <a:chOff x="0" y="0"/>
            <a:chExt cx="21979471" cy="1880324"/>
          </a:xfrm>
        </p:grpSpPr>
        <p:sp>
          <p:nvSpPr>
            <p:cNvPr name="Freeform 27" id="27"/>
            <p:cNvSpPr/>
            <p:nvPr/>
          </p:nvSpPr>
          <p:spPr>
            <a:xfrm flipH="false" flipV="false" rot="0">
              <a:off x="0" y="0"/>
              <a:ext cx="21979510" cy="1880362"/>
            </a:xfrm>
            <a:custGeom>
              <a:avLst/>
              <a:gdLst/>
              <a:ahLst/>
              <a:cxnLst/>
              <a:rect r="r" b="b" t="t" l="l"/>
              <a:pathLst>
                <a:path h="1880362" w="21979510">
                  <a:moveTo>
                    <a:pt x="0" y="300914"/>
                  </a:moveTo>
                  <a:cubicBezTo>
                    <a:pt x="0" y="134735"/>
                    <a:pt x="89789" y="0"/>
                    <a:pt x="200533" y="0"/>
                  </a:cubicBezTo>
                  <a:lnTo>
                    <a:pt x="21778976" y="0"/>
                  </a:lnTo>
                  <a:cubicBezTo>
                    <a:pt x="21889720" y="0"/>
                    <a:pt x="21979510" y="134735"/>
                    <a:pt x="21979510" y="300914"/>
                  </a:cubicBezTo>
                  <a:lnTo>
                    <a:pt x="21979510" y="1579467"/>
                  </a:lnTo>
                  <a:cubicBezTo>
                    <a:pt x="21979510" y="1745646"/>
                    <a:pt x="21889720" y="1880362"/>
                    <a:pt x="21778976" y="1880362"/>
                  </a:cubicBezTo>
                  <a:lnTo>
                    <a:pt x="200533" y="1880362"/>
                  </a:lnTo>
                  <a:cubicBezTo>
                    <a:pt x="89789" y="1880362"/>
                    <a:pt x="0" y="1745646"/>
                    <a:pt x="0" y="1579467"/>
                  </a:cubicBezTo>
                  <a:close/>
                </a:path>
              </a:pathLst>
            </a:custGeom>
            <a:solidFill>
              <a:srgbClr val="0F2557"/>
            </a:solidFill>
            <a:ln w="25400" cap="sq">
              <a:solidFill>
                <a:srgbClr val="0F2557"/>
              </a:solidFill>
              <a:prstDash val="solid"/>
              <a:miter/>
            </a:ln>
          </p:spPr>
        </p:sp>
      </p:grpSp>
      <p:grpSp>
        <p:nvGrpSpPr>
          <p:cNvPr name="Group 28" id="28"/>
          <p:cNvGrpSpPr/>
          <p:nvPr/>
        </p:nvGrpSpPr>
        <p:grpSpPr>
          <a:xfrm rot="0">
            <a:off x="1280160" y="8411826"/>
            <a:ext cx="15674977" cy="1417974"/>
            <a:chOff x="0" y="0"/>
            <a:chExt cx="20970240" cy="1896989"/>
          </a:xfrm>
        </p:grpSpPr>
        <p:sp>
          <p:nvSpPr>
            <p:cNvPr name="Freeform 29" id="29"/>
            <p:cNvSpPr/>
            <p:nvPr/>
          </p:nvSpPr>
          <p:spPr>
            <a:xfrm flipH="false" flipV="false" rot="0">
              <a:off x="0" y="0"/>
              <a:ext cx="20970239" cy="1896989"/>
            </a:xfrm>
            <a:custGeom>
              <a:avLst/>
              <a:gdLst/>
              <a:ahLst/>
              <a:cxnLst/>
              <a:rect r="r" b="b" t="t" l="l"/>
              <a:pathLst>
                <a:path h="1896989" w="20970239">
                  <a:moveTo>
                    <a:pt x="0" y="0"/>
                  </a:moveTo>
                  <a:lnTo>
                    <a:pt x="20970239" y="0"/>
                  </a:lnTo>
                  <a:lnTo>
                    <a:pt x="20970239" y="1896989"/>
                  </a:lnTo>
                  <a:lnTo>
                    <a:pt x="0" y="1896989"/>
                  </a:lnTo>
                  <a:close/>
                </a:path>
              </a:pathLst>
            </a:custGeom>
            <a:blipFill>
              <a:blip r:embed="rId3">
                <a:alphaModFix amt="0"/>
              </a:blip>
              <a:stretch>
                <a:fillRect l="0" t="-183261" r="0" b="-147532"/>
              </a:stretch>
            </a:blipFill>
          </p:spPr>
        </p:sp>
        <p:sp>
          <p:nvSpPr>
            <p:cNvPr name="TextBox 30" id="30"/>
            <p:cNvSpPr txBox="true"/>
            <p:nvPr/>
          </p:nvSpPr>
          <p:spPr>
            <a:xfrm>
              <a:off x="0" y="-19050"/>
              <a:ext cx="20970240" cy="1916039"/>
            </a:xfrm>
            <a:prstGeom prst="rect">
              <a:avLst/>
            </a:prstGeom>
          </p:spPr>
          <p:txBody>
            <a:bodyPr anchor="ctr" rtlCol="false" tIns="0" lIns="0" bIns="0" rIns="0"/>
            <a:lstStyle/>
            <a:p>
              <a:pPr algn="l">
                <a:lnSpc>
                  <a:spcPts val="3359"/>
                </a:lnSpc>
              </a:pPr>
              <a:r>
                <a:rPr lang="en-US" sz="2799" b="true">
                  <a:solidFill>
                    <a:srgbClr val="FFFFFF"/>
                  </a:solidFill>
                  <a:latin typeface="Arial Bold"/>
                  <a:ea typeface="Arial Bold"/>
                  <a:cs typeface="Arial Bold"/>
                  <a:sym typeface="Arial Bold"/>
                </a:rPr>
                <a:t>                                                       On</a:t>
              </a:r>
              <a:r>
                <a:rPr lang="en-US" sz="2799" b="true">
                  <a:solidFill>
                    <a:srgbClr val="FFFFFF"/>
                  </a:solidFill>
                  <a:latin typeface="Arial Bold"/>
                  <a:ea typeface="Arial Bold"/>
                  <a:cs typeface="Arial Bold"/>
                  <a:sym typeface="Arial Bold"/>
                </a:rPr>
                <a:t>e Intelligent Workflow</a:t>
              </a:r>
            </a:p>
            <a:p>
              <a:pPr algn="l">
                <a:lnSpc>
                  <a:spcPts val="3359"/>
                </a:lnSpc>
              </a:pPr>
              <a:r>
                <a:rPr lang="en-US" sz="2799" b="true">
                  <a:solidFill>
                    <a:srgbClr val="FFFFFF"/>
                  </a:solidFill>
                  <a:latin typeface="Arial Bold"/>
                  <a:ea typeface="Arial Bold"/>
                  <a:cs typeface="Arial Bold"/>
                  <a:sym typeface="Arial Bold"/>
                </a:rPr>
                <a:t>                           Report → Investigate → Decide → Assign → Resolve → Learn</a:t>
              </a:r>
            </a:p>
            <a:p>
              <a:pPr algn="l">
                <a:lnSpc>
                  <a:spcPts val="3359"/>
                </a:lnSpc>
              </a:pPr>
            </a:p>
          </p:txBody>
        </p:sp>
      </p:grpSp>
      <p:sp>
        <p:nvSpPr>
          <p:cNvPr name="TextBox 31" id="31"/>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38100"/>
              <a:ext cx="21945600" cy="1501140"/>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Multi-Agent Architecture</a:t>
              </a:r>
            </a:p>
          </p:txBody>
        </p:sp>
      </p:grpSp>
      <p:grpSp>
        <p:nvGrpSpPr>
          <p:cNvPr name="Group 5" id="5"/>
          <p:cNvGrpSpPr/>
          <p:nvPr/>
        </p:nvGrpSpPr>
        <p:grpSpPr>
          <a:xfrm rot="0">
            <a:off x="914400" y="9601200"/>
            <a:ext cx="5486400" cy="457200"/>
            <a:chOff x="0" y="0"/>
            <a:chExt cx="7315200" cy="609600"/>
          </a:xfrm>
        </p:grpSpPr>
        <p:sp>
          <p:nvSpPr>
            <p:cNvPr name="Freeform 6" id="6"/>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7" id="7"/>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8" id="8"/>
          <p:cNvGrpSpPr/>
          <p:nvPr/>
        </p:nvGrpSpPr>
        <p:grpSpPr>
          <a:xfrm rot="0">
            <a:off x="895350" y="1992630"/>
            <a:ext cx="3512820" cy="5158740"/>
            <a:chOff x="0" y="0"/>
            <a:chExt cx="4683760" cy="6878320"/>
          </a:xfrm>
        </p:grpSpPr>
        <p:sp>
          <p:nvSpPr>
            <p:cNvPr name="Freeform 9" id="9"/>
            <p:cNvSpPr/>
            <p:nvPr/>
          </p:nvSpPr>
          <p:spPr>
            <a:xfrm flipH="false" flipV="false" rot="0">
              <a:off x="0" y="0"/>
              <a:ext cx="4683760" cy="6878320"/>
            </a:xfrm>
            <a:custGeom>
              <a:avLst/>
              <a:gdLst/>
              <a:ahLst/>
              <a:cxnLst/>
              <a:rect r="r" b="b" t="t" l="l"/>
              <a:pathLst>
                <a:path h="6878320" w="4683760">
                  <a:moveTo>
                    <a:pt x="0" y="147955"/>
                  </a:moveTo>
                  <a:cubicBezTo>
                    <a:pt x="0" y="66167"/>
                    <a:pt x="66167" y="0"/>
                    <a:pt x="147955" y="0"/>
                  </a:cubicBezTo>
                  <a:lnTo>
                    <a:pt x="4535805" y="0"/>
                  </a:lnTo>
                  <a:cubicBezTo>
                    <a:pt x="4617466" y="0"/>
                    <a:pt x="4683760" y="66167"/>
                    <a:pt x="4683760" y="147955"/>
                  </a:cubicBezTo>
                  <a:lnTo>
                    <a:pt x="4683760" y="6730365"/>
                  </a:lnTo>
                  <a:cubicBezTo>
                    <a:pt x="4683760" y="6812026"/>
                    <a:pt x="4617593" y="6878320"/>
                    <a:pt x="4535805" y="6878320"/>
                  </a:cubicBezTo>
                  <a:lnTo>
                    <a:pt x="147955" y="6878320"/>
                  </a:lnTo>
                  <a:cubicBezTo>
                    <a:pt x="66167" y="6878320"/>
                    <a:pt x="0" y="6812153"/>
                    <a:pt x="0" y="6730365"/>
                  </a:cubicBezTo>
                  <a:close/>
                </a:path>
              </a:pathLst>
            </a:custGeom>
            <a:solidFill>
              <a:srgbClr val="FFFFFF"/>
            </a:solidFill>
            <a:ln w="38100" cap="sq">
              <a:solidFill>
                <a:srgbClr val="1F5FBF"/>
              </a:solidFill>
              <a:prstDash val="solid"/>
              <a:miter/>
            </a:ln>
          </p:spPr>
        </p:sp>
      </p:grpSp>
      <p:grpSp>
        <p:nvGrpSpPr>
          <p:cNvPr name="Group 10" id="10"/>
          <p:cNvGrpSpPr/>
          <p:nvPr/>
        </p:nvGrpSpPr>
        <p:grpSpPr>
          <a:xfrm rot="0">
            <a:off x="1188720" y="2157984"/>
            <a:ext cx="2926080" cy="548640"/>
            <a:chOff x="0" y="0"/>
            <a:chExt cx="3901440" cy="731520"/>
          </a:xfrm>
        </p:grpSpPr>
        <p:sp>
          <p:nvSpPr>
            <p:cNvPr name="Freeform 11" id="11"/>
            <p:cNvSpPr/>
            <p:nvPr/>
          </p:nvSpPr>
          <p:spPr>
            <a:xfrm flipH="false" flipV="false" rot="0">
              <a:off x="0" y="0"/>
              <a:ext cx="3901440" cy="731520"/>
            </a:xfrm>
            <a:custGeom>
              <a:avLst/>
              <a:gdLst/>
              <a:ahLst/>
              <a:cxnLst/>
              <a:rect r="r" b="b" t="t" l="l"/>
              <a:pathLst>
                <a:path h="731520" w="3901440">
                  <a:moveTo>
                    <a:pt x="0" y="0"/>
                  </a:moveTo>
                  <a:lnTo>
                    <a:pt x="3901440" y="0"/>
                  </a:lnTo>
                  <a:lnTo>
                    <a:pt x="3901440" y="731520"/>
                  </a:lnTo>
                  <a:lnTo>
                    <a:pt x="0" y="731520"/>
                  </a:lnTo>
                  <a:close/>
                </a:path>
              </a:pathLst>
            </a:custGeom>
            <a:blipFill>
              <a:blip r:embed="rId3">
                <a:alphaModFix amt="0"/>
              </a:blip>
              <a:stretch>
                <a:fillRect l="0" t="-53920" r="0" b="-53920"/>
              </a:stretch>
            </a:blipFill>
          </p:spPr>
        </p:sp>
        <p:sp>
          <p:nvSpPr>
            <p:cNvPr name="TextBox 12" id="12"/>
            <p:cNvSpPr txBox="true"/>
            <p:nvPr/>
          </p:nvSpPr>
          <p:spPr>
            <a:xfrm>
              <a:off x="0" y="-9525"/>
              <a:ext cx="3901440" cy="741045"/>
            </a:xfrm>
            <a:prstGeom prst="rect">
              <a:avLst/>
            </a:prstGeom>
          </p:spPr>
          <p:txBody>
            <a:bodyPr anchor="ctr" rtlCol="false" tIns="0" lIns="0" bIns="0" rIns="0"/>
            <a:lstStyle/>
            <a:p>
              <a:pPr algn="l">
                <a:lnSpc>
                  <a:spcPts val="2400"/>
                </a:lnSpc>
              </a:pPr>
              <a:r>
                <a:rPr lang="en-US" sz="2000" b="true">
                  <a:solidFill>
                    <a:srgbClr val="F28C28"/>
                  </a:solidFill>
                  <a:latin typeface="Arial Bold"/>
                  <a:ea typeface="Arial Bold"/>
                  <a:cs typeface="Arial Bold"/>
                  <a:sym typeface="Arial Bold"/>
                </a:rPr>
                <a:t>USERS</a:t>
              </a:r>
            </a:p>
          </p:txBody>
        </p:sp>
      </p:grpSp>
      <p:grpSp>
        <p:nvGrpSpPr>
          <p:cNvPr name="Group 13" id="13"/>
          <p:cNvGrpSpPr/>
          <p:nvPr/>
        </p:nvGrpSpPr>
        <p:grpSpPr>
          <a:xfrm rot="0">
            <a:off x="1176023" y="2821943"/>
            <a:ext cx="2951483" cy="756923"/>
            <a:chOff x="0" y="0"/>
            <a:chExt cx="3935311" cy="1009231"/>
          </a:xfrm>
        </p:grpSpPr>
        <p:sp>
          <p:nvSpPr>
            <p:cNvPr name="Freeform 14" id="14"/>
            <p:cNvSpPr/>
            <p:nvPr/>
          </p:nvSpPr>
          <p:spPr>
            <a:xfrm flipH="false" flipV="false" rot="0">
              <a:off x="0" y="0"/>
              <a:ext cx="3935222" cy="1009142"/>
            </a:xfrm>
            <a:custGeom>
              <a:avLst/>
              <a:gdLst/>
              <a:ahLst/>
              <a:cxnLst/>
              <a:rect r="r" b="b" t="t" l="l"/>
              <a:pathLst>
                <a:path h="1009142" w="3935222">
                  <a:moveTo>
                    <a:pt x="0" y="201803"/>
                  </a:moveTo>
                  <a:cubicBezTo>
                    <a:pt x="0" y="90424"/>
                    <a:pt x="90424" y="0"/>
                    <a:pt x="201803" y="0"/>
                  </a:cubicBezTo>
                  <a:lnTo>
                    <a:pt x="3733419" y="0"/>
                  </a:lnTo>
                  <a:cubicBezTo>
                    <a:pt x="3844925" y="0"/>
                    <a:pt x="3935222" y="90424"/>
                    <a:pt x="3935222" y="201803"/>
                  </a:cubicBezTo>
                  <a:lnTo>
                    <a:pt x="3935222" y="807339"/>
                  </a:lnTo>
                  <a:cubicBezTo>
                    <a:pt x="3935222" y="918845"/>
                    <a:pt x="3844798" y="1009142"/>
                    <a:pt x="3733419" y="1009142"/>
                  </a:cubicBezTo>
                  <a:lnTo>
                    <a:pt x="201803" y="1009142"/>
                  </a:lnTo>
                  <a:cubicBezTo>
                    <a:pt x="90424" y="1009269"/>
                    <a:pt x="0" y="918845"/>
                    <a:pt x="0" y="807339"/>
                  </a:cubicBezTo>
                  <a:close/>
                </a:path>
              </a:pathLst>
            </a:custGeom>
            <a:solidFill>
              <a:srgbClr val="EAF0FA"/>
            </a:solidFill>
            <a:ln w="25400" cap="sq">
              <a:solidFill>
                <a:srgbClr val="EAF0FA"/>
              </a:solidFill>
              <a:prstDash val="solid"/>
              <a:miter/>
            </a:ln>
          </p:spPr>
        </p:sp>
      </p:grpSp>
      <p:grpSp>
        <p:nvGrpSpPr>
          <p:cNvPr name="Group 15" id="15"/>
          <p:cNvGrpSpPr/>
          <p:nvPr/>
        </p:nvGrpSpPr>
        <p:grpSpPr>
          <a:xfrm rot="0">
            <a:off x="1188720" y="2834640"/>
            <a:ext cx="2926080" cy="731520"/>
            <a:chOff x="0" y="0"/>
            <a:chExt cx="3901440" cy="975360"/>
          </a:xfrm>
        </p:grpSpPr>
        <p:sp>
          <p:nvSpPr>
            <p:cNvPr name="Freeform 16" id="16"/>
            <p:cNvSpPr/>
            <p:nvPr/>
          </p:nvSpPr>
          <p:spPr>
            <a:xfrm flipH="false" flipV="false" rot="0">
              <a:off x="0" y="0"/>
              <a:ext cx="3901440" cy="975360"/>
            </a:xfrm>
            <a:custGeom>
              <a:avLst/>
              <a:gdLst/>
              <a:ahLst/>
              <a:cxnLst/>
              <a:rect r="r" b="b" t="t" l="l"/>
              <a:pathLst>
                <a:path h="975360" w="3901440">
                  <a:moveTo>
                    <a:pt x="0" y="0"/>
                  </a:moveTo>
                  <a:lnTo>
                    <a:pt x="3901440" y="0"/>
                  </a:lnTo>
                  <a:lnTo>
                    <a:pt x="3901440" y="975360"/>
                  </a:lnTo>
                  <a:lnTo>
                    <a:pt x="0" y="975360"/>
                  </a:lnTo>
                  <a:close/>
                </a:path>
              </a:pathLst>
            </a:custGeom>
            <a:blipFill>
              <a:blip r:embed="rId3">
                <a:alphaModFix amt="0"/>
              </a:blip>
              <a:stretch>
                <a:fillRect l="0" t="-27940" r="0" b="-27940"/>
              </a:stretch>
            </a:blipFill>
          </p:spPr>
        </p:sp>
        <p:sp>
          <p:nvSpPr>
            <p:cNvPr name="TextBox 17" id="17"/>
            <p:cNvSpPr txBox="true"/>
            <p:nvPr/>
          </p:nvSpPr>
          <p:spPr>
            <a:xfrm>
              <a:off x="0" y="-19050"/>
              <a:ext cx="3901440" cy="994410"/>
            </a:xfrm>
            <a:prstGeom prst="rect">
              <a:avLst/>
            </a:prstGeom>
          </p:spPr>
          <p:txBody>
            <a:bodyPr anchor="ctr" rtlCol="false" tIns="0" lIns="0" bIns="0" rIns="0"/>
            <a:lstStyle/>
            <a:p>
              <a:pPr algn="ctr">
                <a:lnSpc>
                  <a:spcPts val="2639"/>
                </a:lnSpc>
              </a:pPr>
              <a:r>
                <a:rPr lang="en-US" sz="2199" b="true">
                  <a:solidFill>
                    <a:srgbClr val="0F2557"/>
                  </a:solidFill>
                  <a:latin typeface="Arial Bold"/>
                  <a:ea typeface="Arial Bold"/>
                  <a:cs typeface="Arial Bold"/>
                  <a:sym typeface="Arial Bold"/>
                </a:rPr>
                <a:t>HR Admin</a:t>
              </a:r>
            </a:p>
          </p:txBody>
        </p:sp>
      </p:grpSp>
      <p:grpSp>
        <p:nvGrpSpPr>
          <p:cNvPr name="Group 18" id="18"/>
          <p:cNvGrpSpPr/>
          <p:nvPr/>
        </p:nvGrpSpPr>
        <p:grpSpPr>
          <a:xfrm rot="0">
            <a:off x="1176023" y="3772919"/>
            <a:ext cx="2951483" cy="756923"/>
            <a:chOff x="0" y="0"/>
            <a:chExt cx="3935311" cy="1009231"/>
          </a:xfrm>
        </p:grpSpPr>
        <p:sp>
          <p:nvSpPr>
            <p:cNvPr name="Freeform 19" id="19"/>
            <p:cNvSpPr/>
            <p:nvPr/>
          </p:nvSpPr>
          <p:spPr>
            <a:xfrm flipH="false" flipV="false" rot="0">
              <a:off x="0" y="0"/>
              <a:ext cx="3935222" cy="1009142"/>
            </a:xfrm>
            <a:custGeom>
              <a:avLst/>
              <a:gdLst/>
              <a:ahLst/>
              <a:cxnLst/>
              <a:rect r="r" b="b" t="t" l="l"/>
              <a:pathLst>
                <a:path h="1009142" w="3935222">
                  <a:moveTo>
                    <a:pt x="0" y="201803"/>
                  </a:moveTo>
                  <a:cubicBezTo>
                    <a:pt x="0" y="90424"/>
                    <a:pt x="90424" y="0"/>
                    <a:pt x="201803" y="0"/>
                  </a:cubicBezTo>
                  <a:lnTo>
                    <a:pt x="3733419" y="0"/>
                  </a:lnTo>
                  <a:cubicBezTo>
                    <a:pt x="3844925" y="0"/>
                    <a:pt x="3935222" y="90424"/>
                    <a:pt x="3935222" y="201803"/>
                  </a:cubicBezTo>
                  <a:lnTo>
                    <a:pt x="3935222" y="807339"/>
                  </a:lnTo>
                  <a:cubicBezTo>
                    <a:pt x="3935222" y="918845"/>
                    <a:pt x="3844798" y="1009142"/>
                    <a:pt x="3733419" y="1009142"/>
                  </a:cubicBezTo>
                  <a:lnTo>
                    <a:pt x="201803" y="1009142"/>
                  </a:lnTo>
                  <a:cubicBezTo>
                    <a:pt x="90424" y="1009269"/>
                    <a:pt x="0" y="918845"/>
                    <a:pt x="0" y="807339"/>
                  </a:cubicBezTo>
                  <a:close/>
                </a:path>
              </a:pathLst>
            </a:custGeom>
            <a:solidFill>
              <a:srgbClr val="EAF0FA"/>
            </a:solidFill>
            <a:ln w="25400" cap="sq">
              <a:solidFill>
                <a:srgbClr val="EAF0FA"/>
              </a:solidFill>
              <a:prstDash val="solid"/>
              <a:miter/>
            </a:ln>
          </p:spPr>
        </p:sp>
      </p:grpSp>
      <p:grpSp>
        <p:nvGrpSpPr>
          <p:cNvPr name="Group 20" id="20"/>
          <p:cNvGrpSpPr/>
          <p:nvPr/>
        </p:nvGrpSpPr>
        <p:grpSpPr>
          <a:xfrm rot="0">
            <a:off x="1188720" y="3785616"/>
            <a:ext cx="2926080" cy="731520"/>
            <a:chOff x="0" y="0"/>
            <a:chExt cx="3901440" cy="975360"/>
          </a:xfrm>
        </p:grpSpPr>
        <p:sp>
          <p:nvSpPr>
            <p:cNvPr name="Freeform 21" id="21"/>
            <p:cNvSpPr/>
            <p:nvPr/>
          </p:nvSpPr>
          <p:spPr>
            <a:xfrm flipH="false" flipV="false" rot="0">
              <a:off x="0" y="0"/>
              <a:ext cx="3901440" cy="975360"/>
            </a:xfrm>
            <a:custGeom>
              <a:avLst/>
              <a:gdLst/>
              <a:ahLst/>
              <a:cxnLst/>
              <a:rect r="r" b="b" t="t" l="l"/>
              <a:pathLst>
                <a:path h="975360" w="3901440">
                  <a:moveTo>
                    <a:pt x="0" y="0"/>
                  </a:moveTo>
                  <a:lnTo>
                    <a:pt x="3901440" y="0"/>
                  </a:lnTo>
                  <a:lnTo>
                    <a:pt x="3901440" y="975360"/>
                  </a:lnTo>
                  <a:lnTo>
                    <a:pt x="0" y="975360"/>
                  </a:lnTo>
                  <a:close/>
                </a:path>
              </a:pathLst>
            </a:custGeom>
            <a:blipFill>
              <a:blip r:embed="rId3">
                <a:alphaModFix amt="0"/>
              </a:blip>
              <a:stretch>
                <a:fillRect l="0" t="-27940" r="0" b="-27940"/>
              </a:stretch>
            </a:blipFill>
          </p:spPr>
        </p:sp>
        <p:sp>
          <p:nvSpPr>
            <p:cNvPr name="TextBox 22" id="22"/>
            <p:cNvSpPr txBox="true"/>
            <p:nvPr/>
          </p:nvSpPr>
          <p:spPr>
            <a:xfrm>
              <a:off x="0" y="-19050"/>
              <a:ext cx="3901440" cy="994410"/>
            </a:xfrm>
            <a:prstGeom prst="rect">
              <a:avLst/>
            </a:prstGeom>
          </p:spPr>
          <p:txBody>
            <a:bodyPr anchor="ctr" rtlCol="false" tIns="0" lIns="0" bIns="0" rIns="0"/>
            <a:lstStyle/>
            <a:p>
              <a:pPr algn="ctr">
                <a:lnSpc>
                  <a:spcPts val="2639"/>
                </a:lnSpc>
              </a:pPr>
              <a:r>
                <a:rPr lang="en-US" sz="2199" b="true">
                  <a:solidFill>
                    <a:srgbClr val="0F2557"/>
                  </a:solidFill>
                  <a:latin typeface="Arial Bold"/>
                  <a:ea typeface="Arial Bold"/>
                  <a:cs typeface="Arial Bold"/>
                  <a:sym typeface="Arial Bold"/>
                </a:rPr>
                <a:t>Team Manager</a:t>
              </a:r>
            </a:p>
          </p:txBody>
        </p:sp>
      </p:grpSp>
      <p:grpSp>
        <p:nvGrpSpPr>
          <p:cNvPr name="Group 23" id="23"/>
          <p:cNvGrpSpPr/>
          <p:nvPr/>
        </p:nvGrpSpPr>
        <p:grpSpPr>
          <a:xfrm rot="0">
            <a:off x="1176023" y="4723895"/>
            <a:ext cx="2951483" cy="756923"/>
            <a:chOff x="0" y="0"/>
            <a:chExt cx="3935311" cy="1009231"/>
          </a:xfrm>
        </p:grpSpPr>
        <p:sp>
          <p:nvSpPr>
            <p:cNvPr name="Freeform 24" id="24"/>
            <p:cNvSpPr/>
            <p:nvPr/>
          </p:nvSpPr>
          <p:spPr>
            <a:xfrm flipH="false" flipV="false" rot="0">
              <a:off x="0" y="0"/>
              <a:ext cx="3935222" cy="1009142"/>
            </a:xfrm>
            <a:custGeom>
              <a:avLst/>
              <a:gdLst/>
              <a:ahLst/>
              <a:cxnLst/>
              <a:rect r="r" b="b" t="t" l="l"/>
              <a:pathLst>
                <a:path h="1009142" w="3935222">
                  <a:moveTo>
                    <a:pt x="0" y="201803"/>
                  </a:moveTo>
                  <a:cubicBezTo>
                    <a:pt x="0" y="90424"/>
                    <a:pt x="90424" y="0"/>
                    <a:pt x="201803" y="0"/>
                  </a:cubicBezTo>
                  <a:lnTo>
                    <a:pt x="3733419" y="0"/>
                  </a:lnTo>
                  <a:cubicBezTo>
                    <a:pt x="3844925" y="0"/>
                    <a:pt x="3935222" y="90424"/>
                    <a:pt x="3935222" y="201803"/>
                  </a:cubicBezTo>
                  <a:lnTo>
                    <a:pt x="3935222" y="807339"/>
                  </a:lnTo>
                  <a:cubicBezTo>
                    <a:pt x="3935222" y="918845"/>
                    <a:pt x="3844798" y="1009142"/>
                    <a:pt x="3733419" y="1009142"/>
                  </a:cubicBezTo>
                  <a:lnTo>
                    <a:pt x="201803" y="1009142"/>
                  </a:lnTo>
                  <a:cubicBezTo>
                    <a:pt x="90424" y="1009269"/>
                    <a:pt x="0" y="918845"/>
                    <a:pt x="0" y="807339"/>
                  </a:cubicBezTo>
                  <a:close/>
                </a:path>
              </a:pathLst>
            </a:custGeom>
            <a:solidFill>
              <a:srgbClr val="EAF0FA"/>
            </a:solidFill>
            <a:ln w="25400" cap="sq">
              <a:solidFill>
                <a:srgbClr val="EAF0FA"/>
              </a:solidFill>
              <a:prstDash val="solid"/>
              <a:miter/>
            </a:ln>
          </p:spPr>
        </p:sp>
      </p:grpSp>
      <p:grpSp>
        <p:nvGrpSpPr>
          <p:cNvPr name="Group 25" id="25"/>
          <p:cNvGrpSpPr/>
          <p:nvPr/>
        </p:nvGrpSpPr>
        <p:grpSpPr>
          <a:xfrm rot="0">
            <a:off x="1188720" y="4736592"/>
            <a:ext cx="2926080" cy="731520"/>
            <a:chOff x="0" y="0"/>
            <a:chExt cx="3901440" cy="975360"/>
          </a:xfrm>
        </p:grpSpPr>
        <p:sp>
          <p:nvSpPr>
            <p:cNvPr name="Freeform 26" id="26"/>
            <p:cNvSpPr/>
            <p:nvPr/>
          </p:nvSpPr>
          <p:spPr>
            <a:xfrm flipH="false" flipV="false" rot="0">
              <a:off x="0" y="0"/>
              <a:ext cx="3901440" cy="975360"/>
            </a:xfrm>
            <a:custGeom>
              <a:avLst/>
              <a:gdLst/>
              <a:ahLst/>
              <a:cxnLst/>
              <a:rect r="r" b="b" t="t" l="l"/>
              <a:pathLst>
                <a:path h="975360" w="3901440">
                  <a:moveTo>
                    <a:pt x="0" y="0"/>
                  </a:moveTo>
                  <a:lnTo>
                    <a:pt x="3901440" y="0"/>
                  </a:lnTo>
                  <a:lnTo>
                    <a:pt x="3901440" y="975360"/>
                  </a:lnTo>
                  <a:lnTo>
                    <a:pt x="0" y="975360"/>
                  </a:lnTo>
                  <a:close/>
                </a:path>
              </a:pathLst>
            </a:custGeom>
            <a:blipFill>
              <a:blip r:embed="rId3">
                <a:alphaModFix amt="0"/>
              </a:blip>
              <a:stretch>
                <a:fillRect l="0" t="-27940" r="0" b="-27940"/>
              </a:stretch>
            </a:blipFill>
          </p:spPr>
        </p:sp>
        <p:sp>
          <p:nvSpPr>
            <p:cNvPr name="TextBox 27" id="27"/>
            <p:cNvSpPr txBox="true"/>
            <p:nvPr/>
          </p:nvSpPr>
          <p:spPr>
            <a:xfrm>
              <a:off x="0" y="-19050"/>
              <a:ext cx="3901440" cy="994410"/>
            </a:xfrm>
            <a:prstGeom prst="rect">
              <a:avLst/>
            </a:prstGeom>
          </p:spPr>
          <p:txBody>
            <a:bodyPr anchor="ctr" rtlCol="false" tIns="0" lIns="0" bIns="0" rIns="0"/>
            <a:lstStyle/>
            <a:p>
              <a:pPr algn="ctr">
                <a:lnSpc>
                  <a:spcPts val="2639"/>
                </a:lnSpc>
              </a:pPr>
              <a:r>
                <a:rPr lang="en-US" sz="2199" b="true">
                  <a:solidFill>
                    <a:srgbClr val="0F2557"/>
                  </a:solidFill>
                  <a:latin typeface="Arial Bold"/>
                  <a:ea typeface="Arial Bold"/>
                  <a:cs typeface="Arial Bold"/>
                  <a:sym typeface="Arial Bold"/>
                </a:rPr>
                <a:t>On-call Engineer</a:t>
              </a:r>
            </a:p>
          </p:txBody>
        </p:sp>
      </p:grpSp>
      <p:grpSp>
        <p:nvGrpSpPr>
          <p:cNvPr name="Group 28" id="28"/>
          <p:cNvGrpSpPr/>
          <p:nvPr/>
        </p:nvGrpSpPr>
        <p:grpSpPr>
          <a:xfrm rot="0">
            <a:off x="1188720" y="5760720"/>
            <a:ext cx="2926080" cy="1188720"/>
            <a:chOff x="0" y="0"/>
            <a:chExt cx="3901440" cy="1584960"/>
          </a:xfrm>
        </p:grpSpPr>
        <p:sp>
          <p:nvSpPr>
            <p:cNvPr name="Freeform 29" id="29"/>
            <p:cNvSpPr/>
            <p:nvPr/>
          </p:nvSpPr>
          <p:spPr>
            <a:xfrm flipH="false" flipV="false" rot="0">
              <a:off x="0" y="0"/>
              <a:ext cx="3901440" cy="1584960"/>
            </a:xfrm>
            <a:custGeom>
              <a:avLst/>
              <a:gdLst/>
              <a:ahLst/>
              <a:cxnLst/>
              <a:rect r="r" b="b" t="t" l="l"/>
              <a:pathLst>
                <a:path h="1584960" w="3901440">
                  <a:moveTo>
                    <a:pt x="0" y="0"/>
                  </a:moveTo>
                  <a:lnTo>
                    <a:pt x="3901440" y="0"/>
                  </a:lnTo>
                  <a:lnTo>
                    <a:pt x="3901440" y="1584960"/>
                  </a:lnTo>
                  <a:lnTo>
                    <a:pt x="0" y="1584960"/>
                  </a:lnTo>
                  <a:close/>
                </a:path>
              </a:pathLst>
            </a:custGeom>
            <a:blipFill>
              <a:blip r:embed="rId3">
                <a:alphaModFix amt="0"/>
              </a:blip>
              <a:stretch>
                <a:fillRect l="-2123" t="0" r="-2123" b="0"/>
              </a:stretch>
            </a:blipFill>
          </p:spPr>
        </p:sp>
        <p:sp>
          <p:nvSpPr>
            <p:cNvPr name="TextBox 30" id="30"/>
            <p:cNvSpPr txBox="true"/>
            <p:nvPr/>
          </p:nvSpPr>
          <p:spPr>
            <a:xfrm>
              <a:off x="0" y="-9525"/>
              <a:ext cx="3901440" cy="1594485"/>
            </a:xfrm>
            <a:prstGeom prst="rect">
              <a:avLst/>
            </a:prstGeom>
          </p:spPr>
          <p:txBody>
            <a:bodyPr anchor="ctr" rtlCol="false" tIns="0" lIns="0" bIns="0" rIns="0"/>
            <a:lstStyle/>
            <a:p>
              <a:pPr algn="l">
                <a:lnSpc>
                  <a:spcPts val="2520"/>
                </a:lnSpc>
              </a:pPr>
              <a:r>
                <a:rPr lang="en-US" sz="2100" b="true">
                  <a:solidFill>
                    <a:srgbClr val="0F2557"/>
                  </a:solidFill>
                  <a:latin typeface="Arial Bold"/>
                  <a:ea typeface="Arial Bold"/>
                  <a:cs typeface="Arial Bold"/>
                  <a:sym typeface="Arial Bold"/>
                </a:rPr>
                <a:t>Web dashboard with role-based screens</a:t>
              </a:r>
            </a:p>
          </p:txBody>
        </p:sp>
      </p:grpSp>
      <p:grpSp>
        <p:nvGrpSpPr>
          <p:cNvPr name="Group 31" id="31"/>
          <p:cNvGrpSpPr/>
          <p:nvPr/>
        </p:nvGrpSpPr>
        <p:grpSpPr>
          <a:xfrm rot="0">
            <a:off x="4918710" y="1992630"/>
            <a:ext cx="4792980" cy="5158740"/>
            <a:chOff x="0" y="0"/>
            <a:chExt cx="6390640" cy="6878320"/>
          </a:xfrm>
        </p:grpSpPr>
        <p:sp>
          <p:nvSpPr>
            <p:cNvPr name="Freeform 32" id="32"/>
            <p:cNvSpPr/>
            <p:nvPr/>
          </p:nvSpPr>
          <p:spPr>
            <a:xfrm flipH="false" flipV="false" rot="0">
              <a:off x="0" y="0"/>
              <a:ext cx="6390640" cy="6878320"/>
            </a:xfrm>
            <a:custGeom>
              <a:avLst/>
              <a:gdLst/>
              <a:ahLst/>
              <a:cxnLst/>
              <a:rect r="r" b="b" t="t" l="l"/>
              <a:pathLst>
                <a:path h="6878320" w="6390640">
                  <a:moveTo>
                    <a:pt x="0" y="147447"/>
                  </a:moveTo>
                  <a:cubicBezTo>
                    <a:pt x="0" y="66040"/>
                    <a:pt x="66040" y="0"/>
                    <a:pt x="147447" y="0"/>
                  </a:cubicBezTo>
                  <a:lnTo>
                    <a:pt x="6243193" y="0"/>
                  </a:lnTo>
                  <a:cubicBezTo>
                    <a:pt x="6324600" y="0"/>
                    <a:pt x="6390640" y="66040"/>
                    <a:pt x="6390640" y="147447"/>
                  </a:cubicBezTo>
                  <a:lnTo>
                    <a:pt x="6390640" y="6730873"/>
                  </a:lnTo>
                  <a:cubicBezTo>
                    <a:pt x="6390640" y="6812280"/>
                    <a:pt x="6324600" y="6878320"/>
                    <a:pt x="6243193" y="6878320"/>
                  </a:cubicBezTo>
                  <a:lnTo>
                    <a:pt x="147447" y="6878320"/>
                  </a:lnTo>
                  <a:cubicBezTo>
                    <a:pt x="66040" y="6878320"/>
                    <a:pt x="0" y="6812280"/>
                    <a:pt x="0" y="6730873"/>
                  </a:cubicBezTo>
                  <a:close/>
                </a:path>
              </a:pathLst>
            </a:custGeom>
            <a:solidFill>
              <a:srgbClr val="FFFFFF"/>
            </a:solidFill>
            <a:ln w="38100" cap="sq">
              <a:solidFill>
                <a:srgbClr val="1F5FBF"/>
              </a:solidFill>
              <a:prstDash val="solid"/>
              <a:miter/>
            </a:ln>
          </p:spPr>
        </p:sp>
      </p:grpSp>
      <p:grpSp>
        <p:nvGrpSpPr>
          <p:cNvPr name="Group 33" id="33"/>
          <p:cNvGrpSpPr/>
          <p:nvPr/>
        </p:nvGrpSpPr>
        <p:grpSpPr>
          <a:xfrm rot="0">
            <a:off x="5212080" y="2157984"/>
            <a:ext cx="4206240" cy="548640"/>
            <a:chOff x="0" y="0"/>
            <a:chExt cx="5608320" cy="731520"/>
          </a:xfrm>
        </p:grpSpPr>
        <p:sp>
          <p:nvSpPr>
            <p:cNvPr name="Freeform 34" id="34"/>
            <p:cNvSpPr/>
            <p:nvPr/>
          </p:nvSpPr>
          <p:spPr>
            <a:xfrm flipH="false" flipV="false" rot="0">
              <a:off x="0" y="0"/>
              <a:ext cx="5608320" cy="731520"/>
            </a:xfrm>
            <a:custGeom>
              <a:avLst/>
              <a:gdLst/>
              <a:ahLst/>
              <a:cxnLst/>
              <a:rect r="r" b="b" t="t" l="l"/>
              <a:pathLst>
                <a:path h="731520" w="5608320">
                  <a:moveTo>
                    <a:pt x="0" y="0"/>
                  </a:moveTo>
                  <a:lnTo>
                    <a:pt x="5608320" y="0"/>
                  </a:lnTo>
                  <a:lnTo>
                    <a:pt x="5608320" y="731520"/>
                  </a:lnTo>
                  <a:lnTo>
                    <a:pt x="0" y="731520"/>
                  </a:lnTo>
                  <a:close/>
                </a:path>
              </a:pathLst>
            </a:custGeom>
            <a:blipFill>
              <a:blip r:embed="rId3">
                <a:alphaModFix amt="0"/>
              </a:blip>
              <a:stretch>
                <a:fillRect l="0" t="-99385" r="0" b="-99385"/>
              </a:stretch>
            </a:blipFill>
          </p:spPr>
        </p:sp>
        <p:sp>
          <p:nvSpPr>
            <p:cNvPr name="TextBox 35" id="35"/>
            <p:cNvSpPr txBox="true"/>
            <p:nvPr/>
          </p:nvSpPr>
          <p:spPr>
            <a:xfrm>
              <a:off x="0" y="-9525"/>
              <a:ext cx="5608320" cy="741045"/>
            </a:xfrm>
            <a:prstGeom prst="rect">
              <a:avLst/>
            </a:prstGeom>
          </p:spPr>
          <p:txBody>
            <a:bodyPr anchor="ctr" rtlCol="false" tIns="0" lIns="0" bIns="0" rIns="0"/>
            <a:lstStyle/>
            <a:p>
              <a:pPr algn="l">
                <a:lnSpc>
                  <a:spcPts val="2400"/>
                </a:lnSpc>
              </a:pPr>
              <a:r>
                <a:rPr lang="en-US" sz="2000" b="true">
                  <a:solidFill>
                    <a:srgbClr val="F28C28"/>
                  </a:solidFill>
                  <a:latin typeface="Arial Bold"/>
                  <a:ea typeface="Arial Bold"/>
                  <a:cs typeface="Arial Bold"/>
                  <a:sym typeface="Arial Bold"/>
                </a:rPr>
                <a:t>CONNECTING LAYER</a:t>
              </a:r>
            </a:p>
          </p:txBody>
        </p:sp>
      </p:grpSp>
      <p:grpSp>
        <p:nvGrpSpPr>
          <p:cNvPr name="Group 36" id="36"/>
          <p:cNvGrpSpPr/>
          <p:nvPr/>
        </p:nvGrpSpPr>
        <p:grpSpPr>
          <a:xfrm rot="0">
            <a:off x="5212080" y="2743200"/>
            <a:ext cx="4206240" cy="548640"/>
            <a:chOff x="0" y="0"/>
            <a:chExt cx="5608320" cy="731520"/>
          </a:xfrm>
        </p:grpSpPr>
        <p:sp>
          <p:nvSpPr>
            <p:cNvPr name="Freeform 37" id="37"/>
            <p:cNvSpPr/>
            <p:nvPr/>
          </p:nvSpPr>
          <p:spPr>
            <a:xfrm flipH="false" flipV="false" rot="0">
              <a:off x="0" y="0"/>
              <a:ext cx="5608320" cy="731520"/>
            </a:xfrm>
            <a:custGeom>
              <a:avLst/>
              <a:gdLst/>
              <a:ahLst/>
              <a:cxnLst/>
              <a:rect r="r" b="b" t="t" l="l"/>
              <a:pathLst>
                <a:path h="731520" w="5608320">
                  <a:moveTo>
                    <a:pt x="0" y="0"/>
                  </a:moveTo>
                  <a:lnTo>
                    <a:pt x="5608320" y="0"/>
                  </a:lnTo>
                  <a:lnTo>
                    <a:pt x="5608320" y="731520"/>
                  </a:lnTo>
                  <a:lnTo>
                    <a:pt x="0" y="731520"/>
                  </a:lnTo>
                  <a:close/>
                </a:path>
              </a:pathLst>
            </a:custGeom>
            <a:blipFill>
              <a:blip r:embed="rId3">
                <a:alphaModFix amt="0"/>
              </a:blip>
              <a:stretch>
                <a:fillRect l="0" t="-99385" r="0" b="-99385"/>
              </a:stretch>
            </a:blipFill>
          </p:spPr>
        </p:sp>
        <p:sp>
          <p:nvSpPr>
            <p:cNvPr name="TextBox 38" id="38"/>
            <p:cNvSpPr txBox="true"/>
            <p:nvPr/>
          </p:nvSpPr>
          <p:spPr>
            <a:xfrm>
              <a:off x="0" y="-9525"/>
              <a:ext cx="5608320" cy="741045"/>
            </a:xfrm>
            <a:prstGeom prst="rect">
              <a:avLst/>
            </a:prstGeom>
          </p:spPr>
          <p:txBody>
            <a:bodyPr anchor="ctr" rtlCol="false" tIns="0" lIns="0" bIns="0" rIns="0"/>
            <a:lstStyle/>
            <a:p>
              <a:pPr algn="l">
                <a:lnSpc>
                  <a:spcPts val="2999"/>
                </a:lnSpc>
              </a:pPr>
              <a:r>
                <a:rPr lang="en-US" sz="2499" b="true">
                  <a:solidFill>
                    <a:srgbClr val="0F2557"/>
                  </a:solidFill>
                  <a:latin typeface="Arial Bold"/>
                  <a:ea typeface="Arial Bold"/>
                  <a:cs typeface="Arial Bold"/>
                  <a:sym typeface="Arial Bold"/>
                </a:rPr>
                <a:t>FastAPI </a:t>
              </a:r>
            </a:p>
          </p:txBody>
        </p:sp>
      </p:grpSp>
      <p:sp>
        <p:nvSpPr>
          <p:cNvPr name="TextBox 39" id="39"/>
          <p:cNvSpPr txBox="true"/>
          <p:nvPr/>
        </p:nvSpPr>
        <p:spPr>
          <a:xfrm rot="0">
            <a:off x="5212080" y="3455670"/>
            <a:ext cx="4206240" cy="3493770"/>
          </a:xfrm>
          <a:prstGeom prst="rect">
            <a:avLst/>
          </a:prstGeom>
        </p:spPr>
        <p:txBody>
          <a:bodyPr anchor="t" rtlCol="false" tIns="0" lIns="0" bIns="0" rIns="0">
            <a:spAutoFit/>
          </a:bodyPr>
          <a:lstStyle/>
          <a:p>
            <a:pPr algn="l" marL="554991" indent="-277495" lvl="1">
              <a:lnSpc>
                <a:spcPts val="2760"/>
              </a:lnSpc>
              <a:buFont typeface="Arial"/>
              <a:buChar char="•"/>
            </a:pPr>
            <a:r>
              <a:rPr lang="en-US" sz="2300">
                <a:solidFill>
                  <a:srgbClr val="1B2433"/>
                </a:solidFill>
                <a:latin typeface="Arial"/>
                <a:ea typeface="Arial"/>
                <a:cs typeface="Arial"/>
                <a:sym typeface="Arial"/>
              </a:rPr>
              <a:t>HR admin login</a:t>
            </a:r>
          </a:p>
          <a:p>
            <a:pPr algn="l" marL="554991" indent="-277495" lvl="1">
              <a:lnSpc>
                <a:spcPts val="2760"/>
              </a:lnSpc>
              <a:buFont typeface="Arial"/>
              <a:buChar char="•"/>
            </a:pPr>
            <a:r>
              <a:rPr lang="en-US" sz="2300">
                <a:solidFill>
                  <a:srgbClr val="1B2433"/>
                </a:solidFill>
                <a:latin typeface="Arial"/>
                <a:ea typeface="Arial"/>
                <a:cs typeface="Arial"/>
                <a:sym typeface="Arial"/>
              </a:rPr>
              <a:t>Team skills and workload</a:t>
            </a:r>
          </a:p>
          <a:p>
            <a:pPr algn="l" marL="554991" indent="-277495" lvl="1">
              <a:lnSpc>
                <a:spcPts val="2760"/>
              </a:lnSpc>
              <a:buFont typeface="Arial"/>
              <a:buChar char="•"/>
            </a:pPr>
            <a:r>
              <a:rPr lang="en-US" sz="2300">
                <a:solidFill>
                  <a:srgbClr val="1B2433"/>
                </a:solidFill>
                <a:latin typeface="Arial"/>
                <a:ea typeface="Arial"/>
                <a:cs typeface="Arial"/>
                <a:sym typeface="Arial"/>
              </a:rPr>
              <a:t>Incident tickets</a:t>
            </a:r>
          </a:p>
          <a:p>
            <a:pPr algn="l" marL="554991" indent="-277495" lvl="1">
              <a:lnSpc>
                <a:spcPts val="2760"/>
              </a:lnSpc>
              <a:buFont typeface="Arial"/>
              <a:buChar char="•"/>
            </a:pPr>
            <a:r>
              <a:rPr lang="en-US" sz="2300">
                <a:solidFill>
                  <a:srgbClr val="1B2433"/>
                </a:solidFill>
                <a:latin typeface="Arial"/>
                <a:ea typeface="Arial"/>
                <a:cs typeface="Arial"/>
                <a:sym typeface="Arial"/>
              </a:rPr>
              <a:t>Automatic backup if a service is down</a:t>
            </a:r>
          </a:p>
        </p:txBody>
      </p:sp>
      <p:grpSp>
        <p:nvGrpSpPr>
          <p:cNvPr name="Group 40" id="40"/>
          <p:cNvGrpSpPr/>
          <p:nvPr/>
        </p:nvGrpSpPr>
        <p:grpSpPr>
          <a:xfrm rot="0">
            <a:off x="10222230" y="1992630"/>
            <a:ext cx="7170420" cy="5158740"/>
            <a:chOff x="0" y="0"/>
            <a:chExt cx="9560560" cy="6878320"/>
          </a:xfrm>
        </p:grpSpPr>
        <p:sp>
          <p:nvSpPr>
            <p:cNvPr name="Freeform 41" id="41"/>
            <p:cNvSpPr/>
            <p:nvPr/>
          </p:nvSpPr>
          <p:spPr>
            <a:xfrm flipH="false" flipV="false" rot="0">
              <a:off x="0" y="0"/>
              <a:ext cx="9560560" cy="6878320"/>
            </a:xfrm>
            <a:custGeom>
              <a:avLst/>
              <a:gdLst/>
              <a:ahLst/>
              <a:cxnLst/>
              <a:rect r="r" b="b" t="t" l="l"/>
              <a:pathLst>
                <a:path h="6878320" w="9560560">
                  <a:moveTo>
                    <a:pt x="0" y="147447"/>
                  </a:moveTo>
                  <a:cubicBezTo>
                    <a:pt x="0" y="66040"/>
                    <a:pt x="66040" y="0"/>
                    <a:pt x="147447" y="0"/>
                  </a:cubicBezTo>
                  <a:lnTo>
                    <a:pt x="9413113" y="0"/>
                  </a:lnTo>
                  <a:cubicBezTo>
                    <a:pt x="9494520" y="0"/>
                    <a:pt x="9560560" y="66040"/>
                    <a:pt x="9560560" y="147447"/>
                  </a:cubicBezTo>
                  <a:lnTo>
                    <a:pt x="9560560" y="6730873"/>
                  </a:lnTo>
                  <a:cubicBezTo>
                    <a:pt x="9560560" y="6812280"/>
                    <a:pt x="9494520" y="6878320"/>
                    <a:pt x="9413113" y="6878320"/>
                  </a:cubicBezTo>
                  <a:lnTo>
                    <a:pt x="147447" y="6878320"/>
                  </a:lnTo>
                  <a:cubicBezTo>
                    <a:pt x="66040" y="6878320"/>
                    <a:pt x="0" y="6812280"/>
                    <a:pt x="0" y="6730873"/>
                  </a:cubicBezTo>
                  <a:close/>
                </a:path>
              </a:pathLst>
            </a:custGeom>
            <a:solidFill>
              <a:srgbClr val="FFFFFF"/>
            </a:solidFill>
            <a:ln w="38100" cap="sq">
              <a:solidFill>
                <a:srgbClr val="0F2557"/>
              </a:solidFill>
              <a:prstDash val="solid"/>
              <a:miter/>
            </a:ln>
          </p:spPr>
        </p:sp>
      </p:grpSp>
      <p:grpSp>
        <p:nvGrpSpPr>
          <p:cNvPr name="Group 42" id="42"/>
          <p:cNvGrpSpPr/>
          <p:nvPr/>
        </p:nvGrpSpPr>
        <p:grpSpPr>
          <a:xfrm rot="0">
            <a:off x="10515600" y="2157984"/>
            <a:ext cx="6583680" cy="548640"/>
            <a:chOff x="0" y="0"/>
            <a:chExt cx="8778240" cy="731520"/>
          </a:xfrm>
        </p:grpSpPr>
        <p:sp>
          <p:nvSpPr>
            <p:cNvPr name="Freeform 43" id="43"/>
            <p:cNvSpPr/>
            <p:nvPr/>
          </p:nvSpPr>
          <p:spPr>
            <a:xfrm flipH="false" flipV="false" rot="0">
              <a:off x="0" y="0"/>
              <a:ext cx="8778240" cy="731520"/>
            </a:xfrm>
            <a:custGeom>
              <a:avLst/>
              <a:gdLst/>
              <a:ahLst/>
              <a:cxnLst/>
              <a:rect r="r" b="b" t="t" l="l"/>
              <a:pathLst>
                <a:path h="731520" w="8778240">
                  <a:moveTo>
                    <a:pt x="0" y="0"/>
                  </a:moveTo>
                  <a:lnTo>
                    <a:pt x="8778240" y="0"/>
                  </a:lnTo>
                  <a:lnTo>
                    <a:pt x="8778240" y="731520"/>
                  </a:lnTo>
                  <a:lnTo>
                    <a:pt x="0" y="731520"/>
                  </a:lnTo>
                  <a:close/>
                </a:path>
              </a:pathLst>
            </a:custGeom>
            <a:blipFill>
              <a:blip r:embed="rId3">
                <a:alphaModFix amt="0"/>
              </a:blip>
              <a:stretch>
                <a:fillRect l="0" t="-183820" r="0" b="-183820"/>
              </a:stretch>
            </a:blipFill>
          </p:spPr>
        </p:sp>
        <p:sp>
          <p:nvSpPr>
            <p:cNvPr name="TextBox 44" id="44"/>
            <p:cNvSpPr txBox="true"/>
            <p:nvPr/>
          </p:nvSpPr>
          <p:spPr>
            <a:xfrm>
              <a:off x="0" y="-9525"/>
              <a:ext cx="8778240" cy="741045"/>
            </a:xfrm>
            <a:prstGeom prst="rect">
              <a:avLst/>
            </a:prstGeom>
          </p:spPr>
          <p:txBody>
            <a:bodyPr anchor="ctr" rtlCol="false" tIns="0" lIns="0" bIns="0" rIns="0"/>
            <a:lstStyle/>
            <a:p>
              <a:pPr algn="l">
                <a:lnSpc>
                  <a:spcPts val="2400"/>
                </a:lnSpc>
              </a:pPr>
              <a:r>
                <a:rPr lang="en-US" sz="2000" b="true">
                  <a:solidFill>
                    <a:srgbClr val="F28C28"/>
                  </a:solidFill>
                  <a:latin typeface="Arial Bold"/>
                  <a:ea typeface="Arial Bold"/>
                  <a:cs typeface="Arial Bold"/>
                  <a:sym typeface="Arial Bold"/>
                </a:rPr>
                <a:t>AI ENGINE  |  LangGraph</a:t>
              </a:r>
            </a:p>
          </p:txBody>
        </p:sp>
      </p:grpSp>
      <p:grpSp>
        <p:nvGrpSpPr>
          <p:cNvPr name="Group 45" id="45"/>
          <p:cNvGrpSpPr/>
          <p:nvPr/>
        </p:nvGrpSpPr>
        <p:grpSpPr>
          <a:xfrm rot="0">
            <a:off x="10594343" y="2821943"/>
            <a:ext cx="1945643" cy="1214123"/>
            <a:chOff x="0" y="0"/>
            <a:chExt cx="2594191" cy="1618831"/>
          </a:xfrm>
        </p:grpSpPr>
        <p:sp>
          <p:nvSpPr>
            <p:cNvPr name="Freeform 46" id="46"/>
            <p:cNvSpPr/>
            <p:nvPr/>
          </p:nvSpPr>
          <p:spPr>
            <a:xfrm flipH="false" flipV="false" rot="0">
              <a:off x="0" y="0"/>
              <a:ext cx="2594229" cy="1618869"/>
            </a:xfrm>
            <a:custGeom>
              <a:avLst/>
              <a:gdLst/>
              <a:ahLst/>
              <a:cxnLst/>
              <a:rect r="r" b="b" t="t" l="l"/>
              <a:pathLst>
                <a:path h="1618869" w="2594229">
                  <a:moveTo>
                    <a:pt x="0" y="149479"/>
                  </a:moveTo>
                  <a:cubicBezTo>
                    <a:pt x="0" y="66929"/>
                    <a:pt x="66929" y="0"/>
                    <a:pt x="149479" y="0"/>
                  </a:cubicBezTo>
                  <a:lnTo>
                    <a:pt x="2444750" y="0"/>
                  </a:lnTo>
                  <a:cubicBezTo>
                    <a:pt x="2527300" y="0"/>
                    <a:pt x="2594229" y="66929"/>
                    <a:pt x="2594229" y="149479"/>
                  </a:cubicBezTo>
                  <a:lnTo>
                    <a:pt x="2594229" y="1469390"/>
                  </a:lnTo>
                  <a:cubicBezTo>
                    <a:pt x="2594229" y="1551940"/>
                    <a:pt x="2527300" y="1618869"/>
                    <a:pt x="2444750" y="1618869"/>
                  </a:cubicBezTo>
                  <a:lnTo>
                    <a:pt x="149479" y="1618869"/>
                  </a:lnTo>
                  <a:cubicBezTo>
                    <a:pt x="66929" y="1618869"/>
                    <a:pt x="0" y="1551940"/>
                    <a:pt x="0" y="1469390"/>
                  </a:cubicBezTo>
                  <a:close/>
                </a:path>
              </a:pathLst>
            </a:custGeom>
            <a:solidFill>
              <a:srgbClr val="1F5FBF"/>
            </a:solidFill>
            <a:ln w="25400" cap="sq">
              <a:solidFill>
                <a:srgbClr val="1F5FBF"/>
              </a:solidFill>
              <a:prstDash val="solid"/>
              <a:miter/>
            </a:ln>
          </p:spPr>
        </p:sp>
      </p:grpSp>
      <p:grpSp>
        <p:nvGrpSpPr>
          <p:cNvPr name="Group 47" id="47"/>
          <p:cNvGrpSpPr/>
          <p:nvPr/>
        </p:nvGrpSpPr>
        <p:grpSpPr>
          <a:xfrm rot="0">
            <a:off x="10607040" y="2834640"/>
            <a:ext cx="1920240" cy="1188720"/>
            <a:chOff x="0" y="0"/>
            <a:chExt cx="2560320" cy="1584960"/>
          </a:xfrm>
        </p:grpSpPr>
        <p:sp>
          <p:nvSpPr>
            <p:cNvPr name="Freeform 48" id="48"/>
            <p:cNvSpPr/>
            <p:nvPr/>
          </p:nvSpPr>
          <p:spPr>
            <a:xfrm flipH="false" flipV="false" rot="0">
              <a:off x="0" y="0"/>
              <a:ext cx="2560320" cy="1584960"/>
            </a:xfrm>
            <a:custGeom>
              <a:avLst/>
              <a:gdLst/>
              <a:ahLst/>
              <a:cxnLst/>
              <a:rect r="r" b="b" t="t" l="l"/>
              <a:pathLst>
                <a:path h="1584960" w="2560320">
                  <a:moveTo>
                    <a:pt x="0" y="0"/>
                  </a:moveTo>
                  <a:lnTo>
                    <a:pt x="2560320" y="0"/>
                  </a:lnTo>
                  <a:lnTo>
                    <a:pt x="2560320" y="1584960"/>
                  </a:lnTo>
                  <a:lnTo>
                    <a:pt x="0" y="1584960"/>
                  </a:lnTo>
                  <a:close/>
                </a:path>
              </a:pathLst>
            </a:custGeom>
            <a:blipFill>
              <a:blip r:embed="rId3">
                <a:alphaModFix amt="0"/>
              </a:blip>
              <a:stretch>
                <a:fillRect l="-29426" t="0" r="-29426" b="0"/>
              </a:stretch>
            </a:blipFill>
          </p:spPr>
        </p:sp>
        <p:sp>
          <p:nvSpPr>
            <p:cNvPr name="TextBox 49" id="49"/>
            <p:cNvSpPr txBox="true"/>
            <p:nvPr/>
          </p:nvSpPr>
          <p:spPr>
            <a:xfrm>
              <a:off x="0" y="-9525"/>
              <a:ext cx="2560320" cy="1594485"/>
            </a:xfrm>
            <a:prstGeom prst="rect">
              <a:avLst/>
            </a:prstGeom>
          </p:spPr>
          <p:txBody>
            <a:bodyPr anchor="ctr" rtlCol="false" tIns="0" lIns="0" bIns="0" rIns="0"/>
            <a:lstStyle/>
            <a:p>
              <a:pPr algn="ctr">
                <a:lnSpc>
                  <a:spcPts val="2400"/>
                </a:lnSpc>
              </a:pPr>
              <a:r>
                <a:rPr lang="en-US" sz="2000" b="true">
                  <a:solidFill>
                    <a:srgbClr val="D6E2F8"/>
                  </a:solidFill>
                  <a:latin typeface="Arial Bold"/>
                  <a:ea typeface="Arial Bold"/>
                  <a:cs typeface="Arial Bold"/>
                  <a:sym typeface="Arial Bold"/>
                </a:rPr>
                <a:t>1</a:t>
              </a:r>
            </a:p>
            <a:p>
              <a:pPr algn="ctr">
                <a:lnSpc>
                  <a:spcPts val="2400"/>
                </a:lnSpc>
              </a:pPr>
              <a:r>
                <a:rPr lang="en-US" sz="2000" b="true">
                  <a:solidFill>
                    <a:srgbClr val="FFFFFF"/>
                  </a:solidFill>
                  <a:latin typeface="Arial Bold"/>
                  <a:ea typeface="Arial Bold"/>
                  <a:cs typeface="Arial Bold"/>
                  <a:sym typeface="Arial Bold"/>
                </a:rPr>
                <a:t>Planner</a:t>
              </a:r>
            </a:p>
          </p:txBody>
        </p:sp>
      </p:grpSp>
      <p:grpSp>
        <p:nvGrpSpPr>
          <p:cNvPr name="Group 50" id="50"/>
          <p:cNvGrpSpPr/>
          <p:nvPr/>
        </p:nvGrpSpPr>
        <p:grpSpPr>
          <a:xfrm rot="0">
            <a:off x="12825479" y="2821943"/>
            <a:ext cx="1945643" cy="1214123"/>
            <a:chOff x="0" y="0"/>
            <a:chExt cx="2594191" cy="1618831"/>
          </a:xfrm>
        </p:grpSpPr>
        <p:sp>
          <p:nvSpPr>
            <p:cNvPr name="Freeform 51" id="51"/>
            <p:cNvSpPr/>
            <p:nvPr/>
          </p:nvSpPr>
          <p:spPr>
            <a:xfrm flipH="false" flipV="false" rot="0">
              <a:off x="0" y="0"/>
              <a:ext cx="2594229" cy="1618869"/>
            </a:xfrm>
            <a:custGeom>
              <a:avLst/>
              <a:gdLst/>
              <a:ahLst/>
              <a:cxnLst/>
              <a:rect r="r" b="b" t="t" l="l"/>
              <a:pathLst>
                <a:path h="1618869" w="2594229">
                  <a:moveTo>
                    <a:pt x="0" y="149479"/>
                  </a:moveTo>
                  <a:cubicBezTo>
                    <a:pt x="0" y="66929"/>
                    <a:pt x="66929" y="0"/>
                    <a:pt x="149479" y="0"/>
                  </a:cubicBezTo>
                  <a:lnTo>
                    <a:pt x="2444750" y="0"/>
                  </a:lnTo>
                  <a:cubicBezTo>
                    <a:pt x="2527300" y="0"/>
                    <a:pt x="2594229" y="66929"/>
                    <a:pt x="2594229" y="149479"/>
                  </a:cubicBezTo>
                  <a:lnTo>
                    <a:pt x="2594229" y="1469390"/>
                  </a:lnTo>
                  <a:cubicBezTo>
                    <a:pt x="2594229" y="1551940"/>
                    <a:pt x="2527300" y="1618869"/>
                    <a:pt x="2444750" y="1618869"/>
                  </a:cubicBezTo>
                  <a:lnTo>
                    <a:pt x="149479" y="1618869"/>
                  </a:lnTo>
                  <a:cubicBezTo>
                    <a:pt x="66929" y="1618869"/>
                    <a:pt x="0" y="1551940"/>
                    <a:pt x="0" y="1469390"/>
                  </a:cubicBezTo>
                  <a:close/>
                </a:path>
              </a:pathLst>
            </a:custGeom>
            <a:solidFill>
              <a:srgbClr val="1F5FBF"/>
            </a:solidFill>
            <a:ln w="25400" cap="sq">
              <a:solidFill>
                <a:srgbClr val="1F5FBF"/>
              </a:solidFill>
              <a:prstDash val="solid"/>
              <a:miter/>
            </a:ln>
          </p:spPr>
        </p:sp>
      </p:grpSp>
      <p:grpSp>
        <p:nvGrpSpPr>
          <p:cNvPr name="Group 52" id="52"/>
          <p:cNvGrpSpPr/>
          <p:nvPr/>
        </p:nvGrpSpPr>
        <p:grpSpPr>
          <a:xfrm rot="0">
            <a:off x="12838176" y="2834640"/>
            <a:ext cx="1920240" cy="1188720"/>
            <a:chOff x="0" y="0"/>
            <a:chExt cx="2560320" cy="1584960"/>
          </a:xfrm>
        </p:grpSpPr>
        <p:sp>
          <p:nvSpPr>
            <p:cNvPr name="Freeform 53" id="53"/>
            <p:cNvSpPr/>
            <p:nvPr/>
          </p:nvSpPr>
          <p:spPr>
            <a:xfrm flipH="false" flipV="false" rot="0">
              <a:off x="0" y="0"/>
              <a:ext cx="2560320" cy="1584960"/>
            </a:xfrm>
            <a:custGeom>
              <a:avLst/>
              <a:gdLst/>
              <a:ahLst/>
              <a:cxnLst/>
              <a:rect r="r" b="b" t="t" l="l"/>
              <a:pathLst>
                <a:path h="1584960" w="2560320">
                  <a:moveTo>
                    <a:pt x="0" y="0"/>
                  </a:moveTo>
                  <a:lnTo>
                    <a:pt x="2560320" y="0"/>
                  </a:lnTo>
                  <a:lnTo>
                    <a:pt x="2560320" y="1584960"/>
                  </a:lnTo>
                  <a:lnTo>
                    <a:pt x="0" y="1584960"/>
                  </a:lnTo>
                  <a:close/>
                </a:path>
              </a:pathLst>
            </a:custGeom>
            <a:blipFill>
              <a:blip r:embed="rId3">
                <a:alphaModFix amt="0"/>
              </a:blip>
              <a:stretch>
                <a:fillRect l="-29426" t="0" r="-29426" b="0"/>
              </a:stretch>
            </a:blipFill>
          </p:spPr>
        </p:sp>
        <p:sp>
          <p:nvSpPr>
            <p:cNvPr name="TextBox 54" id="54"/>
            <p:cNvSpPr txBox="true"/>
            <p:nvPr/>
          </p:nvSpPr>
          <p:spPr>
            <a:xfrm>
              <a:off x="0" y="-9525"/>
              <a:ext cx="2560320" cy="1594485"/>
            </a:xfrm>
            <a:prstGeom prst="rect">
              <a:avLst/>
            </a:prstGeom>
          </p:spPr>
          <p:txBody>
            <a:bodyPr anchor="ctr" rtlCol="false" tIns="0" lIns="0" bIns="0" rIns="0"/>
            <a:lstStyle/>
            <a:p>
              <a:pPr algn="ctr">
                <a:lnSpc>
                  <a:spcPts val="2400"/>
                </a:lnSpc>
              </a:pPr>
              <a:r>
                <a:rPr lang="en-US" sz="2000" b="true">
                  <a:solidFill>
                    <a:srgbClr val="D6E2F8"/>
                  </a:solidFill>
                  <a:latin typeface="Arial Bold"/>
                  <a:ea typeface="Arial Bold"/>
                  <a:cs typeface="Arial Bold"/>
                  <a:sym typeface="Arial Bold"/>
                </a:rPr>
                <a:t>2</a:t>
              </a:r>
            </a:p>
            <a:p>
              <a:pPr algn="ctr">
                <a:lnSpc>
                  <a:spcPts val="2400"/>
                </a:lnSpc>
              </a:pPr>
              <a:r>
                <a:rPr lang="en-US" sz="2000" b="true">
                  <a:solidFill>
                    <a:srgbClr val="FFFFFF"/>
                  </a:solidFill>
                  <a:latin typeface="Arial Bold"/>
                  <a:ea typeface="Arial Bold"/>
                  <a:cs typeface="Arial Bold"/>
                  <a:sym typeface="Arial Bold"/>
                </a:rPr>
                <a:t>Investigation</a:t>
              </a:r>
            </a:p>
          </p:txBody>
        </p:sp>
      </p:grpSp>
      <p:grpSp>
        <p:nvGrpSpPr>
          <p:cNvPr name="Group 55" id="55"/>
          <p:cNvGrpSpPr/>
          <p:nvPr/>
        </p:nvGrpSpPr>
        <p:grpSpPr>
          <a:xfrm rot="0">
            <a:off x="15056615" y="2821943"/>
            <a:ext cx="1945643" cy="1214123"/>
            <a:chOff x="0" y="0"/>
            <a:chExt cx="2594191" cy="1618831"/>
          </a:xfrm>
        </p:grpSpPr>
        <p:sp>
          <p:nvSpPr>
            <p:cNvPr name="Freeform 56" id="56"/>
            <p:cNvSpPr/>
            <p:nvPr/>
          </p:nvSpPr>
          <p:spPr>
            <a:xfrm flipH="false" flipV="false" rot="0">
              <a:off x="0" y="0"/>
              <a:ext cx="2594229" cy="1618869"/>
            </a:xfrm>
            <a:custGeom>
              <a:avLst/>
              <a:gdLst/>
              <a:ahLst/>
              <a:cxnLst/>
              <a:rect r="r" b="b" t="t" l="l"/>
              <a:pathLst>
                <a:path h="1618869" w="2594229">
                  <a:moveTo>
                    <a:pt x="0" y="149479"/>
                  </a:moveTo>
                  <a:cubicBezTo>
                    <a:pt x="0" y="66929"/>
                    <a:pt x="66929" y="0"/>
                    <a:pt x="149479" y="0"/>
                  </a:cubicBezTo>
                  <a:lnTo>
                    <a:pt x="2444750" y="0"/>
                  </a:lnTo>
                  <a:cubicBezTo>
                    <a:pt x="2527300" y="0"/>
                    <a:pt x="2594229" y="66929"/>
                    <a:pt x="2594229" y="149479"/>
                  </a:cubicBezTo>
                  <a:lnTo>
                    <a:pt x="2594229" y="1469390"/>
                  </a:lnTo>
                  <a:cubicBezTo>
                    <a:pt x="2594229" y="1551940"/>
                    <a:pt x="2527300" y="1618869"/>
                    <a:pt x="2444750" y="1618869"/>
                  </a:cubicBezTo>
                  <a:lnTo>
                    <a:pt x="149479" y="1618869"/>
                  </a:lnTo>
                  <a:cubicBezTo>
                    <a:pt x="66929" y="1618869"/>
                    <a:pt x="0" y="1551940"/>
                    <a:pt x="0" y="1469390"/>
                  </a:cubicBezTo>
                  <a:close/>
                </a:path>
              </a:pathLst>
            </a:custGeom>
            <a:solidFill>
              <a:srgbClr val="1F5FBF"/>
            </a:solidFill>
            <a:ln w="25400" cap="sq">
              <a:solidFill>
                <a:srgbClr val="1F5FBF"/>
              </a:solidFill>
              <a:prstDash val="solid"/>
              <a:miter/>
            </a:ln>
          </p:spPr>
        </p:sp>
      </p:grpSp>
      <p:grpSp>
        <p:nvGrpSpPr>
          <p:cNvPr name="Group 57" id="57"/>
          <p:cNvGrpSpPr/>
          <p:nvPr/>
        </p:nvGrpSpPr>
        <p:grpSpPr>
          <a:xfrm rot="0">
            <a:off x="15069312" y="2834640"/>
            <a:ext cx="1920240" cy="1188720"/>
            <a:chOff x="0" y="0"/>
            <a:chExt cx="2560320" cy="1584960"/>
          </a:xfrm>
        </p:grpSpPr>
        <p:sp>
          <p:nvSpPr>
            <p:cNvPr name="Freeform 58" id="58"/>
            <p:cNvSpPr/>
            <p:nvPr/>
          </p:nvSpPr>
          <p:spPr>
            <a:xfrm flipH="false" flipV="false" rot="0">
              <a:off x="0" y="0"/>
              <a:ext cx="2560320" cy="1584960"/>
            </a:xfrm>
            <a:custGeom>
              <a:avLst/>
              <a:gdLst/>
              <a:ahLst/>
              <a:cxnLst/>
              <a:rect r="r" b="b" t="t" l="l"/>
              <a:pathLst>
                <a:path h="1584960" w="2560320">
                  <a:moveTo>
                    <a:pt x="0" y="0"/>
                  </a:moveTo>
                  <a:lnTo>
                    <a:pt x="2560320" y="0"/>
                  </a:lnTo>
                  <a:lnTo>
                    <a:pt x="2560320" y="1584960"/>
                  </a:lnTo>
                  <a:lnTo>
                    <a:pt x="0" y="1584960"/>
                  </a:lnTo>
                  <a:close/>
                </a:path>
              </a:pathLst>
            </a:custGeom>
            <a:blipFill>
              <a:blip r:embed="rId3">
                <a:alphaModFix amt="0"/>
              </a:blip>
              <a:stretch>
                <a:fillRect l="-29426" t="0" r="-29426" b="0"/>
              </a:stretch>
            </a:blipFill>
          </p:spPr>
        </p:sp>
        <p:sp>
          <p:nvSpPr>
            <p:cNvPr name="TextBox 59" id="59"/>
            <p:cNvSpPr txBox="true"/>
            <p:nvPr/>
          </p:nvSpPr>
          <p:spPr>
            <a:xfrm>
              <a:off x="0" y="-9525"/>
              <a:ext cx="2560320" cy="1594485"/>
            </a:xfrm>
            <a:prstGeom prst="rect">
              <a:avLst/>
            </a:prstGeom>
          </p:spPr>
          <p:txBody>
            <a:bodyPr anchor="ctr" rtlCol="false" tIns="0" lIns="0" bIns="0" rIns="0"/>
            <a:lstStyle/>
            <a:p>
              <a:pPr algn="ctr">
                <a:lnSpc>
                  <a:spcPts val="2400"/>
                </a:lnSpc>
              </a:pPr>
              <a:r>
                <a:rPr lang="en-US" sz="2000" b="true">
                  <a:solidFill>
                    <a:srgbClr val="D6E2F8"/>
                  </a:solidFill>
                  <a:latin typeface="Arial Bold"/>
                  <a:ea typeface="Arial Bold"/>
                  <a:cs typeface="Arial Bold"/>
                  <a:sym typeface="Arial Bold"/>
                </a:rPr>
                <a:t>3</a:t>
              </a:r>
            </a:p>
            <a:p>
              <a:pPr algn="ctr">
                <a:lnSpc>
                  <a:spcPts val="2400"/>
                </a:lnSpc>
              </a:pPr>
              <a:r>
                <a:rPr lang="en-US" sz="2000" b="true">
                  <a:solidFill>
                    <a:srgbClr val="FFFFFF"/>
                  </a:solidFill>
                  <a:latin typeface="Arial Bold"/>
                  <a:ea typeface="Arial Bold"/>
                  <a:cs typeface="Arial Bold"/>
                  <a:sym typeface="Arial Bold"/>
                </a:rPr>
                <a:t>Analysis</a:t>
              </a:r>
            </a:p>
          </p:txBody>
        </p:sp>
      </p:grpSp>
      <p:grpSp>
        <p:nvGrpSpPr>
          <p:cNvPr name="Group 60" id="60"/>
          <p:cNvGrpSpPr/>
          <p:nvPr/>
        </p:nvGrpSpPr>
        <p:grpSpPr>
          <a:xfrm rot="0">
            <a:off x="15056615" y="4559303"/>
            <a:ext cx="1945643" cy="1214123"/>
            <a:chOff x="0" y="0"/>
            <a:chExt cx="2594191" cy="1618831"/>
          </a:xfrm>
        </p:grpSpPr>
        <p:sp>
          <p:nvSpPr>
            <p:cNvPr name="Freeform 61" id="61"/>
            <p:cNvSpPr/>
            <p:nvPr/>
          </p:nvSpPr>
          <p:spPr>
            <a:xfrm flipH="false" flipV="false" rot="0">
              <a:off x="0" y="0"/>
              <a:ext cx="2594229" cy="1618869"/>
            </a:xfrm>
            <a:custGeom>
              <a:avLst/>
              <a:gdLst/>
              <a:ahLst/>
              <a:cxnLst/>
              <a:rect r="r" b="b" t="t" l="l"/>
              <a:pathLst>
                <a:path h="1618869" w="2594229">
                  <a:moveTo>
                    <a:pt x="0" y="149479"/>
                  </a:moveTo>
                  <a:cubicBezTo>
                    <a:pt x="0" y="66929"/>
                    <a:pt x="66929" y="0"/>
                    <a:pt x="149479" y="0"/>
                  </a:cubicBezTo>
                  <a:lnTo>
                    <a:pt x="2444750" y="0"/>
                  </a:lnTo>
                  <a:cubicBezTo>
                    <a:pt x="2527300" y="0"/>
                    <a:pt x="2594229" y="66929"/>
                    <a:pt x="2594229" y="149479"/>
                  </a:cubicBezTo>
                  <a:lnTo>
                    <a:pt x="2594229" y="1469390"/>
                  </a:lnTo>
                  <a:cubicBezTo>
                    <a:pt x="2594229" y="1551940"/>
                    <a:pt x="2527300" y="1618869"/>
                    <a:pt x="2444750" y="1618869"/>
                  </a:cubicBezTo>
                  <a:lnTo>
                    <a:pt x="149479" y="1618869"/>
                  </a:lnTo>
                  <a:cubicBezTo>
                    <a:pt x="66929" y="1618869"/>
                    <a:pt x="0" y="1551940"/>
                    <a:pt x="0" y="1469390"/>
                  </a:cubicBezTo>
                  <a:close/>
                </a:path>
              </a:pathLst>
            </a:custGeom>
            <a:solidFill>
              <a:srgbClr val="C0392B"/>
            </a:solidFill>
            <a:ln w="25400" cap="sq">
              <a:solidFill>
                <a:srgbClr val="C0392B"/>
              </a:solidFill>
              <a:prstDash val="solid"/>
              <a:miter/>
            </a:ln>
          </p:spPr>
        </p:sp>
      </p:grpSp>
      <p:grpSp>
        <p:nvGrpSpPr>
          <p:cNvPr name="Group 62" id="62"/>
          <p:cNvGrpSpPr/>
          <p:nvPr/>
        </p:nvGrpSpPr>
        <p:grpSpPr>
          <a:xfrm rot="0">
            <a:off x="15069312" y="4572000"/>
            <a:ext cx="1920240" cy="1188720"/>
            <a:chOff x="0" y="0"/>
            <a:chExt cx="2560320" cy="1584960"/>
          </a:xfrm>
        </p:grpSpPr>
        <p:sp>
          <p:nvSpPr>
            <p:cNvPr name="Freeform 63" id="63"/>
            <p:cNvSpPr/>
            <p:nvPr/>
          </p:nvSpPr>
          <p:spPr>
            <a:xfrm flipH="false" flipV="false" rot="0">
              <a:off x="0" y="0"/>
              <a:ext cx="2560320" cy="1584960"/>
            </a:xfrm>
            <a:custGeom>
              <a:avLst/>
              <a:gdLst/>
              <a:ahLst/>
              <a:cxnLst/>
              <a:rect r="r" b="b" t="t" l="l"/>
              <a:pathLst>
                <a:path h="1584960" w="2560320">
                  <a:moveTo>
                    <a:pt x="0" y="0"/>
                  </a:moveTo>
                  <a:lnTo>
                    <a:pt x="2560320" y="0"/>
                  </a:lnTo>
                  <a:lnTo>
                    <a:pt x="2560320" y="1584960"/>
                  </a:lnTo>
                  <a:lnTo>
                    <a:pt x="0" y="1584960"/>
                  </a:lnTo>
                  <a:close/>
                </a:path>
              </a:pathLst>
            </a:custGeom>
            <a:blipFill>
              <a:blip r:embed="rId3">
                <a:alphaModFix amt="0"/>
              </a:blip>
              <a:stretch>
                <a:fillRect l="-29426" t="0" r="-29426" b="0"/>
              </a:stretch>
            </a:blipFill>
          </p:spPr>
        </p:sp>
        <p:sp>
          <p:nvSpPr>
            <p:cNvPr name="TextBox 64" id="64"/>
            <p:cNvSpPr txBox="true"/>
            <p:nvPr/>
          </p:nvSpPr>
          <p:spPr>
            <a:xfrm>
              <a:off x="0" y="-9525"/>
              <a:ext cx="2560320" cy="1594485"/>
            </a:xfrm>
            <a:prstGeom prst="rect">
              <a:avLst/>
            </a:prstGeom>
          </p:spPr>
          <p:txBody>
            <a:bodyPr anchor="ctr" rtlCol="false" tIns="0" lIns="0" bIns="0" rIns="0"/>
            <a:lstStyle/>
            <a:p>
              <a:pPr algn="ctr">
                <a:lnSpc>
                  <a:spcPts val="2400"/>
                </a:lnSpc>
              </a:pPr>
              <a:r>
                <a:rPr lang="en-US" sz="2000" b="true">
                  <a:solidFill>
                    <a:srgbClr val="D6E2F8"/>
                  </a:solidFill>
                  <a:latin typeface="Arial Bold"/>
                  <a:ea typeface="Arial Bold"/>
                  <a:cs typeface="Arial Bold"/>
                  <a:sym typeface="Arial Bold"/>
                </a:rPr>
                <a:t>4</a:t>
              </a:r>
            </a:p>
            <a:p>
              <a:pPr algn="ctr">
                <a:lnSpc>
                  <a:spcPts val="2400"/>
                </a:lnSpc>
              </a:pPr>
              <a:r>
                <a:rPr lang="en-US" sz="2000" b="true">
                  <a:solidFill>
                    <a:srgbClr val="FFFFFF"/>
                  </a:solidFill>
                  <a:latin typeface="Arial Bold"/>
                  <a:ea typeface="Arial Bold"/>
                  <a:cs typeface="Arial Bold"/>
                  <a:sym typeface="Arial Bold"/>
                </a:rPr>
                <a:t>Risk check</a:t>
              </a:r>
            </a:p>
          </p:txBody>
        </p:sp>
      </p:grpSp>
      <p:grpSp>
        <p:nvGrpSpPr>
          <p:cNvPr name="Group 65" id="65"/>
          <p:cNvGrpSpPr/>
          <p:nvPr/>
        </p:nvGrpSpPr>
        <p:grpSpPr>
          <a:xfrm rot="0">
            <a:off x="12825479" y="4559303"/>
            <a:ext cx="1945643" cy="1214123"/>
            <a:chOff x="0" y="0"/>
            <a:chExt cx="2594191" cy="1618831"/>
          </a:xfrm>
        </p:grpSpPr>
        <p:sp>
          <p:nvSpPr>
            <p:cNvPr name="Freeform 66" id="66"/>
            <p:cNvSpPr/>
            <p:nvPr/>
          </p:nvSpPr>
          <p:spPr>
            <a:xfrm flipH="false" flipV="false" rot="0">
              <a:off x="0" y="0"/>
              <a:ext cx="2594229" cy="1618869"/>
            </a:xfrm>
            <a:custGeom>
              <a:avLst/>
              <a:gdLst/>
              <a:ahLst/>
              <a:cxnLst/>
              <a:rect r="r" b="b" t="t" l="l"/>
              <a:pathLst>
                <a:path h="1618869" w="2594229">
                  <a:moveTo>
                    <a:pt x="0" y="149479"/>
                  </a:moveTo>
                  <a:cubicBezTo>
                    <a:pt x="0" y="66929"/>
                    <a:pt x="66929" y="0"/>
                    <a:pt x="149479" y="0"/>
                  </a:cubicBezTo>
                  <a:lnTo>
                    <a:pt x="2444750" y="0"/>
                  </a:lnTo>
                  <a:cubicBezTo>
                    <a:pt x="2527300" y="0"/>
                    <a:pt x="2594229" y="66929"/>
                    <a:pt x="2594229" y="149479"/>
                  </a:cubicBezTo>
                  <a:lnTo>
                    <a:pt x="2594229" y="1469390"/>
                  </a:lnTo>
                  <a:cubicBezTo>
                    <a:pt x="2594229" y="1551940"/>
                    <a:pt x="2527300" y="1618869"/>
                    <a:pt x="2444750" y="1618869"/>
                  </a:cubicBezTo>
                  <a:lnTo>
                    <a:pt x="149479" y="1618869"/>
                  </a:lnTo>
                  <a:cubicBezTo>
                    <a:pt x="66929" y="1618869"/>
                    <a:pt x="0" y="1551940"/>
                    <a:pt x="0" y="1469390"/>
                  </a:cubicBezTo>
                  <a:close/>
                </a:path>
              </a:pathLst>
            </a:custGeom>
            <a:solidFill>
              <a:srgbClr val="1F5FBF"/>
            </a:solidFill>
            <a:ln w="25400" cap="sq">
              <a:solidFill>
                <a:srgbClr val="1F5FBF"/>
              </a:solidFill>
              <a:prstDash val="solid"/>
              <a:miter/>
            </a:ln>
          </p:spPr>
        </p:sp>
      </p:grpSp>
      <p:grpSp>
        <p:nvGrpSpPr>
          <p:cNvPr name="Group 67" id="67"/>
          <p:cNvGrpSpPr/>
          <p:nvPr/>
        </p:nvGrpSpPr>
        <p:grpSpPr>
          <a:xfrm rot="0">
            <a:off x="12838176" y="4572000"/>
            <a:ext cx="1920240" cy="1188720"/>
            <a:chOff x="0" y="0"/>
            <a:chExt cx="2560320" cy="1584960"/>
          </a:xfrm>
        </p:grpSpPr>
        <p:sp>
          <p:nvSpPr>
            <p:cNvPr name="Freeform 68" id="68"/>
            <p:cNvSpPr/>
            <p:nvPr/>
          </p:nvSpPr>
          <p:spPr>
            <a:xfrm flipH="false" flipV="false" rot="0">
              <a:off x="0" y="0"/>
              <a:ext cx="2560320" cy="1584960"/>
            </a:xfrm>
            <a:custGeom>
              <a:avLst/>
              <a:gdLst/>
              <a:ahLst/>
              <a:cxnLst/>
              <a:rect r="r" b="b" t="t" l="l"/>
              <a:pathLst>
                <a:path h="1584960" w="2560320">
                  <a:moveTo>
                    <a:pt x="0" y="0"/>
                  </a:moveTo>
                  <a:lnTo>
                    <a:pt x="2560320" y="0"/>
                  </a:lnTo>
                  <a:lnTo>
                    <a:pt x="2560320" y="1584960"/>
                  </a:lnTo>
                  <a:lnTo>
                    <a:pt x="0" y="1584960"/>
                  </a:lnTo>
                  <a:close/>
                </a:path>
              </a:pathLst>
            </a:custGeom>
            <a:blipFill>
              <a:blip r:embed="rId3">
                <a:alphaModFix amt="0"/>
              </a:blip>
              <a:stretch>
                <a:fillRect l="-29426" t="0" r="-29426" b="0"/>
              </a:stretch>
            </a:blipFill>
          </p:spPr>
        </p:sp>
        <p:sp>
          <p:nvSpPr>
            <p:cNvPr name="TextBox 69" id="69"/>
            <p:cNvSpPr txBox="true"/>
            <p:nvPr/>
          </p:nvSpPr>
          <p:spPr>
            <a:xfrm>
              <a:off x="0" y="-9525"/>
              <a:ext cx="2560320" cy="1594485"/>
            </a:xfrm>
            <a:prstGeom prst="rect">
              <a:avLst/>
            </a:prstGeom>
          </p:spPr>
          <p:txBody>
            <a:bodyPr anchor="ctr" rtlCol="false" tIns="0" lIns="0" bIns="0" rIns="0"/>
            <a:lstStyle/>
            <a:p>
              <a:pPr algn="ctr">
                <a:lnSpc>
                  <a:spcPts val="2400"/>
                </a:lnSpc>
              </a:pPr>
              <a:r>
                <a:rPr lang="en-US" sz="2000" b="true">
                  <a:solidFill>
                    <a:srgbClr val="D6E2F8"/>
                  </a:solidFill>
                  <a:latin typeface="Arial Bold"/>
                  <a:ea typeface="Arial Bold"/>
                  <a:cs typeface="Arial Bold"/>
                  <a:sym typeface="Arial Bold"/>
                </a:rPr>
                <a:t>5</a:t>
              </a:r>
            </a:p>
            <a:p>
              <a:pPr algn="ctr">
                <a:lnSpc>
                  <a:spcPts val="2400"/>
                </a:lnSpc>
              </a:pPr>
              <a:r>
                <a:rPr lang="en-US" sz="2000" b="true">
                  <a:solidFill>
                    <a:srgbClr val="FFFFFF"/>
                  </a:solidFill>
                  <a:latin typeface="Arial Bold"/>
                  <a:ea typeface="Arial Bold"/>
                  <a:cs typeface="Arial Bold"/>
                  <a:sym typeface="Arial Bold"/>
                </a:rPr>
                <a:t>Decision</a:t>
              </a:r>
            </a:p>
          </p:txBody>
        </p:sp>
      </p:grpSp>
      <p:grpSp>
        <p:nvGrpSpPr>
          <p:cNvPr name="Group 70" id="70"/>
          <p:cNvGrpSpPr/>
          <p:nvPr/>
        </p:nvGrpSpPr>
        <p:grpSpPr>
          <a:xfrm rot="0">
            <a:off x="10594343" y="4559303"/>
            <a:ext cx="1945643" cy="1214123"/>
            <a:chOff x="0" y="0"/>
            <a:chExt cx="2594191" cy="1618831"/>
          </a:xfrm>
        </p:grpSpPr>
        <p:sp>
          <p:nvSpPr>
            <p:cNvPr name="Freeform 71" id="71"/>
            <p:cNvSpPr/>
            <p:nvPr/>
          </p:nvSpPr>
          <p:spPr>
            <a:xfrm flipH="false" flipV="false" rot="0">
              <a:off x="0" y="0"/>
              <a:ext cx="2594229" cy="1618869"/>
            </a:xfrm>
            <a:custGeom>
              <a:avLst/>
              <a:gdLst/>
              <a:ahLst/>
              <a:cxnLst/>
              <a:rect r="r" b="b" t="t" l="l"/>
              <a:pathLst>
                <a:path h="1618869" w="2594229">
                  <a:moveTo>
                    <a:pt x="0" y="149479"/>
                  </a:moveTo>
                  <a:cubicBezTo>
                    <a:pt x="0" y="66929"/>
                    <a:pt x="66929" y="0"/>
                    <a:pt x="149479" y="0"/>
                  </a:cubicBezTo>
                  <a:lnTo>
                    <a:pt x="2444750" y="0"/>
                  </a:lnTo>
                  <a:cubicBezTo>
                    <a:pt x="2527300" y="0"/>
                    <a:pt x="2594229" y="66929"/>
                    <a:pt x="2594229" y="149479"/>
                  </a:cubicBezTo>
                  <a:lnTo>
                    <a:pt x="2594229" y="1469390"/>
                  </a:lnTo>
                  <a:cubicBezTo>
                    <a:pt x="2594229" y="1551940"/>
                    <a:pt x="2527300" y="1618869"/>
                    <a:pt x="2444750" y="1618869"/>
                  </a:cubicBezTo>
                  <a:lnTo>
                    <a:pt x="149479" y="1618869"/>
                  </a:lnTo>
                  <a:cubicBezTo>
                    <a:pt x="66929" y="1618869"/>
                    <a:pt x="0" y="1551940"/>
                    <a:pt x="0" y="1469390"/>
                  </a:cubicBezTo>
                  <a:close/>
                </a:path>
              </a:pathLst>
            </a:custGeom>
            <a:solidFill>
              <a:srgbClr val="1E8E5A"/>
            </a:solidFill>
            <a:ln w="25400" cap="sq">
              <a:solidFill>
                <a:srgbClr val="1E8E5A"/>
              </a:solidFill>
              <a:prstDash val="solid"/>
              <a:miter/>
            </a:ln>
          </p:spPr>
        </p:sp>
      </p:grpSp>
      <p:grpSp>
        <p:nvGrpSpPr>
          <p:cNvPr name="Group 72" id="72"/>
          <p:cNvGrpSpPr/>
          <p:nvPr/>
        </p:nvGrpSpPr>
        <p:grpSpPr>
          <a:xfrm rot="0">
            <a:off x="10607040" y="4572000"/>
            <a:ext cx="1920240" cy="1188720"/>
            <a:chOff x="0" y="0"/>
            <a:chExt cx="2560320" cy="1584960"/>
          </a:xfrm>
        </p:grpSpPr>
        <p:sp>
          <p:nvSpPr>
            <p:cNvPr name="Freeform 73" id="73"/>
            <p:cNvSpPr/>
            <p:nvPr/>
          </p:nvSpPr>
          <p:spPr>
            <a:xfrm flipH="false" flipV="false" rot="0">
              <a:off x="0" y="0"/>
              <a:ext cx="2560320" cy="1584960"/>
            </a:xfrm>
            <a:custGeom>
              <a:avLst/>
              <a:gdLst/>
              <a:ahLst/>
              <a:cxnLst/>
              <a:rect r="r" b="b" t="t" l="l"/>
              <a:pathLst>
                <a:path h="1584960" w="2560320">
                  <a:moveTo>
                    <a:pt x="0" y="0"/>
                  </a:moveTo>
                  <a:lnTo>
                    <a:pt x="2560320" y="0"/>
                  </a:lnTo>
                  <a:lnTo>
                    <a:pt x="2560320" y="1584960"/>
                  </a:lnTo>
                  <a:lnTo>
                    <a:pt x="0" y="1584960"/>
                  </a:lnTo>
                  <a:close/>
                </a:path>
              </a:pathLst>
            </a:custGeom>
            <a:blipFill>
              <a:blip r:embed="rId3">
                <a:alphaModFix amt="0"/>
              </a:blip>
              <a:stretch>
                <a:fillRect l="-29426" t="0" r="-29426" b="0"/>
              </a:stretch>
            </a:blipFill>
          </p:spPr>
        </p:sp>
        <p:sp>
          <p:nvSpPr>
            <p:cNvPr name="TextBox 74" id="74"/>
            <p:cNvSpPr txBox="true"/>
            <p:nvPr/>
          </p:nvSpPr>
          <p:spPr>
            <a:xfrm>
              <a:off x="0" y="-9525"/>
              <a:ext cx="2560320" cy="1594485"/>
            </a:xfrm>
            <a:prstGeom prst="rect">
              <a:avLst/>
            </a:prstGeom>
          </p:spPr>
          <p:txBody>
            <a:bodyPr anchor="ctr" rtlCol="false" tIns="0" lIns="0" bIns="0" rIns="0"/>
            <a:lstStyle/>
            <a:p>
              <a:pPr algn="ctr">
                <a:lnSpc>
                  <a:spcPts val="2400"/>
                </a:lnSpc>
              </a:pPr>
              <a:r>
                <a:rPr lang="en-US" sz="2000" b="true">
                  <a:solidFill>
                    <a:srgbClr val="D6E2F8"/>
                  </a:solidFill>
                  <a:latin typeface="Arial Bold"/>
                  <a:ea typeface="Arial Bold"/>
                  <a:cs typeface="Arial Bold"/>
                  <a:sym typeface="Arial Bold"/>
                </a:rPr>
                <a:t>6</a:t>
              </a:r>
            </a:p>
            <a:p>
              <a:pPr algn="ctr">
                <a:lnSpc>
                  <a:spcPts val="2400"/>
                </a:lnSpc>
              </a:pPr>
              <a:r>
                <a:rPr lang="en-US" sz="2000" b="true">
                  <a:solidFill>
                    <a:srgbClr val="FFFFFF"/>
                  </a:solidFill>
                  <a:latin typeface="Arial Bold"/>
                  <a:ea typeface="Arial Bold"/>
                  <a:cs typeface="Arial Bold"/>
                  <a:sym typeface="Arial Bold"/>
                </a:rPr>
                <a:t>Engineer match</a:t>
              </a:r>
            </a:p>
          </p:txBody>
        </p:sp>
      </p:grpSp>
      <p:grpSp>
        <p:nvGrpSpPr>
          <p:cNvPr name="Group 75" id="75"/>
          <p:cNvGrpSpPr/>
          <p:nvPr/>
        </p:nvGrpSpPr>
        <p:grpSpPr>
          <a:xfrm rot="0">
            <a:off x="12532871" y="3279143"/>
            <a:ext cx="299723" cy="318011"/>
            <a:chOff x="0" y="0"/>
            <a:chExt cx="399631" cy="424015"/>
          </a:xfrm>
        </p:grpSpPr>
        <p:sp>
          <p:nvSpPr>
            <p:cNvPr name="Freeform 76" id="76"/>
            <p:cNvSpPr/>
            <p:nvPr/>
          </p:nvSpPr>
          <p:spPr>
            <a:xfrm flipH="false" flipV="false" rot="0">
              <a:off x="0" y="0"/>
              <a:ext cx="399669" cy="424053"/>
            </a:xfrm>
            <a:custGeom>
              <a:avLst/>
              <a:gdLst/>
              <a:ahLst/>
              <a:cxnLst/>
              <a:rect r="r" b="b" t="t" l="l"/>
              <a:pathLst>
                <a:path h="424053" w="399669">
                  <a:moveTo>
                    <a:pt x="0" y="106045"/>
                  </a:moveTo>
                  <a:lnTo>
                    <a:pt x="199771" y="106045"/>
                  </a:lnTo>
                  <a:lnTo>
                    <a:pt x="199771" y="0"/>
                  </a:lnTo>
                  <a:lnTo>
                    <a:pt x="399669" y="211963"/>
                  </a:lnTo>
                  <a:lnTo>
                    <a:pt x="199771" y="424053"/>
                  </a:lnTo>
                  <a:lnTo>
                    <a:pt x="199771" y="318008"/>
                  </a:lnTo>
                  <a:lnTo>
                    <a:pt x="0" y="318008"/>
                  </a:lnTo>
                  <a:close/>
                </a:path>
              </a:pathLst>
            </a:custGeom>
            <a:solidFill>
              <a:srgbClr val="F28C28"/>
            </a:solidFill>
            <a:ln w="25400" cap="sq">
              <a:solidFill>
                <a:srgbClr val="F28C28"/>
              </a:solidFill>
              <a:prstDash val="solid"/>
              <a:miter/>
            </a:ln>
          </p:spPr>
        </p:sp>
      </p:grpSp>
      <p:grpSp>
        <p:nvGrpSpPr>
          <p:cNvPr name="Group 77" id="77"/>
          <p:cNvGrpSpPr/>
          <p:nvPr/>
        </p:nvGrpSpPr>
        <p:grpSpPr>
          <a:xfrm rot="0">
            <a:off x="14764007" y="3279143"/>
            <a:ext cx="299723" cy="318011"/>
            <a:chOff x="0" y="0"/>
            <a:chExt cx="399631" cy="424015"/>
          </a:xfrm>
        </p:grpSpPr>
        <p:sp>
          <p:nvSpPr>
            <p:cNvPr name="Freeform 78" id="78"/>
            <p:cNvSpPr/>
            <p:nvPr/>
          </p:nvSpPr>
          <p:spPr>
            <a:xfrm flipH="false" flipV="false" rot="0">
              <a:off x="0" y="0"/>
              <a:ext cx="399669" cy="424053"/>
            </a:xfrm>
            <a:custGeom>
              <a:avLst/>
              <a:gdLst/>
              <a:ahLst/>
              <a:cxnLst/>
              <a:rect r="r" b="b" t="t" l="l"/>
              <a:pathLst>
                <a:path h="424053" w="399669">
                  <a:moveTo>
                    <a:pt x="0" y="106045"/>
                  </a:moveTo>
                  <a:lnTo>
                    <a:pt x="199771" y="106045"/>
                  </a:lnTo>
                  <a:lnTo>
                    <a:pt x="199771" y="0"/>
                  </a:lnTo>
                  <a:lnTo>
                    <a:pt x="399669" y="211963"/>
                  </a:lnTo>
                  <a:lnTo>
                    <a:pt x="199771" y="424053"/>
                  </a:lnTo>
                  <a:lnTo>
                    <a:pt x="199771" y="318008"/>
                  </a:lnTo>
                  <a:lnTo>
                    <a:pt x="0" y="318008"/>
                  </a:lnTo>
                  <a:close/>
                </a:path>
              </a:pathLst>
            </a:custGeom>
            <a:solidFill>
              <a:srgbClr val="F28C28"/>
            </a:solidFill>
            <a:ln w="25400" cap="sq">
              <a:solidFill>
                <a:srgbClr val="F28C28"/>
              </a:solidFill>
              <a:prstDash val="solid"/>
              <a:miter/>
            </a:ln>
          </p:spPr>
        </p:sp>
      </p:grpSp>
      <p:grpSp>
        <p:nvGrpSpPr>
          <p:cNvPr name="Group 79" id="79"/>
          <p:cNvGrpSpPr/>
          <p:nvPr/>
        </p:nvGrpSpPr>
        <p:grpSpPr>
          <a:xfrm rot="0">
            <a:off x="15879575" y="4047239"/>
            <a:ext cx="318011" cy="574043"/>
            <a:chOff x="0" y="0"/>
            <a:chExt cx="424015" cy="765391"/>
          </a:xfrm>
        </p:grpSpPr>
        <p:sp>
          <p:nvSpPr>
            <p:cNvPr name="Freeform 80" id="80"/>
            <p:cNvSpPr/>
            <p:nvPr/>
          </p:nvSpPr>
          <p:spPr>
            <a:xfrm flipH="false" flipV="false" rot="0">
              <a:off x="0" y="0"/>
              <a:ext cx="424053" cy="765429"/>
            </a:xfrm>
            <a:custGeom>
              <a:avLst/>
              <a:gdLst/>
              <a:ahLst/>
              <a:cxnLst/>
              <a:rect r="r" b="b" t="t" l="l"/>
              <a:pathLst>
                <a:path h="765429" w="424053">
                  <a:moveTo>
                    <a:pt x="0" y="553339"/>
                  </a:moveTo>
                  <a:lnTo>
                    <a:pt x="106045" y="553339"/>
                  </a:lnTo>
                  <a:lnTo>
                    <a:pt x="106045" y="0"/>
                  </a:lnTo>
                  <a:lnTo>
                    <a:pt x="318008" y="0"/>
                  </a:lnTo>
                  <a:lnTo>
                    <a:pt x="318008" y="553339"/>
                  </a:lnTo>
                  <a:lnTo>
                    <a:pt x="424053" y="553339"/>
                  </a:lnTo>
                  <a:lnTo>
                    <a:pt x="211963" y="765429"/>
                  </a:lnTo>
                  <a:close/>
                </a:path>
              </a:pathLst>
            </a:custGeom>
            <a:solidFill>
              <a:srgbClr val="F28C28"/>
            </a:solidFill>
            <a:ln w="25400" cap="sq">
              <a:solidFill>
                <a:srgbClr val="F28C28"/>
              </a:solidFill>
              <a:prstDash val="solid"/>
              <a:miter/>
            </a:ln>
          </p:spPr>
        </p:sp>
      </p:grpSp>
      <p:grpSp>
        <p:nvGrpSpPr>
          <p:cNvPr name="Group 81" id="81"/>
          <p:cNvGrpSpPr/>
          <p:nvPr/>
        </p:nvGrpSpPr>
        <p:grpSpPr>
          <a:xfrm rot="0">
            <a:off x="12532871" y="5016503"/>
            <a:ext cx="299723" cy="318011"/>
            <a:chOff x="0" y="0"/>
            <a:chExt cx="399631" cy="424015"/>
          </a:xfrm>
        </p:grpSpPr>
        <p:sp>
          <p:nvSpPr>
            <p:cNvPr name="Freeform 82" id="82"/>
            <p:cNvSpPr/>
            <p:nvPr/>
          </p:nvSpPr>
          <p:spPr>
            <a:xfrm flipH="false" flipV="false" rot="0">
              <a:off x="0" y="0"/>
              <a:ext cx="399669" cy="424053"/>
            </a:xfrm>
            <a:custGeom>
              <a:avLst/>
              <a:gdLst/>
              <a:ahLst/>
              <a:cxnLst/>
              <a:rect r="r" b="b" t="t" l="l"/>
              <a:pathLst>
                <a:path h="424053" w="399669">
                  <a:moveTo>
                    <a:pt x="0" y="211963"/>
                  </a:moveTo>
                  <a:lnTo>
                    <a:pt x="199771" y="0"/>
                  </a:lnTo>
                  <a:lnTo>
                    <a:pt x="199771" y="106045"/>
                  </a:lnTo>
                  <a:lnTo>
                    <a:pt x="399669" y="106045"/>
                  </a:lnTo>
                  <a:lnTo>
                    <a:pt x="399669" y="318008"/>
                  </a:lnTo>
                  <a:lnTo>
                    <a:pt x="199771" y="318008"/>
                  </a:lnTo>
                  <a:lnTo>
                    <a:pt x="199771" y="424053"/>
                  </a:lnTo>
                  <a:close/>
                </a:path>
              </a:pathLst>
            </a:custGeom>
            <a:solidFill>
              <a:srgbClr val="F28C28"/>
            </a:solidFill>
            <a:ln w="25400" cap="sq">
              <a:solidFill>
                <a:srgbClr val="F28C28"/>
              </a:solidFill>
              <a:prstDash val="solid"/>
              <a:miter/>
            </a:ln>
          </p:spPr>
        </p:sp>
      </p:grpSp>
      <p:grpSp>
        <p:nvGrpSpPr>
          <p:cNvPr name="Group 83" id="83"/>
          <p:cNvGrpSpPr/>
          <p:nvPr/>
        </p:nvGrpSpPr>
        <p:grpSpPr>
          <a:xfrm rot="0">
            <a:off x="14764007" y="5016503"/>
            <a:ext cx="299723" cy="318011"/>
            <a:chOff x="0" y="0"/>
            <a:chExt cx="399631" cy="424015"/>
          </a:xfrm>
        </p:grpSpPr>
        <p:sp>
          <p:nvSpPr>
            <p:cNvPr name="Freeform 84" id="84"/>
            <p:cNvSpPr/>
            <p:nvPr/>
          </p:nvSpPr>
          <p:spPr>
            <a:xfrm flipH="false" flipV="false" rot="0">
              <a:off x="0" y="0"/>
              <a:ext cx="399669" cy="424053"/>
            </a:xfrm>
            <a:custGeom>
              <a:avLst/>
              <a:gdLst/>
              <a:ahLst/>
              <a:cxnLst/>
              <a:rect r="r" b="b" t="t" l="l"/>
              <a:pathLst>
                <a:path h="424053" w="399669">
                  <a:moveTo>
                    <a:pt x="0" y="211963"/>
                  </a:moveTo>
                  <a:lnTo>
                    <a:pt x="199771" y="0"/>
                  </a:lnTo>
                  <a:lnTo>
                    <a:pt x="199771" y="106045"/>
                  </a:lnTo>
                  <a:lnTo>
                    <a:pt x="399669" y="106045"/>
                  </a:lnTo>
                  <a:lnTo>
                    <a:pt x="399669" y="318008"/>
                  </a:lnTo>
                  <a:lnTo>
                    <a:pt x="199771" y="318008"/>
                  </a:lnTo>
                  <a:lnTo>
                    <a:pt x="199771" y="424053"/>
                  </a:lnTo>
                  <a:close/>
                </a:path>
              </a:pathLst>
            </a:custGeom>
            <a:solidFill>
              <a:srgbClr val="F28C28"/>
            </a:solidFill>
            <a:ln w="25400" cap="sq">
              <a:solidFill>
                <a:srgbClr val="F28C28"/>
              </a:solidFill>
              <a:prstDash val="solid"/>
              <a:miter/>
            </a:ln>
          </p:spPr>
        </p:sp>
      </p:grpSp>
      <p:grpSp>
        <p:nvGrpSpPr>
          <p:cNvPr name="Group 85" id="85"/>
          <p:cNvGrpSpPr/>
          <p:nvPr/>
        </p:nvGrpSpPr>
        <p:grpSpPr>
          <a:xfrm rot="0">
            <a:off x="10607040" y="6035040"/>
            <a:ext cx="6400800" cy="914400"/>
            <a:chOff x="0" y="0"/>
            <a:chExt cx="8534400" cy="1219200"/>
          </a:xfrm>
        </p:grpSpPr>
        <p:sp>
          <p:nvSpPr>
            <p:cNvPr name="Freeform 86" id="86"/>
            <p:cNvSpPr/>
            <p:nvPr/>
          </p:nvSpPr>
          <p:spPr>
            <a:xfrm flipH="false" flipV="false" rot="0">
              <a:off x="0" y="0"/>
              <a:ext cx="8534400" cy="1219200"/>
            </a:xfrm>
            <a:custGeom>
              <a:avLst/>
              <a:gdLst/>
              <a:ahLst/>
              <a:cxnLst/>
              <a:rect r="r" b="b" t="t" l="l"/>
              <a:pathLst>
                <a:path h="1219200" w="8534400">
                  <a:moveTo>
                    <a:pt x="0" y="0"/>
                  </a:moveTo>
                  <a:lnTo>
                    <a:pt x="8534400" y="0"/>
                  </a:lnTo>
                  <a:lnTo>
                    <a:pt x="8534400" y="1219200"/>
                  </a:lnTo>
                  <a:lnTo>
                    <a:pt x="0" y="1219200"/>
                  </a:lnTo>
                  <a:close/>
                </a:path>
              </a:pathLst>
            </a:custGeom>
            <a:blipFill>
              <a:blip r:embed="rId3">
                <a:alphaModFix amt="0"/>
              </a:blip>
              <a:stretch>
                <a:fillRect l="0" t="-86395" r="0" b="-86395"/>
              </a:stretch>
            </a:blipFill>
          </p:spPr>
        </p:sp>
        <p:sp>
          <p:nvSpPr>
            <p:cNvPr name="TextBox 87" id="87"/>
            <p:cNvSpPr txBox="true"/>
            <p:nvPr/>
          </p:nvSpPr>
          <p:spPr>
            <a:xfrm>
              <a:off x="0" y="-9525"/>
              <a:ext cx="8534400" cy="1228725"/>
            </a:xfrm>
            <a:prstGeom prst="rect">
              <a:avLst/>
            </a:prstGeom>
          </p:spPr>
          <p:txBody>
            <a:bodyPr anchor="ctr" rtlCol="false" tIns="0" lIns="0" bIns="0" rIns="0"/>
            <a:lstStyle/>
            <a:p>
              <a:pPr algn="ctr">
                <a:lnSpc>
                  <a:spcPts val="2520"/>
                </a:lnSpc>
              </a:pPr>
              <a:r>
                <a:rPr lang="en-US" sz="2100" i="true">
                  <a:solidFill>
                    <a:srgbClr val="5B6B8C"/>
                  </a:solidFill>
                  <a:latin typeface="Arial Italics"/>
                  <a:ea typeface="Arial Italics"/>
                  <a:cs typeface="Arial Italics"/>
                  <a:sym typeface="Arial Italics"/>
                </a:rPr>
                <a:t>Plus 5 HR review agents: workload, project fit, performance, availability, wellbeing</a:t>
              </a:r>
            </a:p>
          </p:txBody>
        </p:sp>
      </p:grpSp>
      <p:grpSp>
        <p:nvGrpSpPr>
          <p:cNvPr name="Group 88" id="88"/>
          <p:cNvGrpSpPr/>
          <p:nvPr/>
        </p:nvGrpSpPr>
        <p:grpSpPr>
          <a:xfrm rot="0">
            <a:off x="4431287" y="4376423"/>
            <a:ext cx="519179" cy="391163"/>
            <a:chOff x="0" y="0"/>
            <a:chExt cx="692239" cy="521551"/>
          </a:xfrm>
        </p:grpSpPr>
        <p:sp>
          <p:nvSpPr>
            <p:cNvPr name="Freeform 89" id="89"/>
            <p:cNvSpPr/>
            <p:nvPr/>
          </p:nvSpPr>
          <p:spPr>
            <a:xfrm flipH="false" flipV="false" rot="0">
              <a:off x="0" y="0"/>
              <a:ext cx="692277" cy="521589"/>
            </a:xfrm>
            <a:custGeom>
              <a:avLst/>
              <a:gdLst/>
              <a:ahLst/>
              <a:cxnLst/>
              <a:rect r="r" b="b" t="t" l="l"/>
              <a:pathLst>
                <a:path h="521589" w="692277">
                  <a:moveTo>
                    <a:pt x="0" y="260731"/>
                  </a:moveTo>
                  <a:lnTo>
                    <a:pt x="260731" y="0"/>
                  </a:lnTo>
                  <a:lnTo>
                    <a:pt x="260731" y="130429"/>
                  </a:lnTo>
                  <a:lnTo>
                    <a:pt x="431419" y="130429"/>
                  </a:lnTo>
                  <a:lnTo>
                    <a:pt x="431419" y="0"/>
                  </a:lnTo>
                  <a:lnTo>
                    <a:pt x="692277" y="260731"/>
                  </a:lnTo>
                  <a:lnTo>
                    <a:pt x="431419" y="521589"/>
                  </a:lnTo>
                  <a:lnTo>
                    <a:pt x="431419" y="391160"/>
                  </a:lnTo>
                  <a:lnTo>
                    <a:pt x="260731" y="391160"/>
                  </a:lnTo>
                  <a:lnTo>
                    <a:pt x="260731" y="521589"/>
                  </a:lnTo>
                  <a:close/>
                </a:path>
              </a:pathLst>
            </a:custGeom>
            <a:solidFill>
              <a:srgbClr val="F28C28"/>
            </a:solidFill>
            <a:ln w="25400" cap="sq">
              <a:solidFill>
                <a:srgbClr val="F28C28"/>
              </a:solidFill>
              <a:prstDash val="solid"/>
              <a:miter/>
            </a:ln>
          </p:spPr>
        </p:sp>
      </p:grpSp>
      <p:grpSp>
        <p:nvGrpSpPr>
          <p:cNvPr name="Group 90" id="90"/>
          <p:cNvGrpSpPr/>
          <p:nvPr/>
        </p:nvGrpSpPr>
        <p:grpSpPr>
          <a:xfrm rot="0">
            <a:off x="9734807" y="4376423"/>
            <a:ext cx="519179" cy="391163"/>
            <a:chOff x="0" y="0"/>
            <a:chExt cx="692239" cy="521551"/>
          </a:xfrm>
        </p:grpSpPr>
        <p:sp>
          <p:nvSpPr>
            <p:cNvPr name="Freeform 91" id="91"/>
            <p:cNvSpPr/>
            <p:nvPr/>
          </p:nvSpPr>
          <p:spPr>
            <a:xfrm flipH="false" flipV="false" rot="0">
              <a:off x="0" y="0"/>
              <a:ext cx="692277" cy="521589"/>
            </a:xfrm>
            <a:custGeom>
              <a:avLst/>
              <a:gdLst/>
              <a:ahLst/>
              <a:cxnLst/>
              <a:rect r="r" b="b" t="t" l="l"/>
              <a:pathLst>
                <a:path h="521589" w="692277">
                  <a:moveTo>
                    <a:pt x="0" y="260731"/>
                  </a:moveTo>
                  <a:lnTo>
                    <a:pt x="260731" y="0"/>
                  </a:lnTo>
                  <a:lnTo>
                    <a:pt x="260731" y="130429"/>
                  </a:lnTo>
                  <a:lnTo>
                    <a:pt x="431419" y="130429"/>
                  </a:lnTo>
                  <a:lnTo>
                    <a:pt x="431419" y="0"/>
                  </a:lnTo>
                  <a:lnTo>
                    <a:pt x="692277" y="260731"/>
                  </a:lnTo>
                  <a:lnTo>
                    <a:pt x="431419" y="521589"/>
                  </a:lnTo>
                  <a:lnTo>
                    <a:pt x="431419" y="391160"/>
                  </a:lnTo>
                  <a:lnTo>
                    <a:pt x="260731" y="391160"/>
                  </a:lnTo>
                  <a:lnTo>
                    <a:pt x="260731" y="521589"/>
                  </a:lnTo>
                  <a:close/>
                </a:path>
              </a:pathLst>
            </a:custGeom>
            <a:solidFill>
              <a:srgbClr val="F28C28"/>
            </a:solidFill>
            <a:ln w="25400" cap="sq">
              <a:solidFill>
                <a:srgbClr val="F28C28"/>
              </a:solidFill>
              <a:prstDash val="solid"/>
              <a:miter/>
            </a:ln>
          </p:spPr>
        </p:sp>
      </p:grpSp>
      <p:grpSp>
        <p:nvGrpSpPr>
          <p:cNvPr name="Group 92" id="92"/>
          <p:cNvGrpSpPr/>
          <p:nvPr/>
        </p:nvGrpSpPr>
        <p:grpSpPr>
          <a:xfrm rot="0">
            <a:off x="914400" y="7315200"/>
            <a:ext cx="10972800" cy="457200"/>
            <a:chOff x="0" y="0"/>
            <a:chExt cx="14630400" cy="609600"/>
          </a:xfrm>
        </p:grpSpPr>
        <p:sp>
          <p:nvSpPr>
            <p:cNvPr name="Freeform 93" id="93"/>
            <p:cNvSpPr/>
            <p:nvPr/>
          </p:nvSpPr>
          <p:spPr>
            <a:xfrm flipH="false" flipV="false" rot="0">
              <a:off x="0" y="0"/>
              <a:ext cx="14630400" cy="609600"/>
            </a:xfrm>
            <a:custGeom>
              <a:avLst/>
              <a:gdLst/>
              <a:ahLst/>
              <a:cxnLst/>
              <a:rect r="r" b="b" t="t" l="l"/>
              <a:pathLst>
                <a:path h="609600" w="14630400">
                  <a:moveTo>
                    <a:pt x="0" y="0"/>
                  </a:moveTo>
                  <a:lnTo>
                    <a:pt x="14630400" y="0"/>
                  </a:lnTo>
                  <a:lnTo>
                    <a:pt x="14630400" y="609600"/>
                  </a:lnTo>
                  <a:lnTo>
                    <a:pt x="0" y="609600"/>
                  </a:lnTo>
                  <a:close/>
                </a:path>
              </a:pathLst>
            </a:custGeom>
            <a:blipFill>
              <a:blip r:embed="rId3">
                <a:alphaModFix amt="0"/>
              </a:blip>
              <a:stretch>
                <a:fillRect l="0" t="-417640" r="0" b="-417640"/>
              </a:stretch>
            </a:blipFill>
          </p:spPr>
        </p:sp>
        <p:sp>
          <p:nvSpPr>
            <p:cNvPr name="TextBox 94" id="94"/>
            <p:cNvSpPr txBox="true"/>
            <p:nvPr/>
          </p:nvSpPr>
          <p:spPr>
            <a:xfrm>
              <a:off x="0" y="-9525"/>
              <a:ext cx="14630400" cy="619125"/>
            </a:xfrm>
            <a:prstGeom prst="rect">
              <a:avLst/>
            </a:prstGeom>
          </p:spPr>
          <p:txBody>
            <a:bodyPr anchor="ctr" rtlCol="false" tIns="0" lIns="0" bIns="0" rIns="0"/>
            <a:lstStyle/>
            <a:p>
              <a:pPr algn="l">
                <a:lnSpc>
                  <a:spcPts val="2400"/>
                </a:lnSpc>
              </a:pPr>
              <a:r>
                <a:rPr lang="en-US" sz="2000" b="true">
                  <a:solidFill>
                    <a:srgbClr val="F28C28"/>
                  </a:solidFill>
                  <a:latin typeface="Arial Bold"/>
                  <a:ea typeface="Arial Bold"/>
                  <a:cs typeface="Arial Bold"/>
                  <a:sym typeface="Arial Bold"/>
                </a:rPr>
                <a:t>DATA, TOOLS AND MODEL LAYER</a:t>
              </a:r>
            </a:p>
          </p:txBody>
        </p:sp>
      </p:grpSp>
      <p:grpSp>
        <p:nvGrpSpPr>
          <p:cNvPr name="Group 95" id="95"/>
          <p:cNvGrpSpPr/>
          <p:nvPr/>
        </p:nvGrpSpPr>
        <p:grpSpPr>
          <a:xfrm rot="0">
            <a:off x="901703" y="7814567"/>
            <a:ext cx="3865883" cy="1579883"/>
            <a:chOff x="0" y="0"/>
            <a:chExt cx="5154511" cy="2106511"/>
          </a:xfrm>
        </p:grpSpPr>
        <p:sp>
          <p:nvSpPr>
            <p:cNvPr name="Freeform 96" id="96"/>
            <p:cNvSpPr/>
            <p:nvPr/>
          </p:nvSpPr>
          <p:spPr>
            <a:xfrm flipH="false" flipV="false" rot="0">
              <a:off x="0" y="0"/>
              <a:ext cx="5154549" cy="2106549"/>
            </a:xfrm>
            <a:custGeom>
              <a:avLst/>
              <a:gdLst/>
              <a:ahLst/>
              <a:cxnLst/>
              <a:rect r="r" b="b" t="t" l="l"/>
              <a:pathLst>
                <a:path h="2106549" w="5154549">
                  <a:moveTo>
                    <a:pt x="0" y="198247"/>
                  </a:moveTo>
                  <a:cubicBezTo>
                    <a:pt x="0" y="88773"/>
                    <a:pt x="88773" y="0"/>
                    <a:pt x="198247" y="0"/>
                  </a:cubicBezTo>
                  <a:lnTo>
                    <a:pt x="4956302" y="0"/>
                  </a:lnTo>
                  <a:cubicBezTo>
                    <a:pt x="5065776" y="0"/>
                    <a:pt x="5154549" y="88773"/>
                    <a:pt x="5154549" y="198247"/>
                  </a:cubicBezTo>
                  <a:lnTo>
                    <a:pt x="5154549" y="1908302"/>
                  </a:lnTo>
                  <a:cubicBezTo>
                    <a:pt x="5154549" y="2017776"/>
                    <a:pt x="5065776" y="2106549"/>
                    <a:pt x="4956302" y="2106549"/>
                  </a:cubicBezTo>
                  <a:lnTo>
                    <a:pt x="198247" y="2106549"/>
                  </a:lnTo>
                  <a:cubicBezTo>
                    <a:pt x="88773" y="2106549"/>
                    <a:pt x="0" y="2017776"/>
                    <a:pt x="0" y="1908302"/>
                  </a:cubicBezTo>
                  <a:close/>
                </a:path>
              </a:pathLst>
            </a:custGeom>
            <a:solidFill>
              <a:srgbClr val="EAF0FA"/>
            </a:solidFill>
            <a:ln w="25400" cap="sq">
              <a:solidFill>
                <a:srgbClr val="EAF0FA"/>
              </a:solidFill>
              <a:prstDash val="solid"/>
              <a:miter/>
            </a:ln>
          </p:spPr>
        </p:sp>
      </p:grpSp>
      <p:grpSp>
        <p:nvGrpSpPr>
          <p:cNvPr name="Group 97" id="97"/>
          <p:cNvGrpSpPr/>
          <p:nvPr/>
        </p:nvGrpSpPr>
        <p:grpSpPr>
          <a:xfrm rot="0">
            <a:off x="901703" y="7997447"/>
            <a:ext cx="116843" cy="1214123"/>
            <a:chOff x="0" y="0"/>
            <a:chExt cx="155791" cy="1618831"/>
          </a:xfrm>
        </p:grpSpPr>
        <p:sp>
          <p:nvSpPr>
            <p:cNvPr name="Freeform 98" id="98"/>
            <p:cNvSpPr/>
            <p:nvPr/>
          </p:nvSpPr>
          <p:spPr>
            <a:xfrm flipH="false" flipV="false" rot="0">
              <a:off x="0" y="0"/>
              <a:ext cx="155829" cy="1618869"/>
            </a:xfrm>
            <a:custGeom>
              <a:avLst/>
              <a:gdLst/>
              <a:ahLst/>
              <a:cxnLst/>
              <a:rect r="r" b="b" t="t" l="l"/>
              <a:pathLst>
                <a:path h="1618869" w="155829">
                  <a:moveTo>
                    <a:pt x="0" y="0"/>
                  </a:moveTo>
                  <a:lnTo>
                    <a:pt x="155829" y="0"/>
                  </a:lnTo>
                  <a:lnTo>
                    <a:pt x="155829" y="1618869"/>
                  </a:lnTo>
                  <a:lnTo>
                    <a:pt x="0" y="1618869"/>
                  </a:lnTo>
                  <a:close/>
                </a:path>
              </a:pathLst>
            </a:custGeom>
            <a:solidFill>
              <a:srgbClr val="1F5FBF"/>
            </a:solidFill>
            <a:ln w="25400" cap="sq">
              <a:solidFill>
                <a:srgbClr val="1F5FBF"/>
              </a:solidFill>
              <a:prstDash val="solid"/>
              <a:miter/>
            </a:ln>
          </p:spPr>
        </p:sp>
      </p:grpSp>
      <p:grpSp>
        <p:nvGrpSpPr>
          <p:cNvPr name="Group 99" id="99"/>
          <p:cNvGrpSpPr/>
          <p:nvPr/>
        </p:nvGrpSpPr>
        <p:grpSpPr>
          <a:xfrm rot="0">
            <a:off x="1188720" y="7827264"/>
            <a:ext cx="3383280" cy="1554480"/>
            <a:chOff x="0" y="0"/>
            <a:chExt cx="4511040" cy="2072640"/>
          </a:xfrm>
        </p:grpSpPr>
        <p:sp>
          <p:nvSpPr>
            <p:cNvPr name="Freeform 100" id="100"/>
            <p:cNvSpPr/>
            <p:nvPr/>
          </p:nvSpPr>
          <p:spPr>
            <a:xfrm flipH="false" flipV="false" rot="0">
              <a:off x="0" y="0"/>
              <a:ext cx="4511040" cy="2072640"/>
            </a:xfrm>
            <a:custGeom>
              <a:avLst/>
              <a:gdLst/>
              <a:ahLst/>
              <a:cxnLst/>
              <a:rect r="r" b="b" t="t" l="l"/>
              <a:pathLst>
                <a:path h="2072640" w="4511040">
                  <a:moveTo>
                    <a:pt x="0" y="0"/>
                  </a:moveTo>
                  <a:lnTo>
                    <a:pt x="4511040" y="0"/>
                  </a:lnTo>
                  <a:lnTo>
                    <a:pt x="4511040" y="2072640"/>
                  </a:lnTo>
                  <a:lnTo>
                    <a:pt x="0" y="2072640"/>
                  </a:lnTo>
                  <a:close/>
                </a:path>
              </a:pathLst>
            </a:custGeom>
            <a:blipFill>
              <a:blip r:embed="rId3">
                <a:alphaModFix amt="0"/>
              </a:blip>
              <a:stretch>
                <a:fillRect l="-8950" t="0" r="-8950" b="0"/>
              </a:stretch>
            </a:blipFill>
          </p:spPr>
        </p:sp>
        <p:sp>
          <p:nvSpPr>
            <p:cNvPr name="TextBox 101" id="101"/>
            <p:cNvSpPr txBox="true"/>
            <p:nvPr/>
          </p:nvSpPr>
          <p:spPr>
            <a:xfrm>
              <a:off x="0" y="-19050"/>
              <a:ext cx="4511040" cy="2091690"/>
            </a:xfrm>
            <a:prstGeom prst="rect">
              <a:avLst/>
            </a:prstGeom>
          </p:spPr>
          <p:txBody>
            <a:bodyPr anchor="ctr" rtlCol="false" tIns="0" lIns="0" bIns="0" rIns="0"/>
            <a:lstStyle/>
            <a:p>
              <a:pPr algn="l">
                <a:lnSpc>
                  <a:spcPts val="2760"/>
                </a:lnSpc>
              </a:pPr>
              <a:r>
                <a:rPr lang="en-US" sz="2300" b="true">
                  <a:solidFill>
                    <a:srgbClr val="0F2557"/>
                  </a:solidFill>
                  <a:latin typeface="Arial Bold"/>
                  <a:ea typeface="Arial Bold"/>
                  <a:cs typeface="Arial Bold"/>
                  <a:sym typeface="Arial Bold"/>
                </a:rPr>
                <a:t>Enterprise data</a:t>
              </a:r>
            </a:p>
            <a:p>
              <a:pPr algn="l">
                <a:lnSpc>
                  <a:spcPts val="2400"/>
                </a:lnSpc>
              </a:pPr>
              <a:r>
                <a:rPr lang="en-US" sz="2000">
                  <a:solidFill>
                    <a:srgbClr val="1B2433"/>
                  </a:solidFill>
                  <a:latin typeface="Arial"/>
                  <a:ea typeface="Arial"/>
                  <a:cs typeface="Arial"/>
                  <a:sym typeface="Arial"/>
                </a:rPr>
                <a:t>7 tools: health, logs, fix guides, past incidents</a:t>
              </a:r>
            </a:p>
          </p:txBody>
        </p:sp>
      </p:grpSp>
      <p:grpSp>
        <p:nvGrpSpPr>
          <p:cNvPr name="Group 102" id="102"/>
          <p:cNvGrpSpPr/>
          <p:nvPr/>
        </p:nvGrpSpPr>
        <p:grpSpPr>
          <a:xfrm rot="0">
            <a:off x="5107943" y="7814567"/>
            <a:ext cx="3865883" cy="1579883"/>
            <a:chOff x="0" y="0"/>
            <a:chExt cx="5154511" cy="2106511"/>
          </a:xfrm>
        </p:grpSpPr>
        <p:sp>
          <p:nvSpPr>
            <p:cNvPr name="Freeform 103" id="103"/>
            <p:cNvSpPr/>
            <p:nvPr/>
          </p:nvSpPr>
          <p:spPr>
            <a:xfrm flipH="false" flipV="false" rot="0">
              <a:off x="0" y="0"/>
              <a:ext cx="5154549" cy="2106549"/>
            </a:xfrm>
            <a:custGeom>
              <a:avLst/>
              <a:gdLst/>
              <a:ahLst/>
              <a:cxnLst/>
              <a:rect r="r" b="b" t="t" l="l"/>
              <a:pathLst>
                <a:path h="2106549" w="5154549">
                  <a:moveTo>
                    <a:pt x="0" y="198247"/>
                  </a:moveTo>
                  <a:cubicBezTo>
                    <a:pt x="0" y="88773"/>
                    <a:pt x="88773" y="0"/>
                    <a:pt x="198247" y="0"/>
                  </a:cubicBezTo>
                  <a:lnTo>
                    <a:pt x="4956302" y="0"/>
                  </a:lnTo>
                  <a:cubicBezTo>
                    <a:pt x="5065776" y="0"/>
                    <a:pt x="5154549" y="88773"/>
                    <a:pt x="5154549" y="198247"/>
                  </a:cubicBezTo>
                  <a:lnTo>
                    <a:pt x="5154549" y="1908302"/>
                  </a:lnTo>
                  <a:cubicBezTo>
                    <a:pt x="5154549" y="2017776"/>
                    <a:pt x="5065776" y="2106549"/>
                    <a:pt x="4956302" y="2106549"/>
                  </a:cubicBezTo>
                  <a:lnTo>
                    <a:pt x="198247" y="2106549"/>
                  </a:lnTo>
                  <a:cubicBezTo>
                    <a:pt x="88773" y="2106549"/>
                    <a:pt x="0" y="2017776"/>
                    <a:pt x="0" y="1908302"/>
                  </a:cubicBezTo>
                  <a:close/>
                </a:path>
              </a:pathLst>
            </a:custGeom>
            <a:solidFill>
              <a:srgbClr val="EAF0FA"/>
            </a:solidFill>
            <a:ln w="25400" cap="sq">
              <a:solidFill>
                <a:srgbClr val="EAF0FA"/>
              </a:solidFill>
              <a:prstDash val="solid"/>
              <a:miter/>
            </a:ln>
          </p:spPr>
        </p:sp>
      </p:grpSp>
      <p:grpSp>
        <p:nvGrpSpPr>
          <p:cNvPr name="Group 104" id="104"/>
          <p:cNvGrpSpPr/>
          <p:nvPr/>
        </p:nvGrpSpPr>
        <p:grpSpPr>
          <a:xfrm rot="0">
            <a:off x="5107943" y="7997447"/>
            <a:ext cx="116843" cy="1214123"/>
            <a:chOff x="0" y="0"/>
            <a:chExt cx="155791" cy="1618831"/>
          </a:xfrm>
        </p:grpSpPr>
        <p:sp>
          <p:nvSpPr>
            <p:cNvPr name="Freeform 105" id="105"/>
            <p:cNvSpPr/>
            <p:nvPr/>
          </p:nvSpPr>
          <p:spPr>
            <a:xfrm flipH="false" flipV="false" rot="0">
              <a:off x="0" y="0"/>
              <a:ext cx="155829" cy="1618869"/>
            </a:xfrm>
            <a:custGeom>
              <a:avLst/>
              <a:gdLst/>
              <a:ahLst/>
              <a:cxnLst/>
              <a:rect r="r" b="b" t="t" l="l"/>
              <a:pathLst>
                <a:path h="1618869" w="155829">
                  <a:moveTo>
                    <a:pt x="0" y="0"/>
                  </a:moveTo>
                  <a:lnTo>
                    <a:pt x="155829" y="0"/>
                  </a:lnTo>
                  <a:lnTo>
                    <a:pt x="155829" y="1618869"/>
                  </a:lnTo>
                  <a:lnTo>
                    <a:pt x="0" y="1618869"/>
                  </a:lnTo>
                  <a:close/>
                </a:path>
              </a:pathLst>
            </a:custGeom>
            <a:solidFill>
              <a:srgbClr val="7A4FD6"/>
            </a:solidFill>
            <a:ln w="25400" cap="sq">
              <a:solidFill>
                <a:srgbClr val="7A4FD6"/>
              </a:solidFill>
              <a:prstDash val="solid"/>
              <a:miter/>
            </a:ln>
          </p:spPr>
        </p:sp>
      </p:grpSp>
      <p:grpSp>
        <p:nvGrpSpPr>
          <p:cNvPr name="Group 106" id="106"/>
          <p:cNvGrpSpPr/>
          <p:nvPr/>
        </p:nvGrpSpPr>
        <p:grpSpPr>
          <a:xfrm rot="0">
            <a:off x="5394960" y="7827264"/>
            <a:ext cx="3383280" cy="1554480"/>
            <a:chOff x="0" y="0"/>
            <a:chExt cx="4511040" cy="2072640"/>
          </a:xfrm>
        </p:grpSpPr>
        <p:sp>
          <p:nvSpPr>
            <p:cNvPr name="Freeform 107" id="107"/>
            <p:cNvSpPr/>
            <p:nvPr/>
          </p:nvSpPr>
          <p:spPr>
            <a:xfrm flipH="false" flipV="false" rot="0">
              <a:off x="0" y="0"/>
              <a:ext cx="4511040" cy="2072640"/>
            </a:xfrm>
            <a:custGeom>
              <a:avLst/>
              <a:gdLst/>
              <a:ahLst/>
              <a:cxnLst/>
              <a:rect r="r" b="b" t="t" l="l"/>
              <a:pathLst>
                <a:path h="2072640" w="4511040">
                  <a:moveTo>
                    <a:pt x="0" y="0"/>
                  </a:moveTo>
                  <a:lnTo>
                    <a:pt x="4511040" y="0"/>
                  </a:lnTo>
                  <a:lnTo>
                    <a:pt x="4511040" y="2072640"/>
                  </a:lnTo>
                  <a:lnTo>
                    <a:pt x="0" y="2072640"/>
                  </a:lnTo>
                  <a:close/>
                </a:path>
              </a:pathLst>
            </a:custGeom>
            <a:blipFill>
              <a:blip r:embed="rId3">
                <a:alphaModFix amt="0"/>
              </a:blip>
              <a:stretch>
                <a:fillRect l="-8950" t="0" r="-8950" b="0"/>
              </a:stretch>
            </a:blipFill>
          </p:spPr>
        </p:sp>
        <p:sp>
          <p:nvSpPr>
            <p:cNvPr name="TextBox 108" id="108"/>
            <p:cNvSpPr txBox="true"/>
            <p:nvPr/>
          </p:nvSpPr>
          <p:spPr>
            <a:xfrm>
              <a:off x="0" y="-19050"/>
              <a:ext cx="4511040" cy="2091690"/>
            </a:xfrm>
            <a:prstGeom prst="rect">
              <a:avLst/>
            </a:prstGeom>
          </p:spPr>
          <p:txBody>
            <a:bodyPr anchor="ctr" rtlCol="false" tIns="0" lIns="0" bIns="0" rIns="0"/>
            <a:lstStyle/>
            <a:p>
              <a:pPr algn="l">
                <a:lnSpc>
                  <a:spcPts val="2760"/>
                </a:lnSpc>
              </a:pPr>
              <a:r>
                <a:rPr lang="en-US" sz="2300" b="true">
                  <a:solidFill>
                    <a:srgbClr val="0F2557"/>
                  </a:solidFill>
                  <a:latin typeface="Arial Bold"/>
                  <a:ea typeface="Arial Bold"/>
                  <a:cs typeface="Arial Bold"/>
                  <a:sym typeface="Arial Bold"/>
                </a:rPr>
                <a:t>Long-term memory</a:t>
              </a:r>
            </a:p>
            <a:p>
              <a:pPr algn="l">
                <a:lnSpc>
                  <a:spcPts val="2400"/>
                </a:lnSpc>
              </a:pPr>
              <a:r>
                <a:rPr lang="en-US" sz="2000">
                  <a:solidFill>
                    <a:srgbClr val="1B2433"/>
                  </a:solidFill>
                  <a:latin typeface="Arial"/>
                  <a:ea typeface="Arial"/>
                  <a:cs typeface="Arial"/>
                  <a:sym typeface="Arial"/>
                </a:rPr>
                <a:t>Past cases and decisions (SQLite)</a:t>
              </a:r>
            </a:p>
          </p:txBody>
        </p:sp>
      </p:grpSp>
      <p:grpSp>
        <p:nvGrpSpPr>
          <p:cNvPr name="Group 109" id="109"/>
          <p:cNvGrpSpPr/>
          <p:nvPr/>
        </p:nvGrpSpPr>
        <p:grpSpPr>
          <a:xfrm rot="0">
            <a:off x="9314183" y="7814567"/>
            <a:ext cx="3865883" cy="1579883"/>
            <a:chOff x="0" y="0"/>
            <a:chExt cx="5154511" cy="2106511"/>
          </a:xfrm>
        </p:grpSpPr>
        <p:sp>
          <p:nvSpPr>
            <p:cNvPr name="Freeform 110" id="110"/>
            <p:cNvSpPr/>
            <p:nvPr/>
          </p:nvSpPr>
          <p:spPr>
            <a:xfrm flipH="false" flipV="false" rot="0">
              <a:off x="0" y="0"/>
              <a:ext cx="5154549" cy="2106549"/>
            </a:xfrm>
            <a:custGeom>
              <a:avLst/>
              <a:gdLst/>
              <a:ahLst/>
              <a:cxnLst/>
              <a:rect r="r" b="b" t="t" l="l"/>
              <a:pathLst>
                <a:path h="2106549" w="5154549">
                  <a:moveTo>
                    <a:pt x="0" y="198247"/>
                  </a:moveTo>
                  <a:cubicBezTo>
                    <a:pt x="0" y="88773"/>
                    <a:pt x="88773" y="0"/>
                    <a:pt x="198247" y="0"/>
                  </a:cubicBezTo>
                  <a:lnTo>
                    <a:pt x="4956302" y="0"/>
                  </a:lnTo>
                  <a:cubicBezTo>
                    <a:pt x="5065776" y="0"/>
                    <a:pt x="5154549" y="88773"/>
                    <a:pt x="5154549" y="198247"/>
                  </a:cubicBezTo>
                  <a:lnTo>
                    <a:pt x="5154549" y="1908302"/>
                  </a:lnTo>
                  <a:cubicBezTo>
                    <a:pt x="5154549" y="2017776"/>
                    <a:pt x="5065776" y="2106549"/>
                    <a:pt x="4956302" y="2106549"/>
                  </a:cubicBezTo>
                  <a:lnTo>
                    <a:pt x="198247" y="2106549"/>
                  </a:lnTo>
                  <a:cubicBezTo>
                    <a:pt x="88773" y="2106549"/>
                    <a:pt x="0" y="2017776"/>
                    <a:pt x="0" y="1908302"/>
                  </a:cubicBezTo>
                  <a:close/>
                </a:path>
              </a:pathLst>
            </a:custGeom>
            <a:solidFill>
              <a:srgbClr val="EAF0FA"/>
            </a:solidFill>
            <a:ln w="25400" cap="sq">
              <a:solidFill>
                <a:srgbClr val="EAF0FA"/>
              </a:solidFill>
              <a:prstDash val="solid"/>
              <a:miter/>
            </a:ln>
          </p:spPr>
        </p:sp>
      </p:grpSp>
      <p:grpSp>
        <p:nvGrpSpPr>
          <p:cNvPr name="Group 111" id="111"/>
          <p:cNvGrpSpPr/>
          <p:nvPr/>
        </p:nvGrpSpPr>
        <p:grpSpPr>
          <a:xfrm rot="0">
            <a:off x="9314183" y="7997447"/>
            <a:ext cx="116843" cy="1214123"/>
            <a:chOff x="0" y="0"/>
            <a:chExt cx="155791" cy="1618831"/>
          </a:xfrm>
        </p:grpSpPr>
        <p:sp>
          <p:nvSpPr>
            <p:cNvPr name="Freeform 112" id="112"/>
            <p:cNvSpPr/>
            <p:nvPr/>
          </p:nvSpPr>
          <p:spPr>
            <a:xfrm flipH="false" flipV="false" rot="0">
              <a:off x="0" y="0"/>
              <a:ext cx="155829" cy="1618869"/>
            </a:xfrm>
            <a:custGeom>
              <a:avLst/>
              <a:gdLst/>
              <a:ahLst/>
              <a:cxnLst/>
              <a:rect r="r" b="b" t="t" l="l"/>
              <a:pathLst>
                <a:path h="1618869" w="155829">
                  <a:moveTo>
                    <a:pt x="0" y="0"/>
                  </a:moveTo>
                  <a:lnTo>
                    <a:pt x="155829" y="0"/>
                  </a:lnTo>
                  <a:lnTo>
                    <a:pt x="155829" y="1618869"/>
                  </a:lnTo>
                  <a:lnTo>
                    <a:pt x="0" y="1618869"/>
                  </a:lnTo>
                  <a:close/>
                </a:path>
              </a:pathLst>
            </a:custGeom>
            <a:solidFill>
              <a:srgbClr val="1E8E5A"/>
            </a:solidFill>
            <a:ln w="25400" cap="sq">
              <a:solidFill>
                <a:srgbClr val="1E8E5A"/>
              </a:solidFill>
              <a:prstDash val="solid"/>
              <a:miter/>
            </a:ln>
          </p:spPr>
        </p:sp>
      </p:grpSp>
      <p:grpSp>
        <p:nvGrpSpPr>
          <p:cNvPr name="Group 113" id="113"/>
          <p:cNvGrpSpPr/>
          <p:nvPr/>
        </p:nvGrpSpPr>
        <p:grpSpPr>
          <a:xfrm rot="0">
            <a:off x="9601200" y="7827264"/>
            <a:ext cx="3383280" cy="1554480"/>
            <a:chOff x="0" y="0"/>
            <a:chExt cx="4511040" cy="2072640"/>
          </a:xfrm>
        </p:grpSpPr>
        <p:sp>
          <p:nvSpPr>
            <p:cNvPr name="Freeform 114" id="114"/>
            <p:cNvSpPr/>
            <p:nvPr/>
          </p:nvSpPr>
          <p:spPr>
            <a:xfrm flipH="false" flipV="false" rot="0">
              <a:off x="0" y="0"/>
              <a:ext cx="4511040" cy="2072640"/>
            </a:xfrm>
            <a:custGeom>
              <a:avLst/>
              <a:gdLst/>
              <a:ahLst/>
              <a:cxnLst/>
              <a:rect r="r" b="b" t="t" l="l"/>
              <a:pathLst>
                <a:path h="2072640" w="4511040">
                  <a:moveTo>
                    <a:pt x="0" y="0"/>
                  </a:moveTo>
                  <a:lnTo>
                    <a:pt x="4511040" y="0"/>
                  </a:lnTo>
                  <a:lnTo>
                    <a:pt x="4511040" y="2072640"/>
                  </a:lnTo>
                  <a:lnTo>
                    <a:pt x="0" y="2072640"/>
                  </a:lnTo>
                  <a:close/>
                </a:path>
              </a:pathLst>
            </a:custGeom>
            <a:blipFill>
              <a:blip r:embed="rId3">
                <a:alphaModFix amt="0"/>
              </a:blip>
              <a:stretch>
                <a:fillRect l="-8950" t="0" r="-8950" b="0"/>
              </a:stretch>
            </a:blipFill>
          </p:spPr>
        </p:sp>
        <p:sp>
          <p:nvSpPr>
            <p:cNvPr name="TextBox 115" id="115"/>
            <p:cNvSpPr txBox="true"/>
            <p:nvPr/>
          </p:nvSpPr>
          <p:spPr>
            <a:xfrm>
              <a:off x="0" y="-19050"/>
              <a:ext cx="4511040" cy="2091690"/>
            </a:xfrm>
            <a:prstGeom prst="rect">
              <a:avLst/>
            </a:prstGeom>
          </p:spPr>
          <p:txBody>
            <a:bodyPr anchor="ctr" rtlCol="false" tIns="0" lIns="0" bIns="0" rIns="0"/>
            <a:lstStyle/>
            <a:p>
              <a:pPr algn="l">
                <a:lnSpc>
                  <a:spcPts val="2760"/>
                </a:lnSpc>
              </a:pPr>
              <a:r>
                <a:rPr lang="en-US" sz="2300" b="true">
                  <a:solidFill>
                    <a:srgbClr val="0F2557"/>
                  </a:solidFill>
                  <a:latin typeface="Arial Bold"/>
                  <a:ea typeface="Arial Bold"/>
                  <a:cs typeface="Arial Bold"/>
                  <a:sym typeface="Arial Bold"/>
                </a:rPr>
                <a:t>Team data store</a:t>
              </a:r>
            </a:p>
            <a:p>
              <a:pPr algn="l">
                <a:lnSpc>
                  <a:spcPts val="2400"/>
                </a:lnSpc>
              </a:pPr>
              <a:r>
                <a:rPr lang="en-US" sz="2000">
                  <a:solidFill>
                    <a:srgbClr val="1B2433"/>
                  </a:solidFill>
                  <a:latin typeface="Arial"/>
                  <a:ea typeface="Arial"/>
                  <a:cs typeface="Arial"/>
                  <a:sym typeface="Arial"/>
                </a:rPr>
                <a:t>Skills, workload and projects</a:t>
              </a:r>
            </a:p>
          </p:txBody>
        </p:sp>
      </p:grpSp>
      <p:grpSp>
        <p:nvGrpSpPr>
          <p:cNvPr name="Group 116" id="116"/>
          <p:cNvGrpSpPr/>
          <p:nvPr/>
        </p:nvGrpSpPr>
        <p:grpSpPr>
          <a:xfrm rot="0">
            <a:off x="13520423" y="7814567"/>
            <a:ext cx="3865883" cy="1579883"/>
            <a:chOff x="0" y="0"/>
            <a:chExt cx="5154511" cy="2106511"/>
          </a:xfrm>
        </p:grpSpPr>
        <p:sp>
          <p:nvSpPr>
            <p:cNvPr name="Freeform 117" id="117"/>
            <p:cNvSpPr/>
            <p:nvPr/>
          </p:nvSpPr>
          <p:spPr>
            <a:xfrm flipH="false" flipV="false" rot="0">
              <a:off x="0" y="0"/>
              <a:ext cx="5154549" cy="2106549"/>
            </a:xfrm>
            <a:custGeom>
              <a:avLst/>
              <a:gdLst/>
              <a:ahLst/>
              <a:cxnLst/>
              <a:rect r="r" b="b" t="t" l="l"/>
              <a:pathLst>
                <a:path h="2106549" w="5154549">
                  <a:moveTo>
                    <a:pt x="0" y="198247"/>
                  </a:moveTo>
                  <a:cubicBezTo>
                    <a:pt x="0" y="88773"/>
                    <a:pt x="88773" y="0"/>
                    <a:pt x="198247" y="0"/>
                  </a:cubicBezTo>
                  <a:lnTo>
                    <a:pt x="4956302" y="0"/>
                  </a:lnTo>
                  <a:cubicBezTo>
                    <a:pt x="5065776" y="0"/>
                    <a:pt x="5154549" y="88773"/>
                    <a:pt x="5154549" y="198247"/>
                  </a:cubicBezTo>
                  <a:lnTo>
                    <a:pt x="5154549" y="1908302"/>
                  </a:lnTo>
                  <a:cubicBezTo>
                    <a:pt x="5154549" y="2017776"/>
                    <a:pt x="5065776" y="2106549"/>
                    <a:pt x="4956302" y="2106549"/>
                  </a:cubicBezTo>
                  <a:lnTo>
                    <a:pt x="198247" y="2106549"/>
                  </a:lnTo>
                  <a:cubicBezTo>
                    <a:pt x="88773" y="2106549"/>
                    <a:pt x="0" y="2017776"/>
                    <a:pt x="0" y="1908302"/>
                  </a:cubicBezTo>
                  <a:close/>
                </a:path>
              </a:pathLst>
            </a:custGeom>
            <a:solidFill>
              <a:srgbClr val="EAF0FA"/>
            </a:solidFill>
            <a:ln w="25400" cap="sq">
              <a:solidFill>
                <a:srgbClr val="EAF0FA"/>
              </a:solidFill>
              <a:prstDash val="solid"/>
              <a:miter/>
            </a:ln>
          </p:spPr>
        </p:sp>
      </p:grpSp>
      <p:grpSp>
        <p:nvGrpSpPr>
          <p:cNvPr name="Group 118" id="118"/>
          <p:cNvGrpSpPr/>
          <p:nvPr/>
        </p:nvGrpSpPr>
        <p:grpSpPr>
          <a:xfrm rot="0">
            <a:off x="13520423" y="7997447"/>
            <a:ext cx="116843" cy="1214123"/>
            <a:chOff x="0" y="0"/>
            <a:chExt cx="155791" cy="1618831"/>
          </a:xfrm>
        </p:grpSpPr>
        <p:sp>
          <p:nvSpPr>
            <p:cNvPr name="Freeform 119" id="119"/>
            <p:cNvSpPr/>
            <p:nvPr/>
          </p:nvSpPr>
          <p:spPr>
            <a:xfrm flipH="false" flipV="false" rot="0">
              <a:off x="0" y="0"/>
              <a:ext cx="155829" cy="1618869"/>
            </a:xfrm>
            <a:custGeom>
              <a:avLst/>
              <a:gdLst/>
              <a:ahLst/>
              <a:cxnLst/>
              <a:rect r="r" b="b" t="t" l="l"/>
              <a:pathLst>
                <a:path h="1618869" w="155829">
                  <a:moveTo>
                    <a:pt x="0" y="0"/>
                  </a:moveTo>
                  <a:lnTo>
                    <a:pt x="155829" y="0"/>
                  </a:lnTo>
                  <a:lnTo>
                    <a:pt x="155829" y="1618869"/>
                  </a:lnTo>
                  <a:lnTo>
                    <a:pt x="0" y="1618869"/>
                  </a:lnTo>
                  <a:close/>
                </a:path>
              </a:pathLst>
            </a:custGeom>
            <a:solidFill>
              <a:srgbClr val="0F2557"/>
            </a:solidFill>
            <a:ln w="25400" cap="sq">
              <a:solidFill>
                <a:srgbClr val="0F2557"/>
              </a:solidFill>
              <a:prstDash val="solid"/>
              <a:miter/>
            </a:ln>
          </p:spPr>
        </p:sp>
      </p:grpSp>
      <p:grpSp>
        <p:nvGrpSpPr>
          <p:cNvPr name="Group 120" id="120"/>
          <p:cNvGrpSpPr/>
          <p:nvPr/>
        </p:nvGrpSpPr>
        <p:grpSpPr>
          <a:xfrm rot="0">
            <a:off x="13807440" y="7827264"/>
            <a:ext cx="3383280" cy="1554480"/>
            <a:chOff x="0" y="0"/>
            <a:chExt cx="4511040" cy="2072640"/>
          </a:xfrm>
        </p:grpSpPr>
        <p:sp>
          <p:nvSpPr>
            <p:cNvPr name="Freeform 121" id="121"/>
            <p:cNvSpPr/>
            <p:nvPr/>
          </p:nvSpPr>
          <p:spPr>
            <a:xfrm flipH="false" flipV="false" rot="0">
              <a:off x="0" y="0"/>
              <a:ext cx="4511040" cy="2072640"/>
            </a:xfrm>
            <a:custGeom>
              <a:avLst/>
              <a:gdLst/>
              <a:ahLst/>
              <a:cxnLst/>
              <a:rect r="r" b="b" t="t" l="l"/>
              <a:pathLst>
                <a:path h="2072640" w="4511040">
                  <a:moveTo>
                    <a:pt x="0" y="0"/>
                  </a:moveTo>
                  <a:lnTo>
                    <a:pt x="4511040" y="0"/>
                  </a:lnTo>
                  <a:lnTo>
                    <a:pt x="4511040" y="2072640"/>
                  </a:lnTo>
                  <a:lnTo>
                    <a:pt x="0" y="2072640"/>
                  </a:lnTo>
                  <a:close/>
                </a:path>
              </a:pathLst>
            </a:custGeom>
            <a:blipFill>
              <a:blip r:embed="rId3">
                <a:alphaModFix amt="0"/>
              </a:blip>
              <a:stretch>
                <a:fillRect l="-8950" t="0" r="-8950" b="0"/>
              </a:stretch>
            </a:blipFill>
          </p:spPr>
        </p:sp>
        <p:sp>
          <p:nvSpPr>
            <p:cNvPr name="TextBox 122" id="122"/>
            <p:cNvSpPr txBox="true"/>
            <p:nvPr/>
          </p:nvSpPr>
          <p:spPr>
            <a:xfrm>
              <a:off x="0" y="-19050"/>
              <a:ext cx="4511040" cy="2091690"/>
            </a:xfrm>
            <a:prstGeom prst="rect">
              <a:avLst/>
            </a:prstGeom>
          </p:spPr>
          <p:txBody>
            <a:bodyPr anchor="ctr" rtlCol="false" tIns="0" lIns="0" bIns="0" rIns="0"/>
            <a:lstStyle/>
            <a:p>
              <a:pPr algn="l">
                <a:lnSpc>
                  <a:spcPts val="2760"/>
                </a:lnSpc>
              </a:pPr>
              <a:r>
                <a:rPr lang="en-US" sz="2300" b="true">
                  <a:solidFill>
                    <a:srgbClr val="0F2557"/>
                  </a:solidFill>
                  <a:latin typeface="Arial Bold"/>
                  <a:ea typeface="Arial Bold"/>
                  <a:cs typeface="Arial Bold"/>
                  <a:sym typeface="Arial Bold"/>
                </a:rPr>
                <a:t>AI model</a:t>
              </a:r>
            </a:p>
            <a:p>
              <a:pPr algn="l">
                <a:lnSpc>
                  <a:spcPts val="2400"/>
                </a:lnSpc>
              </a:pPr>
              <a:r>
                <a:rPr lang="en-US" sz="2000">
                  <a:solidFill>
                    <a:srgbClr val="1B2433"/>
                  </a:solidFill>
                  <a:latin typeface="Arial"/>
                  <a:ea typeface="Arial"/>
                  <a:cs typeface="Arial"/>
                  <a:sym typeface="Arial"/>
                </a:rPr>
                <a:t>Groq model through LangChain</a:t>
              </a:r>
            </a:p>
          </p:txBody>
        </p:sp>
      </p:grpSp>
      <p:sp>
        <p:nvSpPr>
          <p:cNvPr name="TextBox 123" id="123"/>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5</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38100"/>
              <a:ext cx="21945600" cy="1501140"/>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How It Works</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From a reported problem to the right engineer, step by step.</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901703" y="2547623"/>
            <a:ext cx="2402843" cy="4140203"/>
            <a:chOff x="0" y="0"/>
            <a:chExt cx="3203791" cy="5520271"/>
          </a:xfrm>
        </p:grpSpPr>
        <p:sp>
          <p:nvSpPr>
            <p:cNvPr name="Freeform 12" id="12"/>
            <p:cNvSpPr/>
            <p:nvPr/>
          </p:nvSpPr>
          <p:spPr>
            <a:xfrm flipH="false" flipV="false" rot="0">
              <a:off x="0" y="0"/>
              <a:ext cx="3203702" cy="5520182"/>
            </a:xfrm>
            <a:custGeom>
              <a:avLst/>
              <a:gdLst/>
              <a:ahLst/>
              <a:cxnLst/>
              <a:rect r="r" b="b" t="t" l="l"/>
              <a:pathLst>
                <a:path h="5520182" w="3203702">
                  <a:moveTo>
                    <a:pt x="0" y="197104"/>
                  </a:moveTo>
                  <a:cubicBezTo>
                    <a:pt x="0" y="88265"/>
                    <a:pt x="88265" y="0"/>
                    <a:pt x="197104" y="0"/>
                  </a:cubicBezTo>
                  <a:lnTo>
                    <a:pt x="3006598" y="0"/>
                  </a:lnTo>
                  <a:cubicBezTo>
                    <a:pt x="3115437" y="0"/>
                    <a:pt x="3203702" y="88265"/>
                    <a:pt x="3203702" y="197104"/>
                  </a:cubicBezTo>
                  <a:lnTo>
                    <a:pt x="3203702" y="5323078"/>
                  </a:lnTo>
                  <a:cubicBezTo>
                    <a:pt x="3203702" y="5431917"/>
                    <a:pt x="3115437" y="5520182"/>
                    <a:pt x="3006598" y="5520182"/>
                  </a:cubicBezTo>
                  <a:lnTo>
                    <a:pt x="197104" y="5520182"/>
                  </a:lnTo>
                  <a:cubicBezTo>
                    <a:pt x="88265" y="5520309"/>
                    <a:pt x="0" y="5432044"/>
                    <a:pt x="0" y="5323078"/>
                  </a:cubicBezTo>
                  <a:close/>
                </a:path>
              </a:pathLst>
            </a:custGeom>
            <a:solidFill>
              <a:srgbClr val="EAF0FA"/>
            </a:solidFill>
            <a:ln w="25400" cap="sq">
              <a:solidFill>
                <a:srgbClr val="EAF0FA"/>
              </a:solidFill>
              <a:prstDash val="solid"/>
              <a:miter/>
            </a:ln>
          </p:spPr>
        </p:sp>
      </p:grpSp>
      <p:grpSp>
        <p:nvGrpSpPr>
          <p:cNvPr name="Group 13" id="13"/>
          <p:cNvGrpSpPr/>
          <p:nvPr/>
        </p:nvGrpSpPr>
        <p:grpSpPr>
          <a:xfrm rot="0">
            <a:off x="1084583" y="2767079"/>
            <a:ext cx="756923" cy="756923"/>
            <a:chOff x="0" y="0"/>
            <a:chExt cx="1009231" cy="1009231"/>
          </a:xfrm>
        </p:grpSpPr>
        <p:sp>
          <p:nvSpPr>
            <p:cNvPr name="Freeform 14" id="14"/>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F2557"/>
            </a:solidFill>
            <a:ln w="25400" cap="sq">
              <a:solidFill>
                <a:srgbClr val="0F2557"/>
              </a:solidFill>
              <a:prstDash val="solid"/>
              <a:miter/>
            </a:ln>
          </p:spPr>
        </p:sp>
      </p:grpSp>
      <p:grpSp>
        <p:nvGrpSpPr>
          <p:cNvPr name="Group 15" id="15"/>
          <p:cNvGrpSpPr/>
          <p:nvPr/>
        </p:nvGrpSpPr>
        <p:grpSpPr>
          <a:xfrm rot="0">
            <a:off x="1097280" y="2779776"/>
            <a:ext cx="731520" cy="731520"/>
            <a:chOff x="0" y="0"/>
            <a:chExt cx="975360" cy="975360"/>
          </a:xfrm>
        </p:grpSpPr>
        <p:sp>
          <p:nvSpPr>
            <p:cNvPr name="Freeform 16" id="16"/>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17" id="17"/>
            <p:cNvSpPr txBox="true"/>
            <p:nvPr/>
          </p:nvSpPr>
          <p:spPr>
            <a:xfrm>
              <a:off x="0" y="-19050"/>
              <a:ext cx="975360" cy="994410"/>
            </a:xfrm>
            <a:prstGeom prst="rect">
              <a:avLst/>
            </a:prstGeom>
          </p:spPr>
          <p:txBody>
            <a:bodyPr anchor="ctr" rtlCol="false" tIns="0" lIns="0" bIns="0" rIns="0"/>
            <a:lstStyle/>
            <a:p>
              <a:pPr algn="ctr">
                <a:lnSpc>
                  <a:spcPts val="3120"/>
                </a:lnSpc>
              </a:pPr>
              <a:r>
                <a:rPr lang="en-US" sz="2600" b="true">
                  <a:solidFill>
                    <a:srgbClr val="FFFFFF"/>
                  </a:solidFill>
                  <a:latin typeface="Arial Bold"/>
                  <a:ea typeface="Arial Bold"/>
                  <a:cs typeface="Arial Bold"/>
                  <a:sym typeface="Arial Bold"/>
                </a:rPr>
                <a:t>1</a:t>
              </a:r>
            </a:p>
          </p:txBody>
        </p:sp>
      </p:grpSp>
      <p:sp>
        <p:nvSpPr>
          <p:cNvPr name="TextBox 18" id="18"/>
          <p:cNvSpPr txBox="true"/>
          <p:nvPr/>
        </p:nvSpPr>
        <p:spPr>
          <a:xfrm rot="0">
            <a:off x="1097280" y="3638550"/>
            <a:ext cx="2048256" cy="2945130"/>
          </a:xfrm>
          <a:prstGeom prst="rect">
            <a:avLst/>
          </a:prstGeom>
        </p:spPr>
        <p:txBody>
          <a:bodyPr anchor="t" rtlCol="false" tIns="0" lIns="0" bIns="0" rIns="0">
            <a:spAutoFit/>
          </a:bodyPr>
          <a:lstStyle/>
          <a:p>
            <a:pPr algn="l">
              <a:lnSpc>
                <a:spcPts val="3120"/>
              </a:lnSpc>
            </a:pPr>
            <a:r>
              <a:rPr lang="en-US" sz="2600" b="true">
                <a:solidFill>
                  <a:srgbClr val="0F2557"/>
                </a:solidFill>
                <a:latin typeface="Arial Bold"/>
                <a:ea typeface="Arial Bold"/>
                <a:cs typeface="Arial Bold"/>
                <a:sym typeface="Arial Bold"/>
              </a:rPr>
              <a:t>Report</a:t>
            </a:r>
          </a:p>
          <a:p>
            <a:pPr algn="l">
              <a:lnSpc>
                <a:spcPts val="2639"/>
              </a:lnSpc>
            </a:pPr>
            <a:r>
              <a:rPr lang="en-US" sz="2199">
                <a:solidFill>
                  <a:srgbClr val="1B2433"/>
                </a:solidFill>
                <a:latin typeface="Arial"/>
                <a:ea typeface="Arial"/>
                <a:cs typeface="Arial"/>
                <a:sym typeface="Arial"/>
              </a:rPr>
              <a:t>A problem or question is typed in.</a:t>
            </a:r>
          </a:p>
        </p:txBody>
      </p:sp>
      <p:grpSp>
        <p:nvGrpSpPr>
          <p:cNvPr name="Group 19" id="19"/>
          <p:cNvGrpSpPr/>
          <p:nvPr/>
        </p:nvGrpSpPr>
        <p:grpSpPr>
          <a:xfrm rot="0">
            <a:off x="3315719" y="4376423"/>
            <a:ext cx="391163" cy="464315"/>
            <a:chOff x="0" y="0"/>
            <a:chExt cx="521551" cy="619087"/>
          </a:xfrm>
        </p:grpSpPr>
        <p:sp>
          <p:nvSpPr>
            <p:cNvPr name="Freeform 20" id="20"/>
            <p:cNvSpPr/>
            <p:nvPr/>
          </p:nvSpPr>
          <p:spPr>
            <a:xfrm flipH="false" flipV="false" rot="0">
              <a:off x="0" y="0"/>
              <a:ext cx="521589" cy="619125"/>
            </a:xfrm>
            <a:custGeom>
              <a:avLst/>
              <a:gdLst/>
              <a:ahLst/>
              <a:cxnLst/>
              <a:rect r="r" b="b" t="t" l="l"/>
              <a:pathLst>
                <a:path h="619125" w="521589">
                  <a:moveTo>
                    <a:pt x="0" y="154813"/>
                  </a:moveTo>
                  <a:lnTo>
                    <a:pt x="260731" y="154813"/>
                  </a:lnTo>
                  <a:lnTo>
                    <a:pt x="260731" y="0"/>
                  </a:lnTo>
                  <a:lnTo>
                    <a:pt x="521589" y="309499"/>
                  </a:lnTo>
                  <a:lnTo>
                    <a:pt x="260731" y="619125"/>
                  </a:lnTo>
                  <a:lnTo>
                    <a:pt x="260731" y="464312"/>
                  </a:lnTo>
                  <a:lnTo>
                    <a:pt x="0" y="464312"/>
                  </a:lnTo>
                  <a:close/>
                </a:path>
              </a:pathLst>
            </a:custGeom>
            <a:solidFill>
              <a:srgbClr val="F28C28"/>
            </a:solidFill>
            <a:ln w="25400" cap="sq">
              <a:solidFill>
                <a:srgbClr val="F28C28"/>
              </a:solidFill>
              <a:prstDash val="solid"/>
              <a:miter/>
            </a:ln>
          </p:spPr>
        </p:sp>
      </p:grpSp>
      <p:grpSp>
        <p:nvGrpSpPr>
          <p:cNvPr name="Group 21" id="21"/>
          <p:cNvGrpSpPr/>
          <p:nvPr/>
        </p:nvGrpSpPr>
        <p:grpSpPr>
          <a:xfrm rot="0">
            <a:off x="3718055" y="2547623"/>
            <a:ext cx="2402843" cy="4140203"/>
            <a:chOff x="0" y="0"/>
            <a:chExt cx="3203791" cy="5520271"/>
          </a:xfrm>
        </p:grpSpPr>
        <p:sp>
          <p:nvSpPr>
            <p:cNvPr name="Freeform 22" id="22"/>
            <p:cNvSpPr/>
            <p:nvPr/>
          </p:nvSpPr>
          <p:spPr>
            <a:xfrm flipH="false" flipV="false" rot="0">
              <a:off x="0" y="0"/>
              <a:ext cx="3203702" cy="5520182"/>
            </a:xfrm>
            <a:custGeom>
              <a:avLst/>
              <a:gdLst/>
              <a:ahLst/>
              <a:cxnLst/>
              <a:rect r="r" b="b" t="t" l="l"/>
              <a:pathLst>
                <a:path h="5520182" w="3203702">
                  <a:moveTo>
                    <a:pt x="0" y="197104"/>
                  </a:moveTo>
                  <a:cubicBezTo>
                    <a:pt x="0" y="88265"/>
                    <a:pt x="88265" y="0"/>
                    <a:pt x="197104" y="0"/>
                  </a:cubicBezTo>
                  <a:lnTo>
                    <a:pt x="3006598" y="0"/>
                  </a:lnTo>
                  <a:cubicBezTo>
                    <a:pt x="3115437" y="0"/>
                    <a:pt x="3203702" y="88265"/>
                    <a:pt x="3203702" y="197104"/>
                  </a:cubicBezTo>
                  <a:lnTo>
                    <a:pt x="3203702" y="5323078"/>
                  </a:lnTo>
                  <a:cubicBezTo>
                    <a:pt x="3203702" y="5431917"/>
                    <a:pt x="3115437" y="5520182"/>
                    <a:pt x="3006598" y="5520182"/>
                  </a:cubicBezTo>
                  <a:lnTo>
                    <a:pt x="197104" y="5520182"/>
                  </a:lnTo>
                  <a:cubicBezTo>
                    <a:pt x="88265" y="5520309"/>
                    <a:pt x="0" y="5432044"/>
                    <a:pt x="0" y="5323078"/>
                  </a:cubicBezTo>
                  <a:close/>
                </a:path>
              </a:pathLst>
            </a:custGeom>
            <a:solidFill>
              <a:srgbClr val="EAF0FA"/>
            </a:solidFill>
            <a:ln w="25400" cap="sq">
              <a:solidFill>
                <a:srgbClr val="EAF0FA"/>
              </a:solidFill>
              <a:prstDash val="solid"/>
              <a:miter/>
            </a:ln>
          </p:spPr>
        </p:sp>
      </p:grpSp>
      <p:grpSp>
        <p:nvGrpSpPr>
          <p:cNvPr name="Group 23" id="23"/>
          <p:cNvGrpSpPr/>
          <p:nvPr/>
        </p:nvGrpSpPr>
        <p:grpSpPr>
          <a:xfrm rot="0">
            <a:off x="3900935" y="2767079"/>
            <a:ext cx="756923" cy="756923"/>
            <a:chOff x="0" y="0"/>
            <a:chExt cx="1009231" cy="1009231"/>
          </a:xfrm>
        </p:grpSpPr>
        <p:sp>
          <p:nvSpPr>
            <p:cNvPr name="Freeform 24" id="24"/>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F2557"/>
            </a:solidFill>
            <a:ln w="25400" cap="sq">
              <a:solidFill>
                <a:srgbClr val="0F2557"/>
              </a:solidFill>
              <a:prstDash val="solid"/>
              <a:miter/>
            </a:ln>
          </p:spPr>
        </p:sp>
      </p:grpSp>
      <p:grpSp>
        <p:nvGrpSpPr>
          <p:cNvPr name="Group 25" id="25"/>
          <p:cNvGrpSpPr/>
          <p:nvPr/>
        </p:nvGrpSpPr>
        <p:grpSpPr>
          <a:xfrm rot="0">
            <a:off x="3913632" y="2779776"/>
            <a:ext cx="731520" cy="731520"/>
            <a:chOff x="0" y="0"/>
            <a:chExt cx="975360" cy="975360"/>
          </a:xfrm>
        </p:grpSpPr>
        <p:sp>
          <p:nvSpPr>
            <p:cNvPr name="Freeform 26" id="26"/>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27" id="27"/>
            <p:cNvSpPr txBox="true"/>
            <p:nvPr/>
          </p:nvSpPr>
          <p:spPr>
            <a:xfrm>
              <a:off x="0" y="-19050"/>
              <a:ext cx="975360" cy="994410"/>
            </a:xfrm>
            <a:prstGeom prst="rect">
              <a:avLst/>
            </a:prstGeom>
          </p:spPr>
          <p:txBody>
            <a:bodyPr anchor="ctr" rtlCol="false" tIns="0" lIns="0" bIns="0" rIns="0"/>
            <a:lstStyle/>
            <a:p>
              <a:pPr algn="ctr">
                <a:lnSpc>
                  <a:spcPts val="3120"/>
                </a:lnSpc>
              </a:pPr>
              <a:r>
                <a:rPr lang="en-US" sz="2600" b="true">
                  <a:solidFill>
                    <a:srgbClr val="FFFFFF"/>
                  </a:solidFill>
                  <a:latin typeface="Arial Bold"/>
                  <a:ea typeface="Arial Bold"/>
                  <a:cs typeface="Arial Bold"/>
                  <a:sym typeface="Arial Bold"/>
                </a:rPr>
                <a:t>2</a:t>
              </a:r>
            </a:p>
          </p:txBody>
        </p:sp>
      </p:grpSp>
      <p:sp>
        <p:nvSpPr>
          <p:cNvPr name="TextBox 28" id="28"/>
          <p:cNvSpPr txBox="true"/>
          <p:nvPr/>
        </p:nvSpPr>
        <p:spPr>
          <a:xfrm rot="0">
            <a:off x="3913632" y="3638550"/>
            <a:ext cx="2048256" cy="2945130"/>
          </a:xfrm>
          <a:prstGeom prst="rect">
            <a:avLst/>
          </a:prstGeom>
        </p:spPr>
        <p:txBody>
          <a:bodyPr anchor="t" rtlCol="false" tIns="0" lIns="0" bIns="0" rIns="0">
            <a:spAutoFit/>
          </a:bodyPr>
          <a:lstStyle/>
          <a:p>
            <a:pPr algn="l">
              <a:lnSpc>
                <a:spcPts val="3120"/>
              </a:lnSpc>
            </a:pPr>
            <a:r>
              <a:rPr lang="en-US" sz="2600" b="true">
                <a:solidFill>
                  <a:srgbClr val="0F2557"/>
                </a:solidFill>
                <a:latin typeface="Arial Bold"/>
                <a:ea typeface="Arial Bold"/>
                <a:cs typeface="Arial Bold"/>
                <a:sym typeface="Arial Bold"/>
              </a:rPr>
              <a:t>Plan</a:t>
            </a:r>
          </a:p>
          <a:p>
            <a:pPr algn="l">
              <a:lnSpc>
                <a:spcPts val="2639"/>
              </a:lnSpc>
            </a:pPr>
            <a:r>
              <a:rPr lang="en-US" sz="2199">
                <a:solidFill>
                  <a:srgbClr val="1B2433"/>
                </a:solidFill>
                <a:latin typeface="Arial"/>
                <a:ea typeface="Arial"/>
                <a:cs typeface="Arial"/>
                <a:sym typeface="Arial"/>
              </a:rPr>
              <a:t>Planner decides if it is a real problem and makes a checklist.</a:t>
            </a:r>
          </a:p>
        </p:txBody>
      </p:sp>
      <p:grpSp>
        <p:nvGrpSpPr>
          <p:cNvPr name="Group 29" id="29"/>
          <p:cNvGrpSpPr/>
          <p:nvPr/>
        </p:nvGrpSpPr>
        <p:grpSpPr>
          <a:xfrm rot="0">
            <a:off x="6132071" y="4376423"/>
            <a:ext cx="391163" cy="464315"/>
            <a:chOff x="0" y="0"/>
            <a:chExt cx="521551" cy="619087"/>
          </a:xfrm>
        </p:grpSpPr>
        <p:sp>
          <p:nvSpPr>
            <p:cNvPr name="Freeform 30" id="30"/>
            <p:cNvSpPr/>
            <p:nvPr/>
          </p:nvSpPr>
          <p:spPr>
            <a:xfrm flipH="false" flipV="false" rot="0">
              <a:off x="0" y="0"/>
              <a:ext cx="521589" cy="619125"/>
            </a:xfrm>
            <a:custGeom>
              <a:avLst/>
              <a:gdLst/>
              <a:ahLst/>
              <a:cxnLst/>
              <a:rect r="r" b="b" t="t" l="l"/>
              <a:pathLst>
                <a:path h="619125" w="521589">
                  <a:moveTo>
                    <a:pt x="0" y="154813"/>
                  </a:moveTo>
                  <a:lnTo>
                    <a:pt x="260731" y="154813"/>
                  </a:lnTo>
                  <a:lnTo>
                    <a:pt x="260731" y="0"/>
                  </a:lnTo>
                  <a:lnTo>
                    <a:pt x="521589" y="309499"/>
                  </a:lnTo>
                  <a:lnTo>
                    <a:pt x="260731" y="619125"/>
                  </a:lnTo>
                  <a:lnTo>
                    <a:pt x="260731" y="464312"/>
                  </a:lnTo>
                  <a:lnTo>
                    <a:pt x="0" y="464312"/>
                  </a:lnTo>
                  <a:close/>
                </a:path>
              </a:pathLst>
            </a:custGeom>
            <a:solidFill>
              <a:srgbClr val="F28C28"/>
            </a:solidFill>
            <a:ln w="25400" cap="sq">
              <a:solidFill>
                <a:srgbClr val="F28C28"/>
              </a:solidFill>
              <a:prstDash val="solid"/>
              <a:miter/>
            </a:ln>
          </p:spPr>
        </p:sp>
      </p:grpSp>
      <p:grpSp>
        <p:nvGrpSpPr>
          <p:cNvPr name="Group 31" id="31"/>
          <p:cNvGrpSpPr/>
          <p:nvPr/>
        </p:nvGrpSpPr>
        <p:grpSpPr>
          <a:xfrm rot="0">
            <a:off x="6534407" y="2547623"/>
            <a:ext cx="2402843" cy="4140203"/>
            <a:chOff x="0" y="0"/>
            <a:chExt cx="3203791" cy="5520271"/>
          </a:xfrm>
        </p:grpSpPr>
        <p:sp>
          <p:nvSpPr>
            <p:cNvPr name="Freeform 32" id="32"/>
            <p:cNvSpPr/>
            <p:nvPr/>
          </p:nvSpPr>
          <p:spPr>
            <a:xfrm flipH="false" flipV="false" rot="0">
              <a:off x="0" y="0"/>
              <a:ext cx="3203702" cy="5520182"/>
            </a:xfrm>
            <a:custGeom>
              <a:avLst/>
              <a:gdLst/>
              <a:ahLst/>
              <a:cxnLst/>
              <a:rect r="r" b="b" t="t" l="l"/>
              <a:pathLst>
                <a:path h="5520182" w="3203702">
                  <a:moveTo>
                    <a:pt x="0" y="197104"/>
                  </a:moveTo>
                  <a:cubicBezTo>
                    <a:pt x="0" y="88265"/>
                    <a:pt x="88265" y="0"/>
                    <a:pt x="197104" y="0"/>
                  </a:cubicBezTo>
                  <a:lnTo>
                    <a:pt x="3006598" y="0"/>
                  </a:lnTo>
                  <a:cubicBezTo>
                    <a:pt x="3115437" y="0"/>
                    <a:pt x="3203702" y="88265"/>
                    <a:pt x="3203702" y="197104"/>
                  </a:cubicBezTo>
                  <a:lnTo>
                    <a:pt x="3203702" y="5323078"/>
                  </a:lnTo>
                  <a:cubicBezTo>
                    <a:pt x="3203702" y="5431917"/>
                    <a:pt x="3115437" y="5520182"/>
                    <a:pt x="3006598" y="5520182"/>
                  </a:cubicBezTo>
                  <a:lnTo>
                    <a:pt x="197104" y="5520182"/>
                  </a:lnTo>
                  <a:cubicBezTo>
                    <a:pt x="88265" y="5520309"/>
                    <a:pt x="0" y="5432044"/>
                    <a:pt x="0" y="5323078"/>
                  </a:cubicBezTo>
                  <a:close/>
                </a:path>
              </a:pathLst>
            </a:custGeom>
            <a:solidFill>
              <a:srgbClr val="EAF0FA"/>
            </a:solidFill>
            <a:ln w="25400" cap="sq">
              <a:solidFill>
                <a:srgbClr val="EAF0FA"/>
              </a:solidFill>
              <a:prstDash val="solid"/>
              <a:miter/>
            </a:ln>
          </p:spPr>
        </p:sp>
      </p:grpSp>
      <p:grpSp>
        <p:nvGrpSpPr>
          <p:cNvPr name="Group 33" id="33"/>
          <p:cNvGrpSpPr/>
          <p:nvPr/>
        </p:nvGrpSpPr>
        <p:grpSpPr>
          <a:xfrm rot="0">
            <a:off x="6717287" y="2767079"/>
            <a:ext cx="756923" cy="756923"/>
            <a:chOff x="0" y="0"/>
            <a:chExt cx="1009231" cy="1009231"/>
          </a:xfrm>
        </p:grpSpPr>
        <p:sp>
          <p:nvSpPr>
            <p:cNvPr name="Freeform 34" id="34"/>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F2557"/>
            </a:solidFill>
            <a:ln w="25400" cap="sq">
              <a:solidFill>
                <a:srgbClr val="0F2557"/>
              </a:solidFill>
              <a:prstDash val="solid"/>
              <a:miter/>
            </a:ln>
          </p:spPr>
        </p:sp>
      </p:grpSp>
      <p:grpSp>
        <p:nvGrpSpPr>
          <p:cNvPr name="Group 35" id="35"/>
          <p:cNvGrpSpPr/>
          <p:nvPr/>
        </p:nvGrpSpPr>
        <p:grpSpPr>
          <a:xfrm rot="0">
            <a:off x="6729984" y="2779776"/>
            <a:ext cx="731520" cy="731520"/>
            <a:chOff x="0" y="0"/>
            <a:chExt cx="975360" cy="975360"/>
          </a:xfrm>
        </p:grpSpPr>
        <p:sp>
          <p:nvSpPr>
            <p:cNvPr name="Freeform 36" id="36"/>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37" id="37"/>
            <p:cNvSpPr txBox="true"/>
            <p:nvPr/>
          </p:nvSpPr>
          <p:spPr>
            <a:xfrm>
              <a:off x="0" y="-19050"/>
              <a:ext cx="975360" cy="994410"/>
            </a:xfrm>
            <a:prstGeom prst="rect">
              <a:avLst/>
            </a:prstGeom>
          </p:spPr>
          <p:txBody>
            <a:bodyPr anchor="ctr" rtlCol="false" tIns="0" lIns="0" bIns="0" rIns="0"/>
            <a:lstStyle/>
            <a:p>
              <a:pPr algn="ctr">
                <a:lnSpc>
                  <a:spcPts val="3120"/>
                </a:lnSpc>
              </a:pPr>
              <a:r>
                <a:rPr lang="en-US" sz="2600" b="true">
                  <a:solidFill>
                    <a:srgbClr val="FFFFFF"/>
                  </a:solidFill>
                  <a:latin typeface="Arial Bold"/>
                  <a:ea typeface="Arial Bold"/>
                  <a:cs typeface="Arial Bold"/>
                  <a:sym typeface="Arial Bold"/>
                </a:rPr>
                <a:t>3</a:t>
              </a:r>
            </a:p>
          </p:txBody>
        </p:sp>
      </p:grpSp>
      <p:sp>
        <p:nvSpPr>
          <p:cNvPr name="TextBox 38" id="38"/>
          <p:cNvSpPr txBox="true"/>
          <p:nvPr/>
        </p:nvSpPr>
        <p:spPr>
          <a:xfrm rot="0">
            <a:off x="6729984" y="3638550"/>
            <a:ext cx="2048256" cy="2945130"/>
          </a:xfrm>
          <a:prstGeom prst="rect">
            <a:avLst/>
          </a:prstGeom>
        </p:spPr>
        <p:txBody>
          <a:bodyPr anchor="t" rtlCol="false" tIns="0" lIns="0" bIns="0" rIns="0">
            <a:spAutoFit/>
          </a:bodyPr>
          <a:lstStyle/>
          <a:p>
            <a:pPr algn="l">
              <a:lnSpc>
                <a:spcPts val="3120"/>
              </a:lnSpc>
            </a:pPr>
            <a:r>
              <a:rPr lang="en-US" sz="2600" b="true">
                <a:solidFill>
                  <a:srgbClr val="0F2557"/>
                </a:solidFill>
                <a:latin typeface="Arial Bold"/>
                <a:ea typeface="Arial Bold"/>
                <a:cs typeface="Arial Bold"/>
                <a:sym typeface="Arial Bold"/>
              </a:rPr>
              <a:t>Investigate</a:t>
            </a:r>
          </a:p>
          <a:p>
            <a:pPr algn="l">
              <a:lnSpc>
                <a:spcPts val="2639"/>
              </a:lnSpc>
            </a:pPr>
            <a:r>
              <a:rPr lang="en-US" sz="2199">
                <a:solidFill>
                  <a:srgbClr val="1B2433"/>
                </a:solidFill>
                <a:latin typeface="Arial"/>
                <a:ea typeface="Arial"/>
                <a:cs typeface="Arial"/>
                <a:sym typeface="Arial"/>
              </a:rPr>
              <a:t>AI checks logs, health, past cases and fix guides.</a:t>
            </a:r>
          </a:p>
        </p:txBody>
      </p:sp>
      <p:grpSp>
        <p:nvGrpSpPr>
          <p:cNvPr name="Group 39" id="39"/>
          <p:cNvGrpSpPr/>
          <p:nvPr/>
        </p:nvGrpSpPr>
        <p:grpSpPr>
          <a:xfrm rot="0">
            <a:off x="8948423" y="4376423"/>
            <a:ext cx="391163" cy="464315"/>
            <a:chOff x="0" y="0"/>
            <a:chExt cx="521551" cy="619087"/>
          </a:xfrm>
        </p:grpSpPr>
        <p:sp>
          <p:nvSpPr>
            <p:cNvPr name="Freeform 40" id="40"/>
            <p:cNvSpPr/>
            <p:nvPr/>
          </p:nvSpPr>
          <p:spPr>
            <a:xfrm flipH="false" flipV="false" rot="0">
              <a:off x="0" y="0"/>
              <a:ext cx="521589" cy="619125"/>
            </a:xfrm>
            <a:custGeom>
              <a:avLst/>
              <a:gdLst/>
              <a:ahLst/>
              <a:cxnLst/>
              <a:rect r="r" b="b" t="t" l="l"/>
              <a:pathLst>
                <a:path h="619125" w="521589">
                  <a:moveTo>
                    <a:pt x="0" y="154813"/>
                  </a:moveTo>
                  <a:lnTo>
                    <a:pt x="260731" y="154813"/>
                  </a:lnTo>
                  <a:lnTo>
                    <a:pt x="260731" y="0"/>
                  </a:lnTo>
                  <a:lnTo>
                    <a:pt x="521589" y="309499"/>
                  </a:lnTo>
                  <a:lnTo>
                    <a:pt x="260731" y="619125"/>
                  </a:lnTo>
                  <a:lnTo>
                    <a:pt x="260731" y="464312"/>
                  </a:lnTo>
                  <a:lnTo>
                    <a:pt x="0" y="464312"/>
                  </a:lnTo>
                  <a:close/>
                </a:path>
              </a:pathLst>
            </a:custGeom>
            <a:solidFill>
              <a:srgbClr val="F28C28"/>
            </a:solidFill>
            <a:ln w="25400" cap="sq">
              <a:solidFill>
                <a:srgbClr val="F28C28"/>
              </a:solidFill>
              <a:prstDash val="solid"/>
              <a:miter/>
            </a:ln>
          </p:spPr>
        </p:sp>
      </p:grpSp>
      <p:grpSp>
        <p:nvGrpSpPr>
          <p:cNvPr name="Group 41" id="41"/>
          <p:cNvGrpSpPr/>
          <p:nvPr/>
        </p:nvGrpSpPr>
        <p:grpSpPr>
          <a:xfrm rot="0">
            <a:off x="9350759" y="2547623"/>
            <a:ext cx="2402843" cy="4140203"/>
            <a:chOff x="0" y="0"/>
            <a:chExt cx="3203791" cy="5520271"/>
          </a:xfrm>
        </p:grpSpPr>
        <p:sp>
          <p:nvSpPr>
            <p:cNvPr name="Freeform 42" id="42"/>
            <p:cNvSpPr/>
            <p:nvPr/>
          </p:nvSpPr>
          <p:spPr>
            <a:xfrm flipH="false" flipV="false" rot="0">
              <a:off x="0" y="0"/>
              <a:ext cx="3203702" cy="5520182"/>
            </a:xfrm>
            <a:custGeom>
              <a:avLst/>
              <a:gdLst/>
              <a:ahLst/>
              <a:cxnLst/>
              <a:rect r="r" b="b" t="t" l="l"/>
              <a:pathLst>
                <a:path h="5520182" w="3203702">
                  <a:moveTo>
                    <a:pt x="0" y="197104"/>
                  </a:moveTo>
                  <a:cubicBezTo>
                    <a:pt x="0" y="88265"/>
                    <a:pt x="88265" y="0"/>
                    <a:pt x="197104" y="0"/>
                  </a:cubicBezTo>
                  <a:lnTo>
                    <a:pt x="3006598" y="0"/>
                  </a:lnTo>
                  <a:cubicBezTo>
                    <a:pt x="3115437" y="0"/>
                    <a:pt x="3203702" y="88265"/>
                    <a:pt x="3203702" y="197104"/>
                  </a:cubicBezTo>
                  <a:lnTo>
                    <a:pt x="3203702" y="5323078"/>
                  </a:lnTo>
                  <a:cubicBezTo>
                    <a:pt x="3203702" y="5431917"/>
                    <a:pt x="3115437" y="5520182"/>
                    <a:pt x="3006598" y="5520182"/>
                  </a:cubicBezTo>
                  <a:lnTo>
                    <a:pt x="197104" y="5520182"/>
                  </a:lnTo>
                  <a:cubicBezTo>
                    <a:pt x="88265" y="5520309"/>
                    <a:pt x="0" y="5432044"/>
                    <a:pt x="0" y="5323078"/>
                  </a:cubicBezTo>
                  <a:close/>
                </a:path>
              </a:pathLst>
            </a:custGeom>
            <a:solidFill>
              <a:srgbClr val="EAF0FA"/>
            </a:solidFill>
            <a:ln w="25400" cap="sq">
              <a:solidFill>
                <a:srgbClr val="EAF0FA"/>
              </a:solidFill>
              <a:prstDash val="solid"/>
              <a:miter/>
            </a:ln>
          </p:spPr>
        </p:sp>
      </p:grpSp>
      <p:grpSp>
        <p:nvGrpSpPr>
          <p:cNvPr name="Group 43" id="43"/>
          <p:cNvGrpSpPr/>
          <p:nvPr/>
        </p:nvGrpSpPr>
        <p:grpSpPr>
          <a:xfrm rot="0">
            <a:off x="9533639" y="2767079"/>
            <a:ext cx="756923" cy="756923"/>
            <a:chOff x="0" y="0"/>
            <a:chExt cx="1009231" cy="1009231"/>
          </a:xfrm>
        </p:grpSpPr>
        <p:sp>
          <p:nvSpPr>
            <p:cNvPr name="Freeform 44" id="44"/>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F2557"/>
            </a:solidFill>
            <a:ln w="25400" cap="sq">
              <a:solidFill>
                <a:srgbClr val="0F2557"/>
              </a:solidFill>
              <a:prstDash val="solid"/>
              <a:miter/>
            </a:ln>
          </p:spPr>
        </p:sp>
      </p:grpSp>
      <p:grpSp>
        <p:nvGrpSpPr>
          <p:cNvPr name="Group 45" id="45"/>
          <p:cNvGrpSpPr/>
          <p:nvPr/>
        </p:nvGrpSpPr>
        <p:grpSpPr>
          <a:xfrm rot="0">
            <a:off x="9546336" y="2779776"/>
            <a:ext cx="731520" cy="731520"/>
            <a:chOff x="0" y="0"/>
            <a:chExt cx="975360" cy="975360"/>
          </a:xfrm>
        </p:grpSpPr>
        <p:sp>
          <p:nvSpPr>
            <p:cNvPr name="Freeform 46" id="46"/>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47" id="47"/>
            <p:cNvSpPr txBox="true"/>
            <p:nvPr/>
          </p:nvSpPr>
          <p:spPr>
            <a:xfrm>
              <a:off x="0" y="-19050"/>
              <a:ext cx="975360" cy="994410"/>
            </a:xfrm>
            <a:prstGeom prst="rect">
              <a:avLst/>
            </a:prstGeom>
          </p:spPr>
          <p:txBody>
            <a:bodyPr anchor="ctr" rtlCol="false" tIns="0" lIns="0" bIns="0" rIns="0"/>
            <a:lstStyle/>
            <a:p>
              <a:pPr algn="ctr">
                <a:lnSpc>
                  <a:spcPts val="3120"/>
                </a:lnSpc>
              </a:pPr>
              <a:r>
                <a:rPr lang="en-US" sz="2600" b="true">
                  <a:solidFill>
                    <a:srgbClr val="FFFFFF"/>
                  </a:solidFill>
                  <a:latin typeface="Arial Bold"/>
                  <a:ea typeface="Arial Bold"/>
                  <a:cs typeface="Arial Bold"/>
                  <a:sym typeface="Arial Bold"/>
                </a:rPr>
                <a:t>4</a:t>
              </a:r>
            </a:p>
          </p:txBody>
        </p:sp>
      </p:grpSp>
      <p:sp>
        <p:nvSpPr>
          <p:cNvPr name="TextBox 48" id="48"/>
          <p:cNvSpPr txBox="true"/>
          <p:nvPr/>
        </p:nvSpPr>
        <p:spPr>
          <a:xfrm rot="0">
            <a:off x="9546336" y="3638550"/>
            <a:ext cx="2048256" cy="2945130"/>
          </a:xfrm>
          <a:prstGeom prst="rect">
            <a:avLst/>
          </a:prstGeom>
        </p:spPr>
        <p:txBody>
          <a:bodyPr anchor="t" rtlCol="false" tIns="0" lIns="0" bIns="0" rIns="0">
            <a:spAutoFit/>
          </a:bodyPr>
          <a:lstStyle/>
          <a:p>
            <a:pPr algn="l">
              <a:lnSpc>
                <a:spcPts val="3120"/>
              </a:lnSpc>
            </a:pPr>
            <a:r>
              <a:rPr lang="en-US" sz="2600" b="true">
                <a:solidFill>
                  <a:srgbClr val="0F2557"/>
                </a:solidFill>
                <a:latin typeface="Arial Bold"/>
                <a:ea typeface="Arial Bold"/>
                <a:cs typeface="Arial Bold"/>
                <a:sym typeface="Arial Bold"/>
              </a:rPr>
              <a:t>Analyse</a:t>
            </a:r>
          </a:p>
          <a:p>
            <a:pPr algn="l">
              <a:lnSpc>
                <a:spcPts val="2639"/>
              </a:lnSpc>
            </a:pPr>
            <a:r>
              <a:rPr lang="en-US" sz="2199">
                <a:solidFill>
                  <a:srgbClr val="1B2433"/>
                </a:solidFill>
                <a:latin typeface="Arial"/>
                <a:ea typeface="Arial"/>
                <a:cs typeface="Arial"/>
                <a:sym typeface="Arial"/>
              </a:rPr>
              <a:t>Finds the cause and how serious it is.</a:t>
            </a:r>
          </a:p>
        </p:txBody>
      </p:sp>
      <p:grpSp>
        <p:nvGrpSpPr>
          <p:cNvPr name="Group 49" id="49"/>
          <p:cNvGrpSpPr/>
          <p:nvPr/>
        </p:nvGrpSpPr>
        <p:grpSpPr>
          <a:xfrm rot="0">
            <a:off x="11764775" y="4376423"/>
            <a:ext cx="391163" cy="464315"/>
            <a:chOff x="0" y="0"/>
            <a:chExt cx="521551" cy="619087"/>
          </a:xfrm>
        </p:grpSpPr>
        <p:sp>
          <p:nvSpPr>
            <p:cNvPr name="Freeform 50" id="50"/>
            <p:cNvSpPr/>
            <p:nvPr/>
          </p:nvSpPr>
          <p:spPr>
            <a:xfrm flipH="false" flipV="false" rot="0">
              <a:off x="0" y="0"/>
              <a:ext cx="521589" cy="619125"/>
            </a:xfrm>
            <a:custGeom>
              <a:avLst/>
              <a:gdLst/>
              <a:ahLst/>
              <a:cxnLst/>
              <a:rect r="r" b="b" t="t" l="l"/>
              <a:pathLst>
                <a:path h="619125" w="521589">
                  <a:moveTo>
                    <a:pt x="0" y="154813"/>
                  </a:moveTo>
                  <a:lnTo>
                    <a:pt x="260731" y="154813"/>
                  </a:lnTo>
                  <a:lnTo>
                    <a:pt x="260731" y="0"/>
                  </a:lnTo>
                  <a:lnTo>
                    <a:pt x="521589" y="309499"/>
                  </a:lnTo>
                  <a:lnTo>
                    <a:pt x="260731" y="619125"/>
                  </a:lnTo>
                  <a:lnTo>
                    <a:pt x="260731" y="464312"/>
                  </a:lnTo>
                  <a:lnTo>
                    <a:pt x="0" y="464312"/>
                  </a:lnTo>
                  <a:close/>
                </a:path>
              </a:pathLst>
            </a:custGeom>
            <a:solidFill>
              <a:srgbClr val="F28C28"/>
            </a:solidFill>
            <a:ln w="25400" cap="sq">
              <a:solidFill>
                <a:srgbClr val="F28C28"/>
              </a:solidFill>
              <a:prstDash val="solid"/>
              <a:miter/>
            </a:ln>
          </p:spPr>
        </p:sp>
      </p:grpSp>
      <p:grpSp>
        <p:nvGrpSpPr>
          <p:cNvPr name="Group 51" id="51"/>
          <p:cNvGrpSpPr/>
          <p:nvPr/>
        </p:nvGrpSpPr>
        <p:grpSpPr>
          <a:xfrm rot="0">
            <a:off x="12167111" y="2547623"/>
            <a:ext cx="2402843" cy="4140203"/>
            <a:chOff x="0" y="0"/>
            <a:chExt cx="3203791" cy="5520271"/>
          </a:xfrm>
        </p:grpSpPr>
        <p:sp>
          <p:nvSpPr>
            <p:cNvPr name="Freeform 52" id="52"/>
            <p:cNvSpPr/>
            <p:nvPr/>
          </p:nvSpPr>
          <p:spPr>
            <a:xfrm flipH="false" flipV="false" rot="0">
              <a:off x="0" y="0"/>
              <a:ext cx="3203702" cy="5520182"/>
            </a:xfrm>
            <a:custGeom>
              <a:avLst/>
              <a:gdLst/>
              <a:ahLst/>
              <a:cxnLst/>
              <a:rect r="r" b="b" t="t" l="l"/>
              <a:pathLst>
                <a:path h="5520182" w="3203702">
                  <a:moveTo>
                    <a:pt x="0" y="197104"/>
                  </a:moveTo>
                  <a:cubicBezTo>
                    <a:pt x="0" y="88265"/>
                    <a:pt x="88265" y="0"/>
                    <a:pt x="197104" y="0"/>
                  </a:cubicBezTo>
                  <a:lnTo>
                    <a:pt x="3006598" y="0"/>
                  </a:lnTo>
                  <a:cubicBezTo>
                    <a:pt x="3115437" y="0"/>
                    <a:pt x="3203702" y="88265"/>
                    <a:pt x="3203702" y="197104"/>
                  </a:cubicBezTo>
                  <a:lnTo>
                    <a:pt x="3203702" y="5323078"/>
                  </a:lnTo>
                  <a:cubicBezTo>
                    <a:pt x="3203702" y="5431917"/>
                    <a:pt x="3115437" y="5520182"/>
                    <a:pt x="3006598" y="5520182"/>
                  </a:cubicBezTo>
                  <a:lnTo>
                    <a:pt x="197104" y="5520182"/>
                  </a:lnTo>
                  <a:cubicBezTo>
                    <a:pt x="88265" y="5520309"/>
                    <a:pt x="0" y="5432044"/>
                    <a:pt x="0" y="5323078"/>
                  </a:cubicBezTo>
                  <a:close/>
                </a:path>
              </a:pathLst>
            </a:custGeom>
            <a:solidFill>
              <a:srgbClr val="EAF0FA"/>
            </a:solidFill>
            <a:ln w="25400" cap="sq">
              <a:solidFill>
                <a:srgbClr val="EAF0FA"/>
              </a:solidFill>
              <a:prstDash val="solid"/>
              <a:miter/>
            </a:ln>
          </p:spPr>
        </p:sp>
      </p:grpSp>
      <p:grpSp>
        <p:nvGrpSpPr>
          <p:cNvPr name="Group 53" id="53"/>
          <p:cNvGrpSpPr/>
          <p:nvPr/>
        </p:nvGrpSpPr>
        <p:grpSpPr>
          <a:xfrm rot="0">
            <a:off x="12349991" y="2767079"/>
            <a:ext cx="756923" cy="756923"/>
            <a:chOff x="0" y="0"/>
            <a:chExt cx="1009231" cy="1009231"/>
          </a:xfrm>
        </p:grpSpPr>
        <p:sp>
          <p:nvSpPr>
            <p:cNvPr name="Freeform 54" id="54"/>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0F2557"/>
            </a:solidFill>
            <a:ln w="25400" cap="sq">
              <a:solidFill>
                <a:srgbClr val="0F2557"/>
              </a:solidFill>
              <a:prstDash val="solid"/>
              <a:miter/>
            </a:ln>
          </p:spPr>
        </p:sp>
      </p:grpSp>
      <p:grpSp>
        <p:nvGrpSpPr>
          <p:cNvPr name="Group 55" id="55"/>
          <p:cNvGrpSpPr/>
          <p:nvPr/>
        </p:nvGrpSpPr>
        <p:grpSpPr>
          <a:xfrm rot="0">
            <a:off x="12362688" y="2779776"/>
            <a:ext cx="731520" cy="731520"/>
            <a:chOff x="0" y="0"/>
            <a:chExt cx="975360" cy="975360"/>
          </a:xfrm>
        </p:grpSpPr>
        <p:sp>
          <p:nvSpPr>
            <p:cNvPr name="Freeform 56" id="56"/>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57" id="57"/>
            <p:cNvSpPr txBox="true"/>
            <p:nvPr/>
          </p:nvSpPr>
          <p:spPr>
            <a:xfrm>
              <a:off x="0" y="-19050"/>
              <a:ext cx="975360" cy="994410"/>
            </a:xfrm>
            <a:prstGeom prst="rect">
              <a:avLst/>
            </a:prstGeom>
          </p:spPr>
          <p:txBody>
            <a:bodyPr anchor="ctr" rtlCol="false" tIns="0" lIns="0" bIns="0" rIns="0"/>
            <a:lstStyle/>
            <a:p>
              <a:pPr algn="ctr">
                <a:lnSpc>
                  <a:spcPts val="3120"/>
                </a:lnSpc>
              </a:pPr>
              <a:r>
                <a:rPr lang="en-US" sz="2600" b="true">
                  <a:solidFill>
                    <a:srgbClr val="FFFFFF"/>
                  </a:solidFill>
                  <a:latin typeface="Arial Bold"/>
                  <a:ea typeface="Arial Bold"/>
                  <a:cs typeface="Arial Bold"/>
                  <a:sym typeface="Arial Bold"/>
                </a:rPr>
                <a:t>5</a:t>
              </a:r>
            </a:p>
          </p:txBody>
        </p:sp>
      </p:grpSp>
      <p:sp>
        <p:nvSpPr>
          <p:cNvPr name="TextBox 58" id="58"/>
          <p:cNvSpPr txBox="true"/>
          <p:nvPr/>
        </p:nvSpPr>
        <p:spPr>
          <a:xfrm rot="0">
            <a:off x="12362688" y="3638550"/>
            <a:ext cx="2048256" cy="2945130"/>
          </a:xfrm>
          <a:prstGeom prst="rect">
            <a:avLst/>
          </a:prstGeom>
        </p:spPr>
        <p:txBody>
          <a:bodyPr anchor="t" rtlCol="false" tIns="0" lIns="0" bIns="0" rIns="0">
            <a:spAutoFit/>
          </a:bodyPr>
          <a:lstStyle/>
          <a:p>
            <a:pPr algn="l">
              <a:lnSpc>
                <a:spcPts val="3120"/>
              </a:lnSpc>
            </a:pPr>
            <a:r>
              <a:rPr lang="en-US" sz="2600" b="true">
                <a:solidFill>
                  <a:srgbClr val="0F2557"/>
                </a:solidFill>
                <a:latin typeface="Arial Bold"/>
                <a:ea typeface="Arial Bold"/>
                <a:cs typeface="Arial Bold"/>
                <a:sym typeface="Arial Bold"/>
              </a:rPr>
              <a:t>Decide</a:t>
            </a:r>
          </a:p>
          <a:p>
            <a:pPr algn="l">
              <a:lnSpc>
                <a:spcPts val="2639"/>
              </a:lnSpc>
            </a:pPr>
            <a:r>
              <a:rPr lang="en-US" sz="2199">
                <a:solidFill>
                  <a:srgbClr val="1B2433"/>
                </a:solidFill>
                <a:latin typeface="Arial"/>
                <a:ea typeface="Arial"/>
                <a:cs typeface="Arial"/>
                <a:sym typeface="Arial"/>
              </a:rPr>
              <a:t>Plans the fix. Urgent first, medium risk re-checked.</a:t>
            </a:r>
          </a:p>
        </p:txBody>
      </p:sp>
      <p:grpSp>
        <p:nvGrpSpPr>
          <p:cNvPr name="Group 59" id="59"/>
          <p:cNvGrpSpPr/>
          <p:nvPr/>
        </p:nvGrpSpPr>
        <p:grpSpPr>
          <a:xfrm rot="0">
            <a:off x="14581127" y="4376423"/>
            <a:ext cx="391163" cy="464315"/>
            <a:chOff x="0" y="0"/>
            <a:chExt cx="521551" cy="619087"/>
          </a:xfrm>
        </p:grpSpPr>
        <p:sp>
          <p:nvSpPr>
            <p:cNvPr name="Freeform 60" id="60"/>
            <p:cNvSpPr/>
            <p:nvPr/>
          </p:nvSpPr>
          <p:spPr>
            <a:xfrm flipH="false" flipV="false" rot="0">
              <a:off x="0" y="0"/>
              <a:ext cx="521589" cy="619125"/>
            </a:xfrm>
            <a:custGeom>
              <a:avLst/>
              <a:gdLst/>
              <a:ahLst/>
              <a:cxnLst/>
              <a:rect r="r" b="b" t="t" l="l"/>
              <a:pathLst>
                <a:path h="619125" w="521589">
                  <a:moveTo>
                    <a:pt x="0" y="154813"/>
                  </a:moveTo>
                  <a:lnTo>
                    <a:pt x="260731" y="154813"/>
                  </a:lnTo>
                  <a:lnTo>
                    <a:pt x="260731" y="0"/>
                  </a:lnTo>
                  <a:lnTo>
                    <a:pt x="521589" y="309499"/>
                  </a:lnTo>
                  <a:lnTo>
                    <a:pt x="260731" y="619125"/>
                  </a:lnTo>
                  <a:lnTo>
                    <a:pt x="260731" y="464312"/>
                  </a:lnTo>
                  <a:lnTo>
                    <a:pt x="0" y="464312"/>
                  </a:lnTo>
                  <a:close/>
                </a:path>
              </a:pathLst>
            </a:custGeom>
            <a:solidFill>
              <a:srgbClr val="F28C28"/>
            </a:solidFill>
            <a:ln w="25400" cap="sq">
              <a:solidFill>
                <a:srgbClr val="F28C28"/>
              </a:solidFill>
              <a:prstDash val="solid"/>
              <a:miter/>
            </a:ln>
          </p:spPr>
        </p:sp>
      </p:grpSp>
      <p:grpSp>
        <p:nvGrpSpPr>
          <p:cNvPr name="Group 61" id="61"/>
          <p:cNvGrpSpPr/>
          <p:nvPr/>
        </p:nvGrpSpPr>
        <p:grpSpPr>
          <a:xfrm rot="0">
            <a:off x="14983463" y="2547623"/>
            <a:ext cx="2402843" cy="4140203"/>
            <a:chOff x="0" y="0"/>
            <a:chExt cx="3203791" cy="5520271"/>
          </a:xfrm>
        </p:grpSpPr>
        <p:sp>
          <p:nvSpPr>
            <p:cNvPr name="Freeform 62" id="62"/>
            <p:cNvSpPr/>
            <p:nvPr/>
          </p:nvSpPr>
          <p:spPr>
            <a:xfrm flipH="false" flipV="false" rot="0">
              <a:off x="0" y="0"/>
              <a:ext cx="3203702" cy="5520182"/>
            </a:xfrm>
            <a:custGeom>
              <a:avLst/>
              <a:gdLst/>
              <a:ahLst/>
              <a:cxnLst/>
              <a:rect r="r" b="b" t="t" l="l"/>
              <a:pathLst>
                <a:path h="5520182" w="3203702">
                  <a:moveTo>
                    <a:pt x="0" y="197104"/>
                  </a:moveTo>
                  <a:cubicBezTo>
                    <a:pt x="0" y="88265"/>
                    <a:pt x="88265" y="0"/>
                    <a:pt x="197104" y="0"/>
                  </a:cubicBezTo>
                  <a:lnTo>
                    <a:pt x="3006598" y="0"/>
                  </a:lnTo>
                  <a:cubicBezTo>
                    <a:pt x="3115437" y="0"/>
                    <a:pt x="3203702" y="88265"/>
                    <a:pt x="3203702" y="197104"/>
                  </a:cubicBezTo>
                  <a:lnTo>
                    <a:pt x="3203702" y="5323078"/>
                  </a:lnTo>
                  <a:cubicBezTo>
                    <a:pt x="3203702" y="5431917"/>
                    <a:pt x="3115437" y="5520182"/>
                    <a:pt x="3006598" y="5520182"/>
                  </a:cubicBezTo>
                  <a:lnTo>
                    <a:pt x="197104" y="5520182"/>
                  </a:lnTo>
                  <a:cubicBezTo>
                    <a:pt x="88265" y="5520309"/>
                    <a:pt x="0" y="5432044"/>
                    <a:pt x="0" y="5323078"/>
                  </a:cubicBezTo>
                  <a:close/>
                </a:path>
              </a:pathLst>
            </a:custGeom>
            <a:solidFill>
              <a:srgbClr val="EAF0FA"/>
            </a:solidFill>
            <a:ln w="25400" cap="sq">
              <a:solidFill>
                <a:srgbClr val="EAF0FA"/>
              </a:solidFill>
              <a:prstDash val="solid"/>
              <a:miter/>
            </a:ln>
          </p:spPr>
        </p:sp>
      </p:grpSp>
      <p:grpSp>
        <p:nvGrpSpPr>
          <p:cNvPr name="Group 63" id="63"/>
          <p:cNvGrpSpPr/>
          <p:nvPr/>
        </p:nvGrpSpPr>
        <p:grpSpPr>
          <a:xfrm rot="0">
            <a:off x="15166343" y="2767079"/>
            <a:ext cx="756923" cy="756923"/>
            <a:chOff x="0" y="0"/>
            <a:chExt cx="1009231" cy="1009231"/>
          </a:xfrm>
        </p:grpSpPr>
        <p:sp>
          <p:nvSpPr>
            <p:cNvPr name="Freeform 64" id="64"/>
            <p:cNvSpPr/>
            <p:nvPr/>
          </p:nvSpPr>
          <p:spPr>
            <a:xfrm flipH="false" flipV="false" rot="0">
              <a:off x="0" y="0"/>
              <a:ext cx="1009269" cy="1009269"/>
            </a:xfrm>
            <a:custGeom>
              <a:avLst/>
              <a:gdLst/>
              <a:ahLst/>
              <a:cxnLst/>
              <a:rect r="r" b="b" t="t" l="l"/>
              <a:pathLst>
                <a:path h="1009269" w="1009269">
                  <a:moveTo>
                    <a:pt x="0" y="504571"/>
                  </a:moveTo>
                  <a:cubicBezTo>
                    <a:pt x="0" y="225933"/>
                    <a:pt x="225933" y="0"/>
                    <a:pt x="504571" y="0"/>
                  </a:cubicBezTo>
                  <a:cubicBezTo>
                    <a:pt x="783209" y="0"/>
                    <a:pt x="1009269" y="225933"/>
                    <a:pt x="1009269" y="504571"/>
                  </a:cubicBezTo>
                  <a:cubicBezTo>
                    <a:pt x="1009269" y="783209"/>
                    <a:pt x="783336" y="1009269"/>
                    <a:pt x="504571" y="1009269"/>
                  </a:cubicBezTo>
                  <a:cubicBezTo>
                    <a:pt x="225806" y="1009269"/>
                    <a:pt x="0" y="783336"/>
                    <a:pt x="0" y="504571"/>
                  </a:cubicBezTo>
                  <a:close/>
                </a:path>
              </a:pathLst>
            </a:custGeom>
            <a:solidFill>
              <a:srgbClr val="1E8E5A"/>
            </a:solidFill>
            <a:ln w="25400" cap="sq">
              <a:solidFill>
                <a:srgbClr val="1E8E5A"/>
              </a:solidFill>
              <a:prstDash val="solid"/>
              <a:miter/>
            </a:ln>
          </p:spPr>
        </p:sp>
      </p:grpSp>
      <p:grpSp>
        <p:nvGrpSpPr>
          <p:cNvPr name="Group 65" id="65"/>
          <p:cNvGrpSpPr/>
          <p:nvPr/>
        </p:nvGrpSpPr>
        <p:grpSpPr>
          <a:xfrm rot="0">
            <a:off x="15179040" y="2779776"/>
            <a:ext cx="731520" cy="731520"/>
            <a:chOff x="0" y="0"/>
            <a:chExt cx="975360" cy="975360"/>
          </a:xfrm>
        </p:grpSpPr>
        <p:sp>
          <p:nvSpPr>
            <p:cNvPr name="Freeform 66" id="66"/>
            <p:cNvSpPr/>
            <p:nvPr/>
          </p:nvSpPr>
          <p:spPr>
            <a:xfrm flipH="false" flipV="false" rot="0">
              <a:off x="0" y="0"/>
              <a:ext cx="975360" cy="975360"/>
            </a:xfrm>
            <a:custGeom>
              <a:avLst/>
              <a:gdLst/>
              <a:ahLst/>
              <a:cxnLst/>
              <a:rect r="r" b="b" t="t" l="l"/>
              <a:pathLst>
                <a:path h="975360" w="975360">
                  <a:moveTo>
                    <a:pt x="0" y="0"/>
                  </a:moveTo>
                  <a:lnTo>
                    <a:pt x="975360" y="0"/>
                  </a:lnTo>
                  <a:lnTo>
                    <a:pt x="975360" y="975360"/>
                  </a:lnTo>
                  <a:lnTo>
                    <a:pt x="0" y="975360"/>
                  </a:lnTo>
                  <a:close/>
                </a:path>
              </a:pathLst>
            </a:custGeom>
            <a:blipFill>
              <a:blip r:embed="rId3">
                <a:alphaModFix amt="0"/>
              </a:blip>
              <a:stretch>
                <a:fillRect l="-78303" t="0" r="-78303" b="0"/>
              </a:stretch>
            </a:blipFill>
          </p:spPr>
        </p:sp>
        <p:sp>
          <p:nvSpPr>
            <p:cNvPr name="TextBox 67" id="67"/>
            <p:cNvSpPr txBox="true"/>
            <p:nvPr/>
          </p:nvSpPr>
          <p:spPr>
            <a:xfrm>
              <a:off x="0" y="-19050"/>
              <a:ext cx="975360" cy="994410"/>
            </a:xfrm>
            <a:prstGeom prst="rect">
              <a:avLst/>
            </a:prstGeom>
          </p:spPr>
          <p:txBody>
            <a:bodyPr anchor="ctr" rtlCol="false" tIns="0" lIns="0" bIns="0" rIns="0"/>
            <a:lstStyle/>
            <a:p>
              <a:pPr algn="ctr">
                <a:lnSpc>
                  <a:spcPts val="3120"/>
                </a:lnSpc>
              </a:pPr>
              <a:r>
                <a:rPr lang="en-US" sz="2600" b="true">
                  <a:solidFill>
                    <a:srgbClr val="FFFFFF"/>
                  </a:solidFill>
                  <a:latin typeface="Arial Bold"/>
                  <a:ea typeface="Arial Bold"/>
                  <a:cs typeface="Arial Bold"/>
                  <a:sym typeface="Arial Bold"/>
                </a:rPr>
                <a:t>6</a:t>
              </a:r>
            </a:p>
          </p:txBody>
        </p:sp>
      </p:grpSp>
      <p:sp>
        <p:nvSpPr>
          <p:cNvPr name="TextBox 68" id="68"/>
          <p:cNvSpPr txBox="true"/>
          <p:nvPr/>
        </p:nvSpPr>
        <p:spPr>
          <a:xfrm rot="0">
            <a:off x="15179040" y="3638550"/>
            <a:ext cx="2048256" cy="2945130"/>
          </a:xfrm>
          <a:prstGeom prst="rect">
            <a:avLst/>
          </a:prstGeom>
        </p:spPr>
        <p:txBody>
          <a:bodyPr anchor="t" rtlCol="false" tIns="0" lIns="0" bIns="0" rIns="0">
            <a:spAutoFit/>
          </a:bodyPr>
          <a:lstStyle/>
          <a:p>
            <a:pPr algn="l">
              <a:lnSpc>
                <a:spcPts val="3120"/>
              </a:lnSpc>
            </a:pPr>
            <a:r>
              <a:rPr lang="en-US" sz="2600" b="true">
                <a:solidFill>
                  <a:srgbClr val="0F2557"/>
                </a:solidFill>
                <a:latin typeface="Arial Bold"/>
                <a:ea typeface="Arial Bold"/>
                <a:cs typeface="Arial Bold"/>
                <a:sym typeface="Arial Bold"/>
              </a:rPr>
              <a:t>Assign</a:t>
            </a:r>
          </a:p>
          <a:p>
            <a:pPr algn="l">
              <a:lnSpc>
                <a:spcPts val="2639"/>
              </a:lnSpc>
            </a:pPr>
            <a:r>
              <a:rPr lang="en-US" sz="2199">
                <a:solidFill>
                  <a:srgbClr val="1B2433"/>
                </a:solidFill>
                <a:latin typeface="Arial"/>
                <a:ea typeface="Arial"/>
                <a:cs typeface="Arial"/>
                <a:sym typeface="Arial"/>
              </a:rPr>
              <a:t>Best-fit engineer under 100% workload gets the ticket.</a:t>
            </a:r>
          </a:p>
        </p:txBody>
      </p:sp>
      <p:grpSp>
        <p:nvGrpSpPr>
          <p:cNvPr name="Group 69" id="69"/>
          <p:cNvGrpSpPr/>
          <p:nvPr/>
        </p:nvGrpSpPr>
        <p:grpSpPr>
          <a:xfrm rot="0">
            <a:off x="901703" y="7028183"/>
            <a:ext cx="16484603" cy="1305563"/>
            <a:chOff x="0" y="0"/>
            <a:chExt cx="21979471" cy="1740751"/>
          </a:xfrm>
        </p:grpSpPr>
        <p:sp>
          <p:nvSpPr>
            <p:cNvPr name="Freeform 70" id="70"/>
            <p:cNvSpPr/>
            <p:nvPr/>
          </p:nvSpPr>
          <p:spPr>
            <a:xfrm flipH="false" flipV="false" rot="0">
              <a:off x="0" y="0"/>
              <a:ext cx="21979510" cy="1740789"/>
            </a:xfrm>
            <a:custGeom>
              <a:avLst/>
              <a:gdLst/>
              <a:ahLst/>
              <a:cxnLst/>
              <a:rect r="r" b="b" t="t" l="l"/>
              <a:pathLst>
                <a:path h="1740789" w="21979510">
                  <a:moveTo>
                    <a:pt x="0" y="199009"/>
                  </a:moveTo>
                  <a:cubicBezTo>
                    <a:pt x="0" y="89027"/>
                    <a:pt x="89027" y="0"/>
                    <a:pt x="199009" y="0"/>
                  </a:cubicBezTo>
                  <a:lnTo>
                    <a:pt x="21780500" y="0"/>
                  </a:lnTo>
                  <a:cubicBezTo>
                    <a:pt x="21890355" y="0"/>
                    <a:pt x="21979510" y="89027"/>
                    <a:pt x="21979510" y="199009"/>
                  </a:cubicBezTo>
                  <a:lnTo>
                    <a:pt x="21979510" y="1541780"/>
                  </a:lnTo>
                  <a:cubicBezTo>
                    <a:pt x="21979510" y="1651635"/>
                    <a:pt x="21890482" y="1740789"/>
                    <a:pt x="21780500" y="1740789"/>
                  </a:cubicBezTo>
                  <a:lnTo>
                    <a:pt x="199009" y="1740789"/>
                  </a:lnTo>
                  <a:cubicBezTo>
                    <a:pt x="89027" y="1740789"/>
                    <a:pt x="0" y="1651635"/>
                    <a:pt x="0" y="1541780"/>
                  </a:cubicBezTo>
                  <a:close/>
                </a:path>
              </a:pathLst>
            </a:custGeom>
            <a:solidFill>
              <a:srgbClr val="FDF1E3"/>
            </a:solidFill>
            <a:ln w="25400" cap="sq">
              <a:solidFill>
                <a:srgbClr val="FDF1E3"/>
              </a:solidFill>
              <a:prstDash val="solid"/>
              <a:miter/>
            </a:ln>
          </p:spPr>
        </p:sp>
      </p:grpSp>
      <p:grpSp>
        <p:nvGrpSpPr>
          <p:cNvPr name="Group 71" id="71"/>
          <p:cNvGrpSpPr/>
          <p:nvPr/>
        </p:nvGrpSpPr>
        <p:grpSpPr>
          <a:xfrm rot="0">
            <a:off x="1280160" y="7040880"/>
            <a:ext cx="15727680" cy="1280160"/>
            <a:chOff x="0" y="0"/>
            <a:chExt cx="20970240" cy="1706880"/>
          </a:xfrm>
        </p:grpSpPr>
        <p:sp>
          <p:nvSpPr>
            <p:cNvPr name="Freeform 72" id="72"/>
            <p:cNvSpPr/>
            <p:nvPr/>
          </p:nvSpPr>
          <p:spPr>
            <a:xfrm flipH="false" flipV="false" rot="0">
              <a:off x="0" y="0"/>
              <a:ext cx="20970239" cy="1706880"/>
            </a:xfrm>
            <a:custGeom>
              <a:avLst/>
              <a:gdLst/>
              <a:ahLst/>
              <a:cxnLst/>
              <a:rect r="r" b="b" t="t" l="l"/>
              <a:pathLst>
                <a:path h="1706880" w="20970239">
                  <a:moveTo>
                    <a:pt x="0" y="0"/>
                  </a:moveTo>
                  <a:lnTo>
                    <a:pt x="20970239" y="0"/>
                  </a:lnTo>
                  <a:lnTo>
                    <a:pt x="20970239" y="1706880"/>
                  </a:lnTo>
                  <a:lnTo>
                    <a:pt x="0" y="1706880"/>
                  </a:lnTo>
                  <a:close/>
                </a:path>
              </a:pathLst>
            </a:custGeom>
            <a:blipFill>
              <a:blip r:embed="rId3">
                <a:alphaModFix amt="0"/>
              </a:blip>
              <a:stretch>
                <a:fillRect l="0" t="-189387" r="0" b="-189387"/>
              </a:stretch>
            </a:blipFill>
          </p:spPr>
        </p:sp>
        <p:sp>
          <p:nvSpPr>
            <p:cNvPr name="TextBox 73" id="73"/>
            <p:cNvSpPr txBox="true"/>
            <p:nvPr/>
          </p:nvSpPr>
          <p:spPr>
            <a:xfrm>
              <a:off x="0" y="-9525"/>
              <a:ext cx="20970240" cy="1716405"/>
            </a:xfrm>
            <a:prstGeom prst="rect">
              <a:avLst/>
            </a:prstGeom>
          </p:spPr>
          <p:txBody>
            <a:bodyPr anchor="ctr" rtlCol="false" tIns="0" lIns="0" bIns="0" rIns="0"/>
            <a:lstStyle/>
            <a:p>
              <a:pPr algn="l">
                <a:lnSpc>
                  <a:spcPts val="2999"/>
                </a:lnSpc>
              </a:pPr>
              <a:r>
                <a:rPr lang="en-US" sz="2499" b="true">
                  <a:solidFill>
                    <a:srgbClr val="F28C28"/>
                  </a:solidFill>
                  <a:latin typeface="Arial Bold"/>
                  <a:ea typeface="Arial Bold"/>
                  <a:cs typeface="Arial Bold"/>
                  <a:sym typeface="Arial Bold"/>
                </a:rPr>
                <a:t>Feedback loop  </a:t>
              </a:r>
              <a:r>
                <a:rPr lang="en-US" sz="2499">
                  <a:solidFill>
                    <a:srgbClr val="1B2433"/>
                  </a:solidFill>
                  <a:latin typeface="Arial"/>
                  <a:ea typeface="Arial"/>
                  <a:cs typeface="Arial"/>
                  <a:sym typeface="Arial"/>
                </a:rPr>
                <a:t>When the engineer finishes, the case is saved to long-term memory, so the next similar problem starts smarter.</a:t>
              </a:r>
            </a:p>
          </p:txBody>
        </p:sp>
      </p:grpSp>
      <p:grpSp>
        <p:nvGrpSpPr>
          <p:cNvPr name="Group 74" id="74"/>
          <p:cNvGrpSpPr/>
          <p:nvPr/>
        </p:nvGrpSpPr>
        <p:grpSpPr>
          <a:xfrm rot="0">
            <a:off x="901703" y="8491223"/>
            <a:ext cx="16484603" cy="848363"/>
            <a:chOff x="0" y="0"/>
            <a:chExt cx="21979471" cy="1131151"/>
          </a:xfrm>
        </p:grpSpPr>
        <p:sp>
          <p:nvSpPr>
            <p:cNvPr name="Freeform 75" id="75"/>
            <p:cNvSpPr/>
            <p:nvPr/>
          </p:nvSpPr>
          <p:spPr>
            <a:xfrm flipH="false" flipV="false" rot="0">
              <a:off x="0" y="0"/>
              <a:ext cx="21979382" cy="1131062"/>
            </a:xfrm>
            <a:custGeom>
              <a:avLst/>
              <a:gdLst/>
              <a:ahLst/>
              <a:cxnLst/>
              <a:rect r="r" b="b" t="t" l="l"/>
              <a:pathLst>
                <a:path h="1131062" w="21979382">
                  <a:moveTo>
                    <a:pt x="0" y="201041"/>
                  </a:moveTo>
                  <a:cubicBezTo>
                    <a:pt x="0" y="90043"/>
                    <a:pt x="90043" y="0"/>
                    <a:pt x="201041" y="0"/>
                  </a:cubicBezTo>
                  <a:lnTo>
                    <a:pt x="21778340" y="0"/>
                  </a:lnTo>
                  <a:cubicBezTo>
                    <a:pt x="21889465" y="0"/>
                    <a:pt x="21979382" y="90043"/>
                    <a:pt x="21979382" y="201041"/>
                  </a:cubicBezTo>
                  <a:lnTo>
                    <a:pt x="21979382" y="930021"/>
                  </a:lnTo>
                  <a:cubicBezTo>
                    <a:pt x="21979382" y="1041146"/>
                    <a:pt x="21889338" y="1131062"/>
                    <a:pt x="21778340" y="1131062"/>
                  </a:cubicBezTo>
                  <a:lnTo>
                    <a:pt x="201041" y="1131062"/>
                  </a:lnTo>
                  <a:cubicBezTo>
                    <a:pt x="90043" y="1131189"/>
                    <a:pt x="0" y="1041146"/>
                    <a:pt x="0" y="930021"/>
                  </a:cubicBezTo>
                  <a:close/>
                </a:path>
              </a:pathLst>
            </a:custGeom>
            <a:solidFill>
              <a:srgbClr val="E3F4EB"/>
            </a:solidFill>
            <a:ln w="25400" cap="sq">
              <a:solidFill>
                <a:srgbClr val="E3F4EB"/>
              </a:solidFill>
              <a:prstDash val="solid"/>
              <a:miter/>
            </a:ln>
          </p:spPr>
        </p:sp>
      </p:grpSp>
      <p:grpSp>
        <p:nvGrpSpPr>
          <p:cNvPr name="Group 76" id="76"/>
          <p:cNvGrpSpPr/>
          <p:nvPr/>
        </p:nvGrpSpPr>
        <p:grpSpPr>
          <a:xfrm rot="0">
            <a:off x="1280160" y="8503920"/>
            <a:ext cx="15727680" cy="822960"/>
            <a:chOff x="0" y="0"/>
            <a:chExt cx="20970240" cy="1097280"/>
          </a:xfrm>
        </p:grpSpPr>
        <p:sp>
          <p:nvSpPr>
            <p:cNvPr name="Freeform 77" id="77"/>
            <p:cNvSpPr/>
            <p:nvPr/>
          </p:nvSpPr>
          <p:spPr>
            <a:xfrm flipH="false" flipV="false" rot="0">
              <a:off x="0" y="0"/>
              <a:ext cx="20970239" cy="1097280"/>
            </a:xfrm>
            <a:custGeom>
              <a:avLst/>
              <a:gdLst/>
              <a:ahLst/>
              <a:cxnLst/>
              <a:rect r="r" b="b" t="t" l="l"/>
              <a:pathLst>
                <a:path h="1097280" w="20970239">
                  <a:moveTo>
                    <a:pt x="0" y="0"/>
                  </a:moveTo>
                  <a:lnTo>
                    <a:pt x="20970239" y="0"/>
                  </a:lnTo>
                  <a:lnTo>
                    <a:pt x="20970239" y="1097280"/>
                  </a:lnTo>
                  <a:lnTo>
                    <a:pt x="0" y="1097280"/>
                  </a:lnTo>
                  <a:close/>
                </a:path>
              </a:pathLst>
            </a:custGeom>
            <a:blipFill>
              <a:blip r:embed="rId3">
                <a:alphaModFix amt="0"/>
              </a:blip>
              <a:stretch>
                <a:fillRect l="0" t="-322380" r="0" b="-322380"/>
              </a:stretch>
            </a:blipFill>
          </p:spPr>
        </p:sp>
        <p:sp>
          <p:nvSpPr>
            <p:cNvPr name="TextBox 78" id="78"/>
            <p:cNvSpPr txBox="true"/>
            <p:nvPr/>
          </p:nvSpPr>
          <p:spPr>
            <a:xfrm>
              <a:off x="0" y="-9525"/>
              <a:ext cx="20970240" cy="1106805"/>
            </a:xfrm>
            <a:prstGeom prst="rect">
              <a:avLst/>
            </a:prstGeom>
          </p:spPr>
          <p:txBody>
            <a:bodyPr anchor="ctr" rtlCol="false" tIns="0" lIns="0" bIns="0" rIns="0"/>
            <a:lstStyle/>
            <a:p>
              <a:pPr algn="l">
                <a:lnSpc>
                  <a:spcPts val="2999"/>
                </a:lnSpc>
              </a:pPr>
              <a:r>
                <a:rPr lang="en-US" sz="2499" b="true">
                  <a:solidFill>
                    <a:srgbClr val="1E8E5A"/>
                  </a:solidFill>
                  <a:latin typeface="Arial Bold"/>
                  <a:ea typeface="Arial Bold"/>
                  <a:cs typeface="Arial Bold"/>
                  <a:sym typeface="Arial Bold"/>
                </a:rPr>
                <a:t>Just a question?  </a:t>
              </a:r>
              <a:r>
                <a:rPr lang="en-US" sz="2499">
                  <a:solidFill>
                    <a:srgbClr val="1B2433"/>
                  </a:solidFill>
                  <a:latin typeface="Arial"/>
                  <a:ea typeface="Arial"/>
                  <a:cs typeface="Arial"/>
                  <a:sym typeface="Arial"/>
                </a:rPr>
                <a:t>It is answered directly and no engineer is disturbed.</a:t>
              </a:r>
            </a:p>
          </p:txBody>
        </p:sp>
      </p:grpSp>
      <p:sp>
        <p:nvSpPr>
          <p:cNvPr name="TextBox 79" id="79"/>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4</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155055"/>
            <a:chOff x="0" y="0"/>
            <a:chExt cx="21945600" cy="1540074"/>
          </a:xfrm>
        </p:grpSpPr>
        <p:sp>
          <p:nvSpPr>
            <p:cNvPr name="Freeform 3" id="3"/>
            <p:cNvSpPr/>
            <p:nvPr/>
          </p:nvSpPr>
          <p:spPr>
            <a:xfrm flipH="false" flipV="false" rot="0">
              <a:off x="0" y="0"/>
              <a:ext cx="21945600" cy="1540074"/>
            </a:xfrm>
            <a:custGeom>
              <a:avLst/>
              <a:gdLst/>
              <a:ahLst/>
              <a:cxnLst/>
              <a:rect r="r" b="b" t="t" l="l"/>
              <a:pathLst>
                <a:path h="1540074" w="21945600">
                  <a:moveTo>
                    <a:pt x="0" y="0"/>
                  </a:moveTo>
                  <a:lnTo>
                    <a:pt x="21945600" y="0"/>
                  </a:lnTo>
                  <a:lnTo>
                    <a:pt x="21945600" y="1540074"/>
                  </a:lnTo>
                  <a:lnTo>
                    <a:pt x="0" y="1540074"/>
                  </a:lnTo>
                  <a:close/>
                </a:path>
              </a:pathLst>
            </a:custGeom>
            <a:blipFill>
              <a:blip r:embed="rId3">
                <a:alphaModFix amt="0"/>
              </a:blip>
              <a:stretch>
                <a:fillRect l="0" t="-230157" r="0" b="-225155"/>
              </a:stretch>
            </a:blipFill>
          </p:spPr>
        </p:sp>
        <p:sp>
          <p:nvSpPr>
            <p:cNvPr name="TextBox 4" id="4"/>
            <p:cNvSpPr txBox="true"/>
            <p:nvPr/>
          </p:nvSpPr>
          <p:spPr>
            <a:xfrm>
              <a:off x="0" y="-38100"/>
              <a:ext cx="21945600" cy="1578174"/>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Multi-Agent System and Diagnostic Tools</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9 helpers, each with one clear job.</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901703" y="2456183"/>
            <a:ext cx="7980683" cy="793499"/>
            <a:chOff x="0" y="0"/>
            <a:chExt cx="10640911" cy="1057999"/>
          </a:xfrm>
        </p:grpSpPr>
        <p:sp>
          <p:nvSpPr>
            <p:cNvPr name="Freeform 12" id="12"/>
            <p:cNvSpPr/>
            <p:nvPr/>
          </p:nvSpPr>
          <p:spPr>
            <a:xfrm flipH="false" flipV="false" rot="0">
              <a:off x="0" y="0"/>
              <a:ext cx="10640949" cy="1058037"/>
            </a:xfrm>
            <a:custGeom>
              <a:avLst/>
              <a:gdLst/>
              <a:ahLst/>
              <a:cxnLst/>
              <a:rect r="r" b="b" t="t" l="l"/>
              <a:pathLst>
                <a:path h="1058037" w="10640949">
                  <a:moveTo>
                    <a:pt x="0" y="201549"/>
                  </a:moveTo>
                  <a:cubicBezTo>
                    <a:pt x="0" y="90170"/>
                    <a:pt x="90170" y="0"/>
                    <a:pt x="201549" y="0"/>
                  </a:cubicBezTo>
                  <a:lnTo>
                    <a:pt x="10439400" y="0"/>
                  </a:lnTo>
                  <a:cubicBezTo>
                    <a:pt x="10550652" y="0"/>
                    <a:pt x="10640949" y="90170"/>
                    <a:pt x="10640949" y="201549"/>
                  </a:cubicBezTo>
                  <a:lnTo>
                    <a:pt x="10640949" y="856488"/>
                  </a:lnTo>
                  <a:cubicBezTo>
                    <a:pt x="10640949" y="967740"/>
                    <a:pt x="10550779" y="1058037"/>
                    <a:pt x="10439400" y="1058037"/>
                  </a:cubicBezTo>
                  <a:lnTo>
                    <a:pt x="201549" y="1058037"/>
                  </a:lnTo>
                  <a:cubicBezTo>
                    <a:pt x="90170" y="1058037"/>
                    <a:pt x="0" y="967740"/>
                    <a:pt x="0" y="856488"/>
                  </a:cubicBezTo>
                  <a:close/>
                </a:path>
              </a:pathLst>
            </a:custGeom>
            <a:solidFill>
              <a:srgbClr val="0F2557"/>
            </a:solidFill>
            <a:ln w="25400" cap="sq">
              <a:solidFill>
                <a:srgbClr val="0F2557"/>
              </a:solidFill>
              <a:prstDash val="solid"/>
              <a:miter/>
            </a:ln>
          </p:spPr>
        </p:sp>
      </p:grpSp>
      <p:grpSp>
        <p:nvGrpSpPr>
          <p:cNvPr name="Group 13" id="13"/>
          <p:cNvGrpSpPr/>
          <p:nvPr/>
        </p:nvGrpSpPr>
        <p:grpSpPr>
          <a:xfrm rot="0">
            <a:off x="1280160" y="2468880"/>
            <a:ext cx="7223760" cy="768096"/>
            <a:chOff x="0" y="0"/>
            <a:chExt cx="9631680" cy="1024128"/>
          </a:xfrm>
        </p:grpSpPr>
        <p:sp>
          <p:nvSpPr>
            <p:cNvPr name="Freeform 14" id="14"/>
            <p:cNvSpPr/>
            <p:nvPr/>
          </p:nvSpPr>
          <p:spPr>
            <a:xfrm flipH="false" flipV="false" rot="0">
              <a:off x="0" y="0"/>
              <a:ext cx="9631680" cy="1024128"/>
            </a:xfrm>
            <a:custGeom>
              <a:avLst/>
              <a:gdLst/>
              <a:ahLst/>
              <a:cxnLst/>
              <a:rect r="r" b="b" t="t" l="l"/>
              <a:pathLst>
                <a:path h="1024128" w="9631680">
                  <a:moveTo>
                    <a:pt x="0" y="0"/>
                  </a:moveTo>
                  <a:lnTo>
                    <a:pt x="9631680" y="0"/>
                  </a:lnTo>
                  <a:lnTo>
                    <a:pt x="9631680" y="1024128"/>
                  </a:lnTo>
                  <a:lnTo>
                    <a:pt x="0" y="1024128"/>
                  </a:lnTo>
                  <a:close/>
                </a:path>
              </a:pathLst>
            </a:custGeom>
            <a:blipFill>
              <a:blip r:embed="rId3">
                <a:alphaModFix amt="0"/>
              </a:blip>
              <a:stretch>
                <a:fillRect l="0" t="-133252" r="0" b="-133252"/>
              </a:stretch>
            </a:blipFill>
          </p:spPr>
        </p:sp>
        <p:sp>
          <p:nvSpPr>
            <p:cNvPr name="TextBox 15" id="15"/>
            <p:cNvSpPr txBox="true"/>
            <p:nvPr/>
          </p:nvSpPr>
          <p:spPr>
            <a:xfrm>
              <a:off x="0" y="-19050"/>
              <a:ext cx="9631680" cy="1043178"/>
            </a:xfrm>
            <a:prstGeom prst="rect">
              <a:avLst/>
            </a:prstGeom>
          </p:spPr>
          <p:txBody>
            <a:bodyPr anchor="ctr" rtlCol="false" tIns="0" lIns="0" bIns="0" rIns="0"/>
            <a:lstStyle/>
            <a:p>
              <a:pPr algn="l">
                <a:lnSpc>
                  <a:spcPts val="3359"/>
                </a:lnSpc>
              </a:pPr>
              <a:r>
                <a:rPr lang="en-US" sz="2799" b="true">
                  <a:solidFill>
                    <a:srgbClr val="FFFFFF"/>
                  </a:solidFill>
                  <a:latin typeface="Arial Bold"/>
                  <a:ea typeface="Arial Bold"/>
                  <a:cs typeface="Arial Bold"/>
                  <a:sym typeface="Arial Bold"/>
                </a:rPr>
                <a:t>Specialized Agents Working Together</a:t>
              </a:r>
            </a:p>
          </p:txBody>
        </p:sp>
      </p:grpSp>
      <p:grpSp>
        <p:nvGrpSpPr>
          <p:cNvPr name="Group 16" id="16"/>
          <p:cNvGrpSpPr/>
          <p:nvPr/>
        </p:nvGrpSpPr>
        <p:grpSpPr>
          <a:xfrm rot="0">
            <a:off x="901703" y="3462023"/>
            <a:ext cx="8242297" cy="5371086"/>
            <a:chOff x="0" y="0"/>
            <a:chExt cx="10640911" cy="6934140"/>
          </a:xfrm>
        </p:grpSpPr>
        <p:sp>
          <p:nvSpPr>
            <p:cNvPr name="Freeform 17" id="17"/>
            <p:cNvSpPr/>
            <p:nvPr/>
          </p:nvSpPr>
          <p:spPr>
            <a:xfrm flipH="false" flipV="false" rot="0">
              <a:off x="0" y="0"/>
              <a:ext cx="10640949" cy="6934178"/>
            </a:xfrm>
            <a:custGeom>
              <a:avLst/>
              <a:gdLst/>
              <a:ahLst/>
              <a:cxnLst/>
              <a:rect r="r" b="b" t="t" l="l"/>
              <a:pathLst>
                <a:path h="6934178" w="10640949">
                  <a:moveTo>
                    <a:pt x="0" y="770640"/>
                  </a:moveTo>
                  <a:cubicBezTo>
                    <a:pt x="0" y="344967"/>
                    <a:pt x="89027" y="0"/>
                    <a:pt x="198882" y="0"/>
                  </a:cubicBezTo>
                  <a:lnTo>
                    <a:pt x="10442067" y="0"/>
                  </a:lnTo>
                  <a:cubicBezTo>
                    <a:pt x="10551923" y="0"/>
                    <a:pt x="10640949" y="344967"/>
                    <a:pt x="10640949" y="770640"/>
                  </a:cubicBezTo>
                  <a:lnTo>
                    <a:pt x="10640949" y="6163647"/>
                  </a:lnTo>
                  <a:cubicBezTo>
                    <a:pt x="10640949" y="6589320"/>
                    <a:pt x="10551923" y="6934178"/>
                    <a:pt x="10442067" y="6934178"/>
                  </a:cubicBezTo>
                  <a:lnTo>
                    <a:pt x="198882" y="6934178"/>
                  </a:lnTo>
                  <a:cubicBezTo>
                    <a:pt x="89027" y="6934178"/>
                    <a:pt x="0" y="6589320"/>
                    <a:pt x="0" y="6163647"/>
                  </a:cubicBezTo>
                  <a:close/>
                </a:path>
              </a:pathLst>
            </a:custGeom>
            <a:solidFill>
              <a:srgbClr val="EAF0FA"/>
            </a:solidFill>
            <a:ln w="25400" cap="sq">
              <a:solidFill>
                <a:srgbClr val="EAF0FA"/>
              </a:solidFill>
              <a:prstDash val="solid"/>
              <a:miter/>
            </a:ln>
          </p:spPr>
        </p:sp>
      </p:grpSp>
      <p:grpSp>
        <p:nvGrpSpPr>
          <p:cNvPr name="Group 18" id="18"/>
          <p:cNvGrpSpPr/>
          <p:nvPr/>
        </p:nvGrpSpPr>
        <p:grpSpPr>
          <a:xfrm rot="0">
            <a:off x="9405623" y="2456183"/>
            <a:ext cx="7980683" cy="793499"/>
            <a:chOff x="0" y="0"/>
            <a:chExt cx="10640911" cy="1057999"/>
          </a:xfrm>
        </p:grpSpPr>
        <p:sp>
          <p:nvSpPr>
            <p:cNvPr name="Freeform 19" id="19"/>
            <p:cNvSpPr/>
            <p:nvPr/>
          </p:nvSpPr>
          <p:spPr>
            <a:xfrm flipH="false" flipV="false" rot="0">
              <a:off x="0" y="0"/>
              <a:ext cx="10640949" cy="1058037"/>
            </a:xfrm>
            <a:custGeom>
              <a:avLst/>
              <a:gdLst/>
              <a:ahLst/>
              <a:cxnLst/>
              <a:rect r="r" b="b" t="t" l="l"/>
              <a:pathLst>
                <a:path h="1058037" w="10640949">
                  <a:moveTo>
                    <a:pt x="0" y="201549"/>
                  </a:moveTo>
                  <a:cubicBezTo>
                    <a:pt x="0" y="90170"/>
                    <a:pt x="90170" y="0"/>
                    <a:pt x="201549" y="0"/>
                  </a:cubicBezTo>
                  <a:lnTo>
                    <a:pt x="10439400" y="0"/>
                  </a:lnTo>
                  <a:cubicBezTo>
                    <a:pt x="10550652" y="0"/>
                    <a:pt x="10640949" y="90170"/>
                    <a:pt x="10640949" y="201549"/>
                  </a:cubicBezTo>
                  <a:lnTo>
                    <a:pt x="10640949" y="856488"/>
                  </a:lnTo>
                  <a:cubicBezTo>
                    <a:pt x="10640949" y="967740"/>
                    <a:pt x="10550779" y="1058037"/>
                    <a:pt x="10439400" y="1058037"/>
                  </a:cubicBezTo>
                  <a:lnTo>
                    <a:pt x="201549" y="1058037"/>
                  </a:lnTo>
                  <a:cubicBezTo>
                    <a:pt x="90170" y="1058037"/>
                    <a:pt x="0" y="967740"/>
                    <a:pt x="0" y="856488"/>
                  </a:cubicBezTo>
                  <a:close/>
                </a:path>
              </a:pathLst>
            </a:custGeom>
            <a:solidFill>
              <a:srgbClr val="1E8E5A"/>
            </a:solidFill>
            <a:ln w="25400" cap="sq">
              <a:solidFill>
                <a:srgbClr val="1E8E5A"/>
              </a:solidFill>
              <a:prstDash val="solid"/>
              <a:miter/>
            </a:ln>
          </p:spPr>
        </p:sp>
      </p:grpSp>
      <p:grpSp>
        <p:nvGrpSpPr>
          <p:cNvPr name="Group 20" id="20"/>
          <p:cNvGrpSpPr/>
          <p:nvPr/>
        </p:nvGrpSpPr>
        <p:grpSpPr>
          <a:xfrm rot="0">
            <a:off x="9784080" y="2468880"/>
            <a:ext cx="7223760" cy="768096"/>
            <a:chOff x="0" y="0"/>
            <a:chExt cx="9631680" cy="1024128"/>
          </a:xfrm>
        </p:grpSpPr>
        <p:sp>
          <p:nvSpPr>
            <p:cNvPr name="Freeform 21" id="21"/>
            <p:cNvSpPr/>
            <p:nvPr/>
          </p:nvSpPr>
          <p:spPr>
            <a:xfrm flipH="false" flipV="false" rot="0">
              <a:off x="0" y="0"/>
              <a:ext cx="9631680" cy="1024128"/>
            </a:xfrm>
            <a:custGeom>
              <a:avLst/>
              <a:gdLst/>
              <a:ahLst/>
              <a:cxnLst/>
              <a:rect r="r" b="b" t="t" l="l"/>
              <a:pathLst>
                <a:path h="1024128" w="9631680">
                  <a:moveTo>
                    <a:pt x="0" y="0"/>
                  </a:moveTo>
                  <a:lnTo>
                    <a:pt x="9631680" y="0"/>
                  </a:lnTo>
                  <a:lnTo>
                    <a:pt x="9631680" y="1024128"/>
                  </a:lnTo>
                  <a:lnTo>
                    <a:pt x="0" y="1024128"/>
                  </a:lnTo>
                  <a:close/>
                </a:path>
              </a:pathLst>
            </a:custGeom>
            <a:blipFill>
              <a:blip r:embed="rId3">
                <a:alphaModFix amt="0"/>
              </a:blip>
              <a:stretch>
                <a:fillRect l="0" t="-133252" r="0" b="-133252"/>
              </a:stretch>
            </a:blipFill>
          </p:spPr>
        </p:sp>
        <p:sp>
          <p:nvSpPr>
            <p:cNvPr name="TextBox 22" id="22"/>
            <p:cNvSpPr txBox="true"/>
            <p:nvPr/>
          </p:nvSpPr>
          <p:spPr>
            <a:xfrm>
              <a:off x="0" y="-19050"/>
              <a:ext cx="9631680" cy="1043178"/>
            </a:xfrm>
            <a:prstGeom prst="rect">
              <a:avLst/>
            </a:prstGeom>
          </p:spPr>
          <p:txBody>
            <a:bodyPr anchor="ctr" rtlCol="false" tIns="0" lIns="0" bIns="0" rIns="0"/>
            <a:lstStyle/>
            <a:p>
              <a:pPr algn="l">
                <a:lnSpc>
                  <a:spcPts val="3359"/>
                </a:lnSpc>
              </a:pPr>
              <a:r>
                <a:rPr lang="en-US" sz="2799" b="true">
                  <a:solidFill>
                    <a:srgbClr val="FFFFFF"/>
                  </a:solidFill>
                  <a:latin typeface="Arial Bold"/>
                  <a:ea typeface="Arial Bold"/>
                  <a:cs typeface="Arial Bold"/>
                  <a:sym typeface="Arial Bold"/>
                </a:rPr>
                <a:t>Seven</a:t>
              </a:r>
              <a:r>
                <a:rPr lang="en-US" sz="2799" b="true">
                  <a:solidFill>
                    <a:srgbClr val="FFFFFF"/>
                  </a:solidFill>
                  <a:latin typeface="Arial Bold"/>
                  <a:ea typeface="Arial Bold"/>
                  <a:cs typeface="Arial Bold"/>
                  <a:sym typeface="Arial Bold"/>
                </a:rPr>
                <a:t> Integrated Tools</a:t>
              </a:r>
            </a:p>
          </p:txBody>
        </p:sp>
      </p:grpSp>
      <p:grpSp>
        <p:nvGrpSpPr>
          <p:cNvPr name="Group 23" id="23"/>
          <p:cNvGrpSpPr/>
          <p:nvPr/>
        </p:nvGrpSpPr>
        <p:grpSpPr>
          <a:xfrm rot="0">
            <a:off x="9405623" y="3462023"/>
            <a:ext cx="7980683" cy="5371086"/>
            <a:chOff x="0" y="0"/>
            <a:chExt cx="10640911" cy="7161447"/>
          </a:xfrm>
        </p:grpSpPr>
        <p:sp>
          <p:nvSpPr>
            <p:cNvPr name="Freeform 24" id="24"/>
            <p:cNvSpPr/>
            <p:nvPr/>
          </p:nvSpPr>
          <p:spPr>
            <a:xfrm flipH="false" flipV="false" rot="0">
              <a:off x="0" y="0"/>
              <a:ext cx="10640949" cy="7161485"/>
            </a:xfrm>
            <a:custGeom>
              <a:avLst/>
              <a:gdLst/>
              <a:ahLst/>
              <a:cxnLst/>
              <a:rect r="r" b="b" t="t" l="l"/>
              <a:pathLst>
                <a:path h="7161485" w="10640949">
                  <a:moveTo>
                    <a:pt x="0" y="1061284"/>
                  </a:moveTo>
                  <a:cubicBezTo>
                    <a:pt x="0" y="474750"/>
                    <a:pt x="89535" y="0"/>
                    <a:pt x="200152" y="0"/>
                  </a:cubicBezTo>
                  <a:lnTo>
                    <a:pt x="10440797" y="0"/>
                  </a:lnTo>
                  <a:cubicBezTo>
                    <a:pt x="10551287" y="0"/>
                    <a:pt x="10640949" y="474750"/>
                    <a:pt x="10640949" y="1061284"/>
                  </a:cubicBezTo>
                  <a:lnTo>
                    <a:pt x="10640949" y="6100365"/>
                  </a:lnTo>
                  <a:cubicBezTo>
                    <a:pt x="10640949" y="6686226"/>
                    <a:pt x="10551414" y="7161485"/>
                    <a:pt x="10440797" y="7161485"/>
                  </a:cubicBezTo>
                  <a:lnTo>
                    <a:pt x="200152" y="7161485"/>
                  </a:lnTo>
                  <a:cubicBezTo>
                    <a:pt x="89535" y="7161485"/>
                    <a:pt x="0" y="6686227"/>
                    <a:pt x="0" y="6100365"/>
                  </a:cubicBezTo>
                  <a:close/>
                </a:path>
              </a:pathLst>
            </a:custGeom>
            <a:solidFill>
              <a:srgbClr val="EAF0FA"/>
            </a:solidFill>
            <a:ln w="25400" cap="sq">
              <a:solidFill>
                <a:srgbClr val="EAF0FA"/>
              </a:solidFill>
              <a:prstDash val="solid"/>
              <a:miter/>
            </a:ln>
          </p:spPr>
        </p:sp>
      </p:grpSp>
      <p:sp>
        <p:nvSpPr>
          <p:cNvPr name="TextBox 25" id="25"/>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6</a:t>
            </a:r>
          </a:p>
        </p:txBody>
      </p:sp>
      <p:sp>
        <p:nvSpPr>
          <p:cNvPr name="TextBox 26" id="26"/>
          <p:cNvSpPr txBox="true"/>
          <p:nvPr/>
        </p:nvSpPr>
        <p:spPr>
          <a:xfrm rot="0">
            <a:off x="1117263" y="3770410"/>
            <a:ext cx="7549553" cy="4095750"/>
          </a:xfrm>
          <a:prstGeom prst="rect">
            <a:avLst/>
          </a:prstGeom>
        </p:spPr>
        <p:txBody>
          <a:bodyPr anchor="t" rtlCol="false" tIns="0" lIns="0" bIns="0" rIns="0">
            <a:spAutoFit/>
          </a:bodyPr>
          <a:lstStyle/>
          <a:p>
            <a:pPr algn="l" marL="532618" indent="-266309" lvl="1">
              <a:lnSpc>
                <a:spcPts val="2960"/>
              </a:lnSpc>
              <a:spcBef>
                <a:spcPct val="0"/>
              </a:spcBef>
              <a:buFont typeface="Arial"/>
              <a:buChar char="•"/>
            </a:pPr>
            <a:r>
              <a:rPr lang="en-US" sz="2466">
                <a:solidFill>
                  <a:srgbClr val="000000"/>
                </a:solidFill>
                <a:latin typeface="Arial"/>
                <a:ea typeface="Arial"/>
                <a:cs typeface="Arial"/>
                <a:sym typeface="Arial"/>
              </a:rPr>
              <a:t>Planner Agent: Classifies requests and prepares investigation plans.</a:t>
            </a:r>
          </a:p>
          <a:p>
            <a:pPr algn="l" marL="532618" indent="-266309" lvl="1">
              <a:lnSpc>
                <a:spcPts val="2960"/>
              </a:lnSpc>
              <a:spcBef>
                <a:spcPct val="0"/>
              </a:spcBef>
              <a:buFont typeface="Arial"/>
              <a:buChar char="•"/>
            </a:pPr>
            <a:r>
              <a:rPr lang="en-US" sz="2466">
                <a:solidFill>
                  <a:srgbClr val="000000"/>
                </a:solidFill>
                <a:latin typeface="Arial"/>
                <a:ea typeface="Arial"/>
                <a:cs typeface="Arial"/>
                <a:sym typeface="Arial"/>
              </a:rPr>
              <a:t>Investigation Agent: Uses tools to collect service health, logs, historical incidents, and runbook evidence.</a:t>
            </a:r>
          </a:p>
          <a:p>
            <a:pPr algn="l" marL="532618" indent="-266309" lvl="1">
              <a:lnSpc>
                <a:spcPts val="2960"/>
              </a:lnSpc>
              <a:spcBef>
                <a:spcPct val="0"/>
              </a:spcBef>
              <a:buFont typeface="Arial"/>
              <a:buChar char="•"/>
            </a:pPr>
            <a:r>
              <a:rPr lang="en-US" sz="2466">
                <a:solidFill>
                  <a:srgbClr val="000000"/>
                </a:solidFill>
                <a:latin typeface="Arial"/>
                <a:ea typeface="Arial"/>
                <a:cs typeface="Arial"/>
                <a:sym typeface="Arial"/>
              </a:rPr>
              <a:t>Analysis Agent: Synthesizes findings into likely causes and impact assessments.</a:t>
            </a:r>
          </a:p>
          <a:p>
            <a:pPr algn="l" marL="532618" indent="-266309" lvl="1">
              <a:lnSpc>
                <a:spcPts val="2960"/>
              </a:lnSpc>
              <a:spcBef>
                <a:spcPct val="0"/>
              </a:spcBef>
              <a:buFont typeface="Arial"/>
              <a:buChar char="•"/>
            </a:pPr>
            <a:r>
              <a:rPr lang="en-US" sz="2466">
                <a:solidFill>
                  <a:srgbClr val="000000"/>
                </a:solidFill>
                <a:latin typeface="Arial"/>
                <a:ea typeface="Arial"/>
                <a:cs typeface="Arial"/>
                <a:sym typeface="Arial"/>
              </a:rPr>
              <a:t>Decision Agent: Recommends mitigation and coordinates resource matching.</a:t>
            </a:r>
          </a:p>
          <a:p>
            <a:pPr algn="l" marL="532618" indent="-266309" lvl="1">
              <a:lnSpc>
                <a:spcPts val="2960"/>
              </a:lnSpc>
              <a:spcBef>
                <a:spcPct val="0"/>
              </a:spcBef>
              <a:buFont typeface="Arial"/>
              <a:buChar char="•"/>
            </a:pPr>
            <a:r>
              <a:rPr lang="en-US" sz="2466">
                <a:solidFill>
                  <a:srgbClr val="000000"/>
                </a:solidFill>
                <a:latin typeface="Arial"/>
                <a:ea typeface="Arial"/>
                <a:cs typeface="Arial"/>
                <a:sym typeface="Arial"/>
              </a:rPr>
              <a:t>Five HCM Agents: Assess workload, project fit, performance, availability, and employee wellbeing.</a:t>
            </a:r>
          </a:p>
        </p:txBody>
      </p:sp>
      <p:sp>
        <p:nvSpPr>
          <p:cNvPr name="TextBox 27" id="27"/>
          <p:cNvSpPr txBox="true"/>
          <p:nvPr/>
        </p:nvSpPr>
        <p:spPr>
          <a:xfrm rot="0">
            <a:off x="9784080" y="3760885"/>
            <a:ext cx="6264146" cy="4819650"/>
          </a:xfrm>
          <a:prstGeom prst="rect">
            <a:avLst/>
          </a:prstGeom>
        </p:spPr>
        <p:txBody>
          <a:bodyPr anchor="t" rtlCol="false" tIns="0" lIns="0" bIns="0" rIns="0">
            <a:spAutoFit/>
          </a:bodyPr>
          <a:lstStyle/>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Seven Integrated Tools</a:t>
            </a:r>
          </a:p>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service_health_tool — service status and resource metrics</a:t>
            </a:r>
          </a:p>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log_analyzer_tool — error patterns and stack traces</a:t>
            </a:r>
          </a:p>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incident_history_tool — past incidents</a:t>
            </a:r>
          </a:p>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knowledge_base_tool — SOPs and runbooks</a:t>
            </a:r>
          </a:p>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external_api_tool — upstream endpoint checks</a:t>
            </a:r>
          </a:p>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incident_action_tool — ticket creation and updates</a:t>
            </a:r>
          </a:p>
          <a:p>
            <a:pPr algn="l" marL="494040" indent="-247020" lvl="1">
              <a:lnSpc>
                <a:spcPts val="2745"/>
              </a:lnSpc>
              <a:spcBef>
                <a:spcPct val="0"/>
              </a:spcBef>
              <a:buFont typeface="Arial"/>
              <a:buChar char="•"/>
            </a:pPr>
            <a:r>
              <a:rPr lang="en-US" sz="2288">
                <a:solidFill>
                  <a:srgbClr val="000000"/>
                </a:solidFill>
                <a:latin typeface="Arial"/>
                <a:ea typeface="Arial"/>
                <a:cs typeface="Arial"/>
                <a:sym typeface="Arial"/>
              </a:rPr>
              <a:t>resource_matrix_tool — team skills and capacity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155055"/>
            <a:chOff x="0" y="0"/>
            <a:chExt cx="21945600" cy="1540074"/>
          </a:xfrm>
        </p:grpSpPr>
        <p:sp>
          <p:nvSpPr>
            <p:cNvPr name="Freeform 3" id="3"/>
            <p:cNvSpPr/>
            <p:nvPr/>
          </p:nvSpPr>
          <p:spPr>
            <a:xfrm flipH="false" flipV="false" rot="0">
              <a:off x="0" y="0"/>
              <a:ext cx="21945600" cy="1540074"/>
            </a:xfrm>
            <a:custGeom>
              <a:avLst/>
              <a:gdLst/>
              <a:ahLst/>
              <a:cxnLst/>
              <a:rect r="r" b="b" t="t" l="l"/>
              <a:pathLst>
                <a:path h="1540074" w="21945600">
                  <a:moveTo>
                    <a:pt x="0" y="0"/>
                  </a:moveTo>
                  <a:lnTo>
                    <a:pt x="21945600" y="0"/>
                  </a:lnTo>
                  <a:lnTo>
                    <a:pt x="21945600" y="1540074"/>
                  </a:lnTo>
                  <a:lnTo>
                    <a:pt x="0" y="1540074"/>
                  </a:lnTo>
                  <a:close/>
                </a:path>
              </a:pathLst>
            </a:custGeom>
            <a:blipFill>
              <a:blip r:embed="rId3">
                <a:alphaModFix amt="0"/>
              </a:blip>
              <a:stretch>
                <a:fillRect l="0" t="-230157" r="0" b="-225155"/>
              </a:stretch>
            </a:blipFill>
          </p:spPr>
        </p:sp>
        <p:sp>
          <p:nvSpPr>
            <p:cNvPr name="TextBox 4" id="4"/>
            <p:cNvSpPr txBox="true"/>
            <p:nvPr/>
          </p:nvSpPr>
          <p:spPr>
            <a:xfrm>
              <a:off x="0" y="-38100"/>
              <a:ext cx="21945600" cy="1578174"/>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Workforce-Aware Resource Allocation</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Ass</a:t>
              </a:r>
              <a:r>
                <a:rPr lang="en-US" sz="2799">
                  <a:solidFill>
                    <a:srgbClr val="5B6B8C"/>
                  </a:solidFill>
                  <a:latin typeface="Arial"/>
                  <a:ea typeface="Arial"/>
                  <a:cs typeface="Arial"/>
                  <a:sym typeface="Arial"/>
                </a:rPr>
                <a:t>ign the Right Engineer at the Right Time</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901703" y="2730503"/>
            <a:ext cx="7157723" cy="6609083"/>
            <a:chOff x="0" y="0"/>
            <a:chExt cx="9543631" cy="8812111"/>
          </a:xfrm>
        </p:grpSpPr>
        <p:sp>
          <p:nvSpPr>
            <p:cNvPr name="Freeform 12" id="12"/>
            <p:cNvSpPr/>
            <p:nvPr/>
          </p:nvSpPr>
          <p:spPr>
            <a:xfrm flipH="false" flipV="false" rot="0">
              <a:off x="0" y="0"/>
              <a:ext cx="9543669" cy="8812149"/>
            </a:xfrm>
            <a:custGeom>
              <a:avLst/>
              <a:gdLst/>
              <a:ahLst/>
              <a:cxnLst/>
              <a:rect r="r" b="b" t="t" l="l"/>
              <a:pathLst>
                <a:path h="8812149" w="9543669">
                  <a:moveTo>
                    <a:pt x="0" y="195834"/>
                  </a:moveTo>
                  <a:cubicBezTo>
                    <a:pt x="0" y="87630"/>
                    <a:pt x="87630" y="0"/>
                    <a:pt x="195834" y="0"/>
                  </a:cubicBezTo>
                  <a:lnTo>
                    <a:pt x="9347835" y="0"/>
                  </a:lnTo>
                  <a:cubicBezTo>
                    <a:pt x="9455912" y="0"/>
                    <a:pt x="9543669" y="87630"/>
                    <a:pt x="9543669" y="195834"/>
                  </a:cubicBezTo>
                  <a:lnTo>
                    <a:pt x="9543669" y="8616315"/>
                  </a:lnTo>
                  <a:cubicBezTo>
                    <a:pt x="9543669" y="8724392"/>
                    <a:pt x="9456039" y="8812149"/>
                    <a:pt x="9347835" y="8812149"/>
                  </a:cubicBezTo>
                  <a:lnTo>
                    <a:pt x="195834" y="8812149"/>
                  </a:lnTo>
                  <a:cubicBezTo>
                    <a:pt x="87630" y="8812149"/>
                    <a:pt x="0" y="8724392"/>
                    <a:pt x="0" y="8616315"/>
                  </a:cubicBezTo>
                  <a:close/>
                </a:path>
              </a:pathLst>
            </a:custGeom>
            <a:solidFill>
              <a:srgbClr val="0F2557"/>
            </a:solidFill>
            <a:ln w="25400" cap="sq">
              <a:solidFill>
                <a:srgbClr val="0F2557"/>
              </a:solidFill>
              <a:prstDash val="solid"/>
              <a:miter/>
            </a:ln>
          </p:spPr>
        </p:sp>
      </p:grpSp>
      <p:grpSp>
        <p:nvGrpSpPr>
          <p:cNvPr name="Group 13" id="13"/>
          <p:cNvGrpSpPr/>
          <p:nvPr/>
        </p:nvGrpSpPr>
        <p:grpSpPr>
          <a:xfrm rot="0">
            <a:off x="1463040" y="2743200"/>
            <a:ext cx="6217920" cy="6583680"/>
            <a:chOff x="0" y="0"/>
            <a:chExt cx="8290560" cy="8778240"/>
          </a:xfrm>
        </p:grpSpPr>
        <p:sp>
          <p:nvSpPr>
            <p:cNvPr name="Freeform 14" id="14"/>
            <p:cNvSpPr/>
            <p:nvPr/>
          </p:nvSpPr>
          <p:spPr>
            <a:xfrm flipH="false" flipV="false" rot="0">
              <a:off x="0" y="0"/>
              <a:ext cx="8290560" cy="8778240"/>
            </a:xfrm>
            <a:custGeom>
              <a:avLst/>
              <a:gdLst/>
              <a:ahLst/>
              <a:cxnLst/>
              <a:rect r="r" b="b" t="t" l="l"/>
              <a:pathLst>
                <a:path h="8778240" w="8290560">
                  <a:moveTo>
                    <a:pt x="0" y="0"/>
                  </a:moveTo>
                  <a:lnTo>
                    <a:pt x="8290560" y="0"/>
                  </a:lnTo>
                  <a:lnTo>
                    <a:pt x="8290560" y="8778240"/>
                  </a:lnTo>
                  <a:lnTo>
                    <a:pt x="0" y="8778240"/>
                  </a:lnTo>
                  <a:close/>
                </a:path>
              </a:pathLst>
            </a:custGeom>
            <a:blipFill>
              <a:blip r:embed="rId3">
                <a:alphaModFix amt="0"/>
              </a:blip>
              <a:stretch>
                <a:fillRect l="-85850" t="0" r="-85850" b="0"/>
              </a:stretch>
            </a:blipFill>
          </p:spPr>
        </p:sp>
        <p:sp>
          <p:nvSpPr>
            <p:cNvPr name="TextBox 15" id="15"/>
            <p:cNvSpPr txBox="true"/>
            <p:nvPr/>
          </p:nvSpPr>
          <p:spPr>
            <a:xfrm>
              <a:off x="0" y="-9525"/>
              <a:ext cx="8290560" cy="8787765"/>
            </a:xfrm>
            <a:prstGeom prst="rect">
              <a:avLst/>
            </a:prstGeom>
          </p:spPr>
          <p:txBody>
            <a:bodyPr anchor="ctr" rtlCol="false" tIns="0" lIns="0" bIns="0" rIns="0"/>
            <a:lstStyle/>
            <a:p>
              <a:pPr algn="l">
                <a:lnSpc>
                  <a:spcPts val="2879"/>
                </a:lnSpc>
              </a:pPr>
              <a:r>
                <a:rPr lang="en-US" sz="2400" b="true">
                  <a:solidFill>
                    <a:srgbClr val="F28C28"/>
                  </a:solidFill>
                  <a:latin typeface="Arial Bold"/>
                  <a:ea typeface="Arial Bold"/>
                  <a:cs typeface="Arial Bold"/>
                  <a:sym typeface="Arial Bold"/>
                </a:rPr>
                <a:t>THE SIMPLE RULE</a:t>
              </a:r>
            </a:p>
            <a:p>
              <a:pPr algn="l">
                <a:lnSpc>
                  <a:spcPts val="4799"/>
                </a:lnSpc>
              </a:pPr>
              <a:r>
                <a:rPr lang="en-US" sz="3999" b="true">
                  <a:solidFill>
                    <a:srgbClr val="FFFFFF"/>
                  </a:solidFill>
                  <a:latin typeface="Arial Bold"/>
                  <a:ea typeface="Arial Bold"/>
                  <a:cs typeface="Arial Bold"/>
                  <a:sym typeface="Arial Bold"/>
                </a:rPr>
                <a:t>Workload below 100%</a:t>
              </a:r>
            </a:p>
            <a:p>
              <a:pPr algn="l">
                <a:lnSpc>
                  <a:spcPts val="3600"/>
                </a:lnSpc>
              </a:pPr>
              <a:r>
                <a:rPr lang="en-US" sz="3000">
                  <a:solidFill>
                    <a:srgbClr val="9FE0BD"/>
                  </a:solidFill>
                  <a:latin typeface="Arial"/>
                  <a:ea typeface="Arial"/>
                  <a:cs typeface="Arial"/>
                  <a:sym typeface="Arial"/>
                </a:rPr>
                <a:t>Can be assigned</a:t>
              </a:r>
            </a:p>
            <a:p>
              <a:pPr algn="l">
                <a:lnSpc>
                  <a:spcPts val="1919"/>
                </a:lnSpc>
              </a:pPr>
              <a:r>
                <a:rPr lang="en-US" sz="1599">
                  <a:solidFill>
                    <a:srgbClr val="000000"/>
                  </a:solidFill>
                  <a:latin typeface="Arial"/>
                  <a:ea typeface="Arial"/>
                  <a:cs typeface="Arial"/>
                  <a:sym typeface="Arial"/>
                </a:rPr>
                <a:t> </a:t>
              </a:r>
            </a:p>
            <a:p>
              <a:pPr algn="l">
                <a:lnSpc>
                  <a:spcPts val="4799"/>
                </a:lnSpc>
              </a:pPr>
              <a:r>
                <a:rPr lang="en-US" sz="3999" b="true">
                  <a:solidFill>
                    <a:srgbClr val="FFFFFF"/>
                  </a:solidFill>
                  <a:latin typeface="Arial Bold"/>
                  <a:ea typeface="Arial Bold"/>
                  <a:cs typeface="Arial Bold"/>
                  <a:sym typeface="Arial Bold"/>
                </a:rPr>
                <a:t>Workload 100% or more</a:t>
              </a:r>
            </a:p>
            <a:p>
              <a:pPr algn="l">
                <a:lnSpc>
                  <a:spcPts val="3600"/>
                </a:lnSpc>
              </a:pPr>
              <a:r>
                <a:rPr lang="en-US" sz="3000">
                  <a:solidFill>
                    <a:srgbClr val="F5B7B1"/>
                  </a:solidFill>
                  <a:latin typeface="Arial"/>
                  <a:ea typeface="Arial"/>
                  <a:cs typeface="Arial"/>
                  <a:sym typeface="Arial"/>
                </a:rPr>
                <a:t>Skipped, however skilled</a:t>
              </a:r>
            </a:p>
          </p:txBody>
        </p:sp>
      </p:grpSp>
      <p:grpSp>
        <p:nvGrpSpPr>
          <p:cNvPr name="Group 16" id="16"/>
          <p:cNvGrpSpPr/>
          <p:nvPr/>
        </p:nvGrpSpPr>
        <p:grpSpPr>
          <a:xfrm rot="0">
            <a:off x="8582663" y="2730503"/>
            <a:ext cx="8803643" cy="4476605"/>
            <a:chOff x="0" y="0"/>
            <a:chExt cx="11738191" cy="5968806"/>
          </a:xfrm>
        </p:grpSpPr>
        <p:sp>
          <p:nvSpPr>
            <p:cNvPr name="Freeform 17" id="17"/>
            <p:cNvSpPr/>
            <p:nvPr/>
          </p:nvSpPr>
          <p:spPr>
            <a:xfrm flipH="false" flipV="false" rot="0">
              <a:off x="0" y="0"/>
              <a:ext cx="11738101" cy="5968563"/>
            </a:xfrm>
            <a:custGeom>
              <a:avLst/>
              <a:gdLst/>
              <a:ahLst/>
              <a:cxnLst/>
              <a:rect r="r" b="b" t="t" l="l"/>
              <a:pathLst>
                <a:path h="5968563" w="11738101">
                  <a:moveTo>
                    <a:pt x="0" y="542533"/>
                  </a:moveTo>
                  <a:cubicBezTo>
                    <a:pt x="0" y="243097"/>
                    <a:pt x="88773" y="0"/>
                    <a:pt x="198120" y="0"/>
                  </a:cubicBezTo>
                  <a:lnTo>
                    <a:pt x="11539982" y="0"/>
                  </a:lnTo>
                  <a:cubicBezTo>
                    <a:pt x="11649456" y="0"/>
                    <a:pt x="11738101" y="243097"/>
                    <a:pt x="11738101" y="542533"/>
                  </a:cubicBezTo>
                  <a:lnTo>
                    <a:pt x="11738101" y="5426030"/>
                  </a:lnTo>
                  <a:cubicBezTo>
                    <a:pt x="11738101" y="5725814"/>
                    <a:pt x="11649328" y="5968563"/>
                    <a:pt x="11539982" y="5968563"/>
                  </a:cubicBezTo>
                  <a:lnTo>
                    <a:pt x="198120" y="5968563"/>
                  </a:lnTo>
                  <a:cubicBezTo>
                    <a:pt x="88646" y="5968563"/>
                    <a:pt x="0" y="5725466"/>
                    <a:pt x="0" y="5426030"/>
                  </a:cubicBezTo>
                  <a:close/>
                </a:path>
              </a:pathLst>
            </a:custGeom>
            <a:solidFill>
              <a:srgbClr val="EAF0FA"/>
            </a:solidFill>
            <a:ln w="25400" cap="sq">
              <a:solidFill>
                <a:srgbClr val="EAF0FA"/>
              </a:solidFill>
              <a:prstDash val="solid"/>
              <a:miter/>
            </a:ln>
          </p:spPr>
        </p:sp>
      </p:grpSp>
      <p:grpSp>
        <p:nvGrpSpPr>
          <p:cNvPr name="Group 18" id="18"/>
          <p:cNvGrpSpPr/>
          <p:nvPr/>
        </p:nvGrpSpPr>
        <p:grpSpPr>
          <a:xfrm rot="0">
            <a:off x="8582663" y="8308343"/>
            <a:ext cx="8803643" cy="1031243"/>
            <a:chOff x="0" y="0"/>
            <a:chExt cx="11738191" cy="1374991"/>
          </a:xfrm>
        </p:grpSpPr>
        <p:sp>
          <p:nvSpPr>
            <p:cNvPr name="Freeform 19" id="19"/>
            <p:cNvSpPr/>
            <p:nvPr/>
          </p:nvSpPr>
          <p:spPr>
            <a:xfrm flipH="false" flipV="false" rot="0">
              <a:off x="0" y="0"/>
              <a:ext cx="11738229" cy="1375029"/>
            </a:xfrm>
            <a:custGeom>
              <a:avLst/>
              <a:gdLst/>
              <a:ahLst/>
              <a:cxnLst/>
              <a:rect r="r" b="b" t="t" l="l"/>
              <a:pathLst>
                <a:path h="1375029" w="11738229">
                  <a:moveTo>
                    <a:pt x="0" y="200025"/>
                  </a:moveTo>
                  <a:cubicBezTo>
                    <a:pt x="0" y="89535"/>
                    <a:pt x="89535" y="0"/>
                    <a:pt x="200025" y="0"/>
                  </a:cubicBezTo>
                  <a:lnTo>
                    <a:pt x="11538204" y="0"/>
                  </a:lnTo>
                  <a:cubicBezTo>
                    <a:pt x="11648694" y="0"/>
                    <a:pt x="11738229" y="89535"/>
                    <a:pt x="11738229" y="200025"/>
                  </a:cubicBezTo>
                  <a:lnTo>
                    <a:pt x="11738229" y="1175004"/>
                  </a:lnTo>
                  <a:cubicBezTo>
                    <a:pt x="11738229" y="1285494"/>
                    <a:pt x="11648694" y="1375029"/>
                    <a:pt x="11538204" y="1375029"/>
                  </a:cubicBezTo>
                  <a:lnTo>
                    <a:pt x="200025" y="1375029"/>
                  </a:lnTo>
                  <a:cubicBezTo>
                    <a:pt x="89535" y="1375029"/>
                    <a:pt x="0" y="1285494"/>
                    <a:pt x="0" y="1175004"/>
                  </a:cubicBezTo>
                  <a:close/>
                </a:path>
              </a:pathLst>
            </a:custGeom>
            <a:solidFill>
              <a:srgbClr val="FDF1E3"/>
            </a:solidFill>
            <a:ln w="25400" cap="sq">
              <a:solidFill>
                <a:srgbClr val="FDF1E3"/>
              </a:solidFill>
              <a:prstDash val="solid"/>
              <a:miter/>
            </a:ln>
          </p:spPr>
        </p:sp>
      </p:grpSp>
      <p:grpSp>
        <p:nvGrpSpPr>
          <p:cNvPr name="Group 20" id="20"/>
          <p:cNvGrpSpPr/>
          <p:nvPr/>
        </p:nvGrpSpPr>
        <p:grpSpPr>
          <a:xfrm rot="0">
            <a:off x="8869680" y="8235808"/>
            <a:ext cx="8229600" cy="1154925"/>
            <a:chOff x="0" y="0"/>
            <a:chExt cx="10972800" cy="1539900"/>
          </a:xfrm>
        </p:grpSpPr>
        <p:sp>
          <p:nvSpPr>
            <p:cNvPr name="Freeform 21" id="21"/>
            <p:cNvSpPr/>
            <p:nvPr/>
          </p:nvSpPr>
          <p:spPr>
            <a:xfrm flipH="false" flipV="false" rot="0">
              <a:off x="0" y="0"/>
              <a:ext cx="10972800" cy="1539900"/>
            </a:xfrm>
            <a:custGeom>
              <a:avLst/>
              <a:gdLst/>
              <a:ahLst/>
              <a:cxnLst/>
              <a:rect r="r" b="b" t="t" l="l"/>
              <a:pathLst>
                <a:path h="1539900" w="10972800">
                  <a:moveTo>
                    <a:pt x="0" y="0"/>
                  </a:moveTo>
                  <a:lnTo>
                    <a:pt x="10972800" y="0"/>
                  </a:lnTo>
                  <a:lnTo>
                    <a:pt x="10972800" y="1539900"/>
                  </a:lnTo>
                  <a:lnTo>
                    <a:pt x="0" y="1539900"/>
                  </a:lnTo>
                  <a:close/>
                </a:path>
              </a:pathLst>
            </a:custGeom>
            <a:blipFill>
              <a:blip r:embed="rId3">
                <a:alphaModFix amt="0"/>
              </a:blip>
              <a:stretch>
                <a:fillRect l="0" t="-95298" r="0" b="-82389"/>
              </a:stretch>
            </a:blipFill>
          </p:spPr>
        </p:sp>
        <p:sp>
          <p:nvSpPr>
            <p:cNvPr name="TextBox 22" id="22"/>
            <p:cNvSpPr txBox="true"/>
            <p:nvPr/>
          </p:nvSpPr>
          <p:spPr>
            <a:xfrm>
              <a:off x="0" y="-19050"/>
              <a:ext cx="10972800" cy="1558950"/>
            </a:xfrm>
            <a:prstGeom prst="rect">
              <a:avLst/>
            </a:prstGeom>
          </p:spPr>
          <p:txBody>
            <a:bodyPr anchor="ctr" rtlCol="false" tIns="0" lIns="0" bIns="0" rIns="0"/>
            <a:lstStyle/>
            <a:p>
              <a:pPr algn="l">
                <a:lnSpc>
                  <a:spcPts val="2760"/>
                </a:lnSpc>
              </a:pPr>
              <a:r>
                <a:rPr lang="en-US" sz="2300">
                  <a:solidFill>
                    <a:srgbClr val="1B2433"/>
                  </a:solidFill>
                  <a:latin typeface="Arial"/>
                  <a:ea typeface="Arial"/>
                  <a:cs typeface="Arial"/>
                  <a:sym typeface="Arial"/>
                </a:rPr>
                <a:t>Examp</a:t>
              </a:r>
              <a:r>
                <a:rPr lang="en-US" sz="2300">
                  <a:solidFill>
                    <a:srgbClr val="1B2433"/>
                  </a:solidFill>
                  <a:latin typeface="Arial"/>
                  <a:ea typeface="Arial"/>
                  <a:cs typeface="Arial"/>
                  <a:sym typeface="Arial"/>
                </a:rPr>
                <a:t>le: An incident requiring Python and API debugging should be assigned to a suitably skilled, available engineer who remains below the capacity threshold.</a:t>
              </a:r>
            </a:p>
          </p:txBody>
        </p:sp>
      </p:grpSp>
      <p:sp>
        <p:nvSpPr>
          <p:cNvPr name="TextBox 23" id="23"/>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7</a:t>
            </a:r>
          </a:p>
        </p:txBody>
      </p:sp>
      <p:sp>
        <p:nvSpPr>
          <p:cNvPr name="TextBox 24" id="24"/>
          <p:cNvSpPr txBox="true"/>
          <p:nvPr/>
        </p:nvSpPr>
        <p:spPr>
          <a:xfrm rot="0">
            <a:off x="8582658" y="3101906"/>
            <a:ext cx="8803643" cy="3724275"/>
          </a:xfrm>
          <a:prstGeom prst="rect">
            <a:avLst/>
          </a:prstGeom>
        </p:spPr>
        <p:txBody>
          <a:bodyPr anchor="t" rtlCol="false" tIns="0" lIns="0" bIns="0" rIns="0">
            <a:spAutoFit/>
          </a:bodyPr>
          <a:lstStyle/>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Maintains employee profiles, departments, technical skills, and project allocations.</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Matches incident requirements against engineer skill profiles.</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Checks availability and existing workload before assignment.</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Disqualifies personnel at 100% capacity or above.</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Tracks capacity headroom and stress indicators.</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Supports managers through an interactive project allocation matrix.</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155055"/>
            <a:chOff x="0" y="0"/>
            <a:chExt cx="21945600" cy="1540074"/>
          </a:xfrm>
        </p:grpSpPr>
        <p:sp>
          <p:nvSpPr>
            <p:cNvPr name="Freeform 3" id="3"/>
            <p:cNvSpPr/>
            <p:nvPr/>
          </p:nvSpPr>
          <p:spPr>
            <a:xfrm flipH="false" flipV="false" rot="0">
              <a:off x="0" y="0"/>
              <a:ext cx="21945600" cy="1540074"/>
            </a:xfrm>
            <a:custGeom>
              <a:avLst/>
              <a:gdLst/>
              <a:ahLst/>
              <a:cxnLst/>
              <a:rect r="r" b="b" t="t" l="l"/>
              <a:pathLst>
                <a:path h="1540074" w="21945600">
                  <a:moveTo>
                    <a:pt x="0" y="0"/>
                  </a:moveTo>
                  <a:lnTo>
                    <a:pt x="21945600" y="0"/>
                  </a:lnTo>
                  <a:lnTo>
                    <a:pt x="21945600" y="1540074"/>
                  </a:lnTo>
                  <a:lnTo>
                    <a:pt x="0" y="1540074"/>
                  </a:lnTo>
                  <a:close/>
                </a:path>
              </a:pathLst>
            </a:custGeom>
            <a:blipFill>
              <a:blip r:embed="rId3">
                <a:alphaModFix amt="0"/>
              </a:blip>
              <a:stretch>
                <a:fillRect l="0" t="-230157" r="0" b="-225155"/>
              </a:stretch>
            </a:blipFill>
          </p:spPr>
        </p:sp>
        <p:sp>
          <p:nvSpPr>
            <p:cNvPr name="TextBox 4" id="4"/>
            <p:cNvSpPr txBox="true"/>
            <p:nvPr/>
          </p:nvSpPr>
          <p:spPr>
            <a:xfrm>
              <a:off x="0" y="-38100"/>
              <a:ext cx="21945600" cy="1578174"/>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a:t>
              </a:r>
              <a:r>
                <a:rPr lang="en-US" sz="5600" b="true">
                  <a:solidFill>
                    <a:srgbClr val="0F2557"/>
                  </a:solidFill>
                  <a:latin typeface="Arial Bold"/>
                  <a:ea typeface="Arial Bold"/>
                  <a:cs typeface="Arial Bold"/>
                  <a:sym typeface="Arial Bold"/>
                </a:rPr>
                <a:t> Technology Stack and Implementation</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Technologies Behind AgentSync</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aphicFrame>
        <p:nvGraphicFramePr>
          <p:cNvPr name="Table 11" id="11"/>
          <p:cNvGraphicFramePr>
            <a:graphicFrameLocks noGrp="true"/>
          </p:cNvGraphicFramePr>
          <p:nvPr/>
        </p:nvGraphicFramePr>
        <p:xfrm>
          <a:off x="914400" y="2651760"/>
          <a:ext cx="10210800" cy="6745968"/>
        </p:xfrm>
        <a:graphic>
          <a:graphicData uri="http://schemas.openxmlformats.org/drawingml/2006/table">
            <a:tbl>
              <a:tblPr/>
              <a:tblGrid>
                <a:gridCol w="3480499"/>
                <a:gridCol w="6730301"/>
              </a:tblGrid>
              <a:tr h="710724">
                <a:tc>
                  <a:txBody>
                    <a:bodyPr anchor="t" rtlCol="false"/>
                    <a:lstStyle/>
                    <a:p>
                      <a:pPr algn="l">
                        <a:lnSpc>
                          <a:spcPts val="2879"/>
                        </a:lnSpc>
                        <a:defRPr/>
                      </a:pPr>
                      <a:r>
                        <a:rPr lang="en-US" sz="2400" b="true">
                          <a:solidFill>
                            <a:srgbClr val="FFFFFF"/>
                          </a:solidFill>
                          <a:latin typeface="Arial Bold"/>
                          <a:ea typeface="Arial Bold"/>
                          <a:cs typeface="Arial Bold"/>
                          <a:sym typeface="Arial Bold"/>
                        </a:rPr>
                        <a:t>Part</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0F2557"/>
                    </a:solidFill>
                  </a:tcPr>
                </a:tc>
                <a:tc>
                  <a:txBody>
                    <a:bodyPr anchor="t" rtlCol="false"/>
                    <a:lstStyle/>
                    <a:p>
                      <a:pPr algn="l">
                        <a:lnSpc>
                          <a:spcPts val="2879"/>
                        </a:lnSpc>
                        <a:defRPr/>
                      </a:pPr>
                      <a:r>
                        <a:rPr lang="en-US" sz="2400" b="true">
                          <a:solidFill>
                            <a:srgbClr val="FFFFFF"/>
                          </a:solidFill>
                          <a:latin typeface="Arial Bold"/>
                          <a:ea typeface="Arial Bold"/>
                          <a:cs typeface="Arial Bold"/>
                          <a:sym typeface="Arial Bold"/>
                        </a:rPr>
                        <a:t>Technology</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0F2557"/>
                    </a:solidFill>
                  </a:tcPr>
                </a:tc>
              </a:tr>
              <a:tr h="710724">
                <a:tc>
                  <a:txBody>
                    <a:bodyPr anchor="t" rtlCol="false"/>
                    <a:lstStyle/>
                    <a:p>
                      <a:pPr algn="l">
                        <a:lnSpc>
                          <a:spcPts val="2879"/>
                        </a:lnSpc>
                        <a:defRPr/>
                      </a:pPr>
                      <a:r>
                        <a:rPr lang="en-US" sz="2400" b="true">
                          <a:solidFill>
                            <a:srgbClr val="0F2557"/>
                          </a:solidFill>
                          <a:latin typeface="Arial Bold"/>
                          <a:ea typeface="Arial Bold"/>
                          <a:cs typeface="Arial Bold"/>
                          <a:sym typeface="Arial Bold"/>
                        </a:rPr>
                        <a:t>Backend</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c>
                  <a:txBody>
                    <a:bodyPr anchor="t" rtlCol="false"/>
                    <a:lstStyle/>
                    <a:p>
                      <a:pPr algn="l">
                        <a:lnSpc>
                          <a:spcPts val="2879"/>
                        </a:lnSpc>
                        <a:defRPr/>
                      </a:pPr>
                      <a:r>
                        <a:rPr lang="en-US" sz="2400">
                          <a:solidFill>
                            <a:srgbClr val="1B2433"/>
                          </a:solidFill>
                          <a:latin typeface="Arial"/>
                          <a:ea typeface="Arial"/>
                          <a:cs typeface="Arial"/>
                          <a:sym typeface="Arial"/>
                        </a:rPr>
                        <a:t>Python, FastAPI, Uvicorn, and Pydantic v2.</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r>
              <a:tr h="710724">
                <a:tc>
                  <a:txBody>
                    <a:bodyPr anchor="t" rtlCol="false"/>
                    <a:lstStyle/>
                    <a:p>
                      <a:pPr algn="l">
                        <a:lnSpc>
                          <a:spcPts val="2879"/>
                        </a:lnSpc>
                        <a:defRPr/>
                      </a:pPr>
                      <a:r>
                        <a:rPr lang="en-US" sz="2400" b="true">
                          <a:solidFill>
                            <a:srgbClr val="0F2557"/>
                          </a:solidFill>
                          <a:latin typeface="Arial Bold"/>
                          <a:ea typeface="Arial Bold"/>
                          <a:cs typeface="Arial Bold"/>
                          <a:sym typeface="Arial Bold"/>
                        </a:rPr>
                        <a:t>Agent orchestration</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c>
                  <a:txBody>
                    <a:bodyPr anchor="t" rtlCol="false"/>
                    <a:lstStyle/>
                    <a:p>
                      <a:pPr algn="l">
                        <a:lnSpc>
                          <a:spcPts val="2879"/>
                        </a:lnSpc>
                        <a:defRPr/>
                      </a:pPr>
                      <a:r>
                        <a:rPr lang="en-US" sz="2400">
                          <a:solidFill>
                            <a:srgbClr val="1B2433"/>
                          </a:solidFill>
                          <a:latin typeface="Arial"/>
                          <a:ea typeface="Arial"/>
                          <a:cs typeface="Arial"/>
                          <a:sym typeface="Arial"/>
                        </a:rPr>
                        <a:t>LangGraph, LangChain</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r>
              <a:tr h="710724">
                <a:tc>
                  <a:txBody>
                    <a:bodyPr anchor="t" rtlCol="false"/>
                    <a:lstStyle/>
                    <a:p>
                      <a:pPr algn="l">
                        <a:lnSpc>
                          <a:spcPts val="2879"/>
                        </a:lnSpc>
                        <a:defRPr/>
                      </a:pPr>
                      <a:r>
                        <a:rPr lang="en-US" sz="2400" b="true">
                          <a:solidFill>
                            <a:srgbClr val="0F2557"/>
                          </a:solidFill>
                          <a:latin typeface="Arial Bold"/>
                          <a:ea typeface="Arial Bold"/>
                          <a:cs typeface="Arial Bold"/>
                          <a:sym typeface="Arial Bold"/>
                        </a:rPr>
                        <a:t>AI model</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c>
                  <a:txBody>
                    <a:bodyPr anchor="t" rtlCol="false"/>
                    <a:lstStyle/>
                    <a:p>
                      <a:pPr algn="l">
                        <a:lnSpc>
                          <a:spcPts val="2879"/>
                        </a:lnSpc>
                        <a:defRPr/>
                      </a:pPr>
                      <a:r>
                        <a:rPr lang="en-US" sz="2400">
                          <a:solidFill>
                            <a:srgbClr val="1B2433"/>
                          </a:solidFill>
                          <a:latin typeface="Arial"/>
                          <a:ea typeface="Arial"/>
                          <a:cs typeface="Arial"/>
                          <a:sym typeface="Arial"/>
                        </a:rPr>
                        <a:t>Groq (gpt-oss-20b)</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r>
              <a:tr h="696636">
                <a:tc>
                  <a:txBody>
                    <a:bodyPr anchor="t" rtlCol="false"/>
                    <a:lstStyle/>
                    <a:p>
                      <a:pPr algn="l">
                        <a:lnSpc>
                          <a:spcPts val="2879"/>
                        </a:lnSpc>
                        <a:defRPr/>
                      </a:pPr>
                      <a:r>
                        <a:rPr lang="en-US" sz="2400" b="true">
                          <a:solidFill>
                            <a:srgbClr val="0F2557"/>
                          </a:solidFill>
                          <a:latin typeface="Arial Bold"/>
                          <a:ea typeface="Arial Bold"/>
                          <a:cs typeface="Arial Bold"/>
                          <a:sym typeface="Arial Bold"/>
                        </a:rPr>
                        <a:t>Fron</a:t>
                      </a:r>
                      <a:r>
                        <a:rPr lang="en-US" sz="2400" b="true">
                          <a:solidFill>
                            <a:srgbClr val="0F2557"/>
                          </a:solidFill>
                          <a:latin typeface="Arial Bold"/>
                          <a:ea typeface="Arial Bold"/>
                          <a:cs typeface="Arial Bold"/>
                          <a:sym typeface="Arial Bold"/>
                        </a:rPr>
                        <a:t>tend</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c>
                  <a:txBody>
                    <a:bodyPr anchor="t" rtlCol="false"/>
                    <a:lstStyle/>
                    <a:p>
                      <a:pPr algn="l">
                        <a:lnSpc>
                          <a:spcPts val="2879"/>
                        </a:lnSpc>
                        <a:defRPr/>
                      </a:pPr>
                      <a:r>
                        <a:rPr lang="en-US" sz="2400">
                          <a:solidFill>
                            <a:srgbClr val="1B2433"/>
                          </a:solidFill>
                          <a:latin typeface="Arial"/>
                          <a:ea typeface="Arial"/>
                          <a:cs typeface="Arial"/>
                          <a:sym typeface="Arial"/>
                        </a:rPr>
                        <a:t>React 19, Vite, Axios, Lucide React</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r>
              <a:tr h="1059269">
                <a:tc>
                  <a:txBody>
                    <a:bodyPr anchor="t" rtlCol="false"/>
                    <a:lstStyle/>
                    <a:p>
                      <a:pPr algn="l">
                        <a:lnSpc>
                          <a:spcPts val="2879"/>
                        </a:lnSpc>
                        <a:defRPr/>
                      </a:pPr>
                      <a:r>
                        <a:rPr lang="en-US" sz="2400" b="true">
                          <a:solidFill>
                            <a:srgbClr val="0F2557"/>
                          </a:solidFill>
                          <a:latin typeface="Arial Bold"/>
                          <a:ea typeface="Arial Bold"/>
                          <a:cs typeface="Arial Bold"/>
                          <a:sym typeface="Arial Bold"/>
                        </a:rPr>
                        <a:t>Workforce</a:t>
                      </a:r>
                      <a:r>
                        <a:rPr lang="en-US" sz="2400" b="true">
                          <a:solidFill>
                            <a:srgbClr val="0F2557"/>
                          </a:solidFill>
                          <a:latin typeface="Arial Bold"/>
                          <a:ea typeface="Arial Bold"/>
                          <a:cs typeface="Arial Bold"/>
                          <a:sym typeface="Arial Bold"/>
                        </a:rPr>
                        <a:t> services and storage:</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c>
                  <a:txBody>
                    <a:bodyPr anchor="t" rtlCol="false"/>
                    <a:lstStyle/>
                    <a:p>
                      <a:pPr algn="l">
                        <a:lnSpc>
                          <a:spcPts val="2879"/>
                        </a:lnSpc>
                        <a:defRPr/>
                      </a:pPr>
                      <a:r>
                        <a:rPr lang="en-US" sz="2400">
                          <a:solidFill>
                            <a:srgbClr val="1B2433"/>
                          </a:solidFill>
                          <a:latin typeface="Arial"/>
                          <a:ea typeface="Arial"/>
                          <a:cs typeface="Arial"/>
                          <a:sym typeface="Arial"/>
                        </a:rPr>
                        <a:t>Node.js/Express, Python fallback, and SQLite.</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r>
              <a:tr h="2147167">
                <a:tc>
                  <a:txBody>
                    <a:bodyPr anchor="t" rtlCol="false"/>
                    <a:lstStyle/>
                    <a:p>
                      <a:pPr algn="l">
                        <a:lnSpc>
                          <a:spcPts val="2879"/>
                        </a:lnSpc>
                        <a:defRPr/>
                      </a:pPr>
                      <a:r>
                        <a:rPr lang="en-US" sz="2400" b="true">
                          <a:solidFill>
                            <a:srgbClr val="0F2557"/>
                          </a:solidFill>
                          <a:latin typeface="Arial Bold"/>
                          <a:ea typeface="Arial Bold"/>
                          <a:cs typeface="Arial Bold"/>
                          <a:sym typeface="Arial Bold"/>
                        </a:rPr>
                        <a:t>Tes</a:t>
                      </a:r>
                      <a:r>
                        <a:rPr lang="en-US" sz="2400" b="true">
                          <a:solidFill>
                            <a:srgbClr val="0F2557"/>
                          </a:solidFill>
                          <a:latin typeface="Arial Bold"/>
                          <a:ea typeface="Arial Bold"/>
                          <a:cs typeface="Arial Bold"/>
                          <a:sym typeface="Arial Bold"/>
                        </a:rPr>
                        <a:t>ting and deployment:</a:t>
                      </a:r>
                      <a:endParaRPr lang="en-US" sz="1100"/>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c>
                  <a:txBody>
                    <a:bodyPr anchor="t" rtlCol="false"/>
                    <a:lstStyle/>
                    <a:p>
                      <a:pPr algn="l">
                        <a:lnSpc>
                          <a:spcPts val="2879"/>
                        </a:lnSpc>
                        <a:defRPr/>
                      </a:pPr>
                      <a:r>
                        <a:rPr lang="en-US" sz="2400">
                          <a:solidFill>
                            <a:srgbClr val="1B2433"/>
                          </a:solidFill>
                          <a:latin typeface="Arial"/>
                          <a:ea typeface="Arial"/>
                          <a:cs typeface="Arial"/>
                          <a:sym typeface="Arial"/>
                        </a:rPr>
                        <a:t>Pytest test su</a:t>
                      </a:r>
                      <a:r>
                        <a:rPr lang="en-US" sz="2400">
                          <a:solidFill>
                            <a:srgbClr val="1B2433"/>
                          </a:solidFill>
                          <a:latin typeface="Arial"/>
                          <a:ea typeface="Arial"/>
                          <a:cs typeface="Arial"/>
                          <a:sym typeface="Arial"/>
                        </a:rPr>
                        <a:t>ite; Vercel frontend and Render backend, as documented in the project materials.</a:t>
                      </a:r>
                      <a:endParaRPr lang="en-US" sz="1100"/>
                    </a:p>
                    <a:p>
                      <a:pPr algn="l">
                        <a:lnSpc>
                          <a:spcPts val="2879"/>
                        </a:lnSpc>
                      </a:pPr>
                    </a:p>
                    <a:p>
                      <a:pPr algn="l">
                        <a:lnSpc>
                          <a:spcPts val="2879"/>
                        </a:lnSpc>
                      </a:pPr>
                    </a:p>
                  </a:txBody>
                  <a:tcPr marL="91440" marR="91440" marT="91440" marB="91440" anchor="t">
                    <a:lnL cmpd="sng" algn="ctr" cap="flat" w="12700">
                      <a:solidFill>
                        <a:srgbClr val="FFFFFF"/>
                      </a:solidFill>
                      <a:prstDash val="solid"/>
                      <a:round/>
                      <a:headEnd type="none" w="med" len="med"/>
                      <a:tailEnd type="none" w="med" len="med"/>
                    </a:lnL>
                    <a:lnR cmpd="sng" algn="ctr" cap="flat" w="12700">
                      <a:solidFill>
                        <a:srgbClr val="FFFFFF"/>
                      </a:solidFill>
                      <a:prstDash val="solid"/>
                      <a:round/>
                      <a:headEnd type="none" w="med" len="med"/>
                      <a:tailEnd type="none" w="med" len="med"/>
                    </a:lnR>
                    <a:lnT cmpd="sng" algn="ctr" cap="flat" w="12700">
                      <a:solidFill>
                        <a:srgbClr val="FFFFFF"/>
                      </a:solidFill>
                      <a:prstDash val="solid"/>
                      <a:round/>
                      <a:headEnd type="none" w="med" len="med"/>
                      <a:tailEnd type="none" w="med" len="med"/>
                    </a:lnT>
                    <a:lnB cmpd="sng" algn="ctr" cap="flat" w="12700">
                      <a:solidFill>
                        <a:srgbClr val="FFFFFF"/>
                      </a:solidFill>
                      <a:prstDash val="solid"/>
                      <a:round/>
                      <a:headEnd type="none" w="med" len="med"/>
                      <a:tailEnd type="none" w="med" len="med"/>
                    </a:lnB>
                    <a:solidFill>
                      <a:srgbClr val="EAF0FA"/>
                    </a:solidFill>
                  </a:tcPr>
                </a:tc>
              </a:tr>
            </a:tbl>
          </a:graphicData>
        </a:graphic>
      </p:graphicFrame>
      <p:grpSp>
        <p:nvGrpSpPr>
          <p:cNvPr name="Group 12" id="12"/>
          <p:cNvGrpSpPr/>
          <p:nvPr/>
        </p:nvGrpSpPr>
        <p:grpSpPr>
          <a:xfrm rot="0">
            <a:off x="11691623" y="2639063"/>
            <a:ext cx="5694683" cy="3500123"/>
            <a:chOff x="0" y="0"/>
            <a:chExt cx="7592911" cy="4666831"/>
          </a:xfrm>
        </p:grpSpPr>
        <p:sp>
          <p:nvSpPr>
            <p:cNvPr name="Freeform 13" id="13"/>
            <p:cNvSpPr/>
            <p:nvPr/>
          </p:nvSpPr>
          <p:spPr>
            <a:xfrm flipH="false" flipV="false" rot="0">
              <a:off x="0" y="0"/>
              <a:ext cx="7592822" cy="4666742"/>
            </a:xfrm>
            <a:custGeom>
              <a:avLst/>
              <a:gdLst/>
              <a:ahLst/>
              <a:cxnLst/>
              <a:rect r="r" b="b" t="t" l="l"/>
              <a:pathLst>
                <a:path h="4666742" w="7592822">
                  <a:moveTo>
                    <a:pt x="0" y="196469"/>
                  </a:moveTo>
                  <a:cubicBezTo>
                    <a:pt x="0" y="88011"/>
                    <a:pt x="88011" y="0"/>
                    <a:pt x="196469" y="0"/>
                  </a:cubicBezTo>
                  <a:lnTo>
                    <a:pt x="7396353" y="0"/>
                  </a:lnTo>
                  <a:cubicBezTo>
                    <a:pt x="7504938" y="0"/>
                    <a:pt x="7592822" y="88011"/>
                    <a:pt x="7592822" y="196469"/>
                  </a:cubicBezTo>
                  <a:lnTo>
                    <a:pt x="7592822" y="4470273"/>
                  </a:lnTo>
                  <a:cubicBezTo>
                    <a:pt x="7592822" y="4578858"/>
                    <a:pt x="7504811" y="4666742"/>
                    <a:pt x="7396353" y="4666742"/>
                  </a:cubicBezTo>
                  <a:lnTo>
                    <a:pt x="196469" y="4666742"/>
                  </a:lnTo>
                  <a:cubicBezTo>
                    <a:pt x="88011" y="4666869"/>
                    <a:pt x="0" y="4578858"/>
                    <a:pt x="0" y="4470273"/>
                  </a:cubicBezTo>
                  <a:close/>
                </a:path>
              </a:pathLst>
            </a:custGeom>
            <a:solidFill>
              <a:srgbClr val="0F2557"/>
            </a:solidFill>
            <a:ln w="25400" cap="sq">
              <a:solidFill>
                <a:srgbClr val="0F2557"/>
              </a:solidFill>
              <a:prstDash val="solid"/>
              <a:miter/>
            </a:ln>
          </p:spPr>
        </p:sp>
      </p:grpSp>
      <p:grpSp>
        <p:nvGrpSpPr>
          <p:cNvPr name="Group 14" id="14"/>
          <p:cNvGrpSpPr/>
          <p:nvPr/>
        </p:nvGrpSpPr>
        <p:grpSpPr>
          <a:xfrm rot="0">
            <a:off x="11704320" y="2743200"/>
            <a:ext cx="5669280" cy="2011680"/>
            <a:chOff x="0" y="0"/>
            <a:chExt cx="7559040" cy="2682240"/>
          </a:xfrm>
        </p:grpSpPr>
        <p:sp>
          <p:nvSpPr>
            <p:cNvPr name="Freeform 15" id="15"/>
            <p:cNvSpPr/>
            <p:nvPr/>
          </p:nvSpPr>
          <p:spPr>
            <a:xfrm flipH="false" flipV="false" rot="0">
              <a:off x="0" y="0"/>
              <a:ext cx="7559040" cy="2682240"/>
            </a:xfrm>
            <a:custGeom>
              <a:avLst/>
              <a:gdLst/>
              <a:ahLst/>
              <a:cxnLst/>
              <a:rect r="r" b="b" t="t" l="l"/>
              <a:pathLst>
                <a:path h="2682240" w="7559040">
                  <a:moveTo>
                    <a:pt x="0" y="0"/>
                  </a:moveTo>
                  <a:lnTo>
                    <a:pt x="7559040" y="0"/>
                  </a:lnTo>
                  <a:lnTo>
                    <a:pt x="7559040" y="2682240"/>
                  </a:lnTo>
                  <a:lnTo>
                    <a:pt x="0" y="2682240"/>
                  </a:lnTo>
                  <a:close/>
                </a:path>
              </a:pathLst>
            </a:custGeom>
            <a:blipFill>
              <a:blip r:embed="rId3">
                <a:alphaModFix amt="0"/>
              </a:blip>
              <a:stretch>
                <a:fillRect l="0" t="-4912" r="0" b="-4912"/>
              </a:stretch>
            </a:blipFill>
          </p:spPr>
        </p:sp>
        <p:sp>
          <p:nvSpPr>
            <p:cNvPr name="TextBox 16" id="16"/>
            <p:cNvSpPr txBox="true"/>
            <p:nvPr/>
          </p:nvSpPr>
          <p:spPr>
            <a:xfrm>
              <a:off x="0" y="-47625"/>
              <a:ext cx="7559040" cy="2729865"/>
            </a:xfrm>
            <a:prstGeom prst="rect">
              <a:avLst/>
            </a:prstGeom>
          </p:spPr>
          <p:txBody>
            <a:bodyPr anchor="ctr" rtlCol="false" tIns="0" lIns="0" bIns="0" rIns="0"/>
            <a:lstStyle/>
            <a:p>
              <a:pPr algn="ctr">
                <a:lnSpc>
                  <a:spcPts val="12960"/>
                </a:lnSpc>
              </a:pPr>
              <a:r>
                <a:rPr lang="en-US" sz="10800" b="true">
                  <a:solidFill>
                    <a:srgbClr val="FFFFFF"/>
                  </a:solidFill>
                  <a:latin typeface="Arial Bold"/>
                  <a:ea typeface="Arial Bold"/>
                  <a:cs typeface="Arial Bold"/>
                  <a:sym typeface="Arial Bold"/>
                </a:rPr>
                <a:t>41</a:t>
              </a:r>
            </a:p>
          </p:txBody>
        </p:sp>
      </p:grpSp>
      <p:grpSp>
        <p:nvGrpSpPr>
          <p:cNvPr name="Group 17" id="17"/>
          <p:cNvGrpSpPr/>
          <p:nvPr/>
        </p:nvGrpSpPr>
        <p:grpSpPr>
          <a:xfrm rot="0">
            <a:off x="11704320" y="4846320"/>
            <a:ext cx="5669280" cy="731520"/>
            <a:chOff x="0" y="0"/>
            <a:chExt cx="7559040" cy="975360"/>
          </a:xfrm>
        </p:grpSpPr>
        <p:sp>
          <p:nvSpPr>
            <p:cNvPr name="Freeform 18" id="18"/>
            <p:cNvSpPr/>
            <p:nvPr/>
          </p:nvSpPr>
          <p:spPr>
            <a:xfrm flipH="false" flipV="false" rot="0">
              <a:off x="0" y="0"/>
              <a:ext cx="7559040" cy="975360"/>
            </a:xfrm>
            <a:custGeom>
              <a:avLst/>
              <a:gdLst/>
              <a:ahLst/>
              <a:cxnLst/>
              <a:rect r="r" b="b" t="t" l="l"/>
              <a:pathLst>
                <a:path h="975360" w="7559040">
                  <a:moveTo>
                    <a:pt x="0" y="0"/>
                  </a:moveTo>
                  <a:lnTo>
                    <a:pt x="7559040" y="0"/>
                  </a:lnTo>
                  <a:lnTo>
                    <a:pt x="7559040" y="975360"/>
                  </a:lnTo>
                  <a:lnTo>
                    <a:pt x="0" y="975360"/>
                  </a:lnTo>
                  <a:close/>
                </a:path>
              </a:pathLst>
            </a:custGeom>
            <a:blipFill>
              <a:blip r:embed="rId3">
                <a:alphaModFix amt="0"/>
              </a:blip>
              <a:stretch>
                <a:fillRect l="0" t="-101009" r="0" b="-101009"/>
              </a:stretch>
            </a:blipFill>
          </p:spPr>
        </p:sp>
        <p:sp>
          <p:nvSpPr>
            <p:cNvPr name="TextBox 19" id="19"/>
            <p:cNvSpPr txBox="true"/>
            <p:nvPr/>
          </p:nvSpPr>
          <p:spPr>
            <a:xfrm>
              <a:off x="0" y="-19050"/>
              <a:ext cx="7559040" cy="994410"/>
            </a:xfrm>
            <a:prstGeom prst="rect">
              <a:avLst/>
            </a:prstGeom>
          </p:spPr>
          <p:txBody>
            <a:bodyPr anchor="ctr" rtlCol="false" tIns="0" lIns="0" bIns="0" rIns="0"/>
            <a:lstStyle/>
            <a:p>
              <a:pPr algn="ctr">
                <a:lnSpc>
                  <a:spcPts val="3120"/>
                </a:lnSpc>
              </a:pPr>
              <a:r>
                <a:rPr lang="en-US" sz="2600">
                  <a:solidFill>
                    <a:srgbClr val="D6E2F8"/>
                  </a:solidFill>
                  <a:latin typeface="Arial"/>
                  <a:ea typeface="Arial"/>
                  <a:cs typeface="Arial"/>
                  <a:sym typeface="Arial"/>
                </a:rPr>
                <a:t>automated tests, all passing</a:t>
              </a:r>
            </a:p>
          </p:txBody>
        </p:sp>
      </p:grpSp>
      <p:grpSp>
        <p:nvGrpSpPr>
          <p:cNvPr name="Group 20" id="20"/>
          <p:cNvGrpSpPr/>
          <p:nvPr/>
        </p:nvGrpSpPr>
        <p:grpSpPr>
          <a:xfrm rot="0">
            <a:off x="11691623" y="6388103"/>
            <a:ext cx="5694683" cy="2860043"/>
            <a:chOff x="0" y="0"/>
            <a:chExt cx="7592911" cy="3813391"/>
          </a:xfrm>
        </p:grpSpPr>
        <p:sp>
          <p:nvSpPr>
            <p:cNvPr name="Freeform 21" id="21"/>
            <p:cNvSpPr/>
            <p:nvPr/>
          </p:nvSpPr>
          <p:spPr>
            <a:xfrm flipH="false" flipV="false" rot="0">
              <a:off x="0" y="0"/>
              <a:ext cx="7592949" cy="3813429"/>
            </a:xfrm>
            <a:custGeom>
              <a:avLst/>
              <a:gdLst/>
              <a:ahLst/>
              <a:cxnLst/>
              <a:rect r="r" b="b" t="t" l="l"/>
              <a:pathLst>
                <a:path h="3813429" w="7592949">
                  <a:moveTo>
                    <a:pt x="0" y="196850"/>
                  </a:moveTo>
                  <a:cubicBezTo>
                    <a:pt x="0" y="88138"/>
                    <a:pt x="88138" y="0"/>
                    <a:pt x="196850" y="0"/>
                  </a:cubicBezTo>
                  <a:lnTo>
                    <a:pt x="7396099" y="0"/>
                  </a:lnTo>
                  <a:cubicBezTo>
                    <a:pt x="7504811" y="0"/>
                    <a:pt x="7592949" y="88138"/>
                    <a:pt x="7592949" y="196850"/>
                  </a:cubicBezTo>
                  <a:lnTo>
                    <a:pt x="7592949" y="3616579"/>
                  </a:lnTo>
                  <a:cubicBezTo>
                    <a:pt x="7592949" y="3725291"/>
                    <a:pt x="7504811" y="3813429"/>
                    <a:pt x="7396099" y="3813429"/>
                  </a:cubicBezTo>
                  <a:lnTo>
                    <a:pt x="196850" y="3813429"/>
                  </a:lnTo>
                  <a:cubicBezTo>
                    <a:pt x="88138" y="3813429"/>
                    <a:pt x="0" y="3725291"/>
                    <a:pt x="0" y="3616579"/>
                  </a:cubicBezTo>
                  <a:close/>
                </a:path>
              </a:pathLst>
            </a:custGeom>
            <a:solidFill>
              <a:srgbClr val="EAF0FA"/>
            </a:solidFill>
            <a:ln w="25400" cap="sq">
              <a:solidFill>
                <a:srgbClr val="EAF0FA"/>
              </a:solidFill>
              <a:prstDash val="solid"/>
              <a:miter/>
            </a:ln>
          </p:spPr>
        </p:sp>
      </p:grpSp>
      <p:grpSp>
        <p:nvGrpSpPr>
          <p:cNvPr name="Group 22" id="22"/>
          <p:cNvGrpSpPr/>
          <p:nvPr/>
        </p:nvGrpSpPr>
        <p:grpSpPr>
          <a:xfrm rot="0">
            <a:off x="12070080" y="6400800"/>
            <a:ext cx="5120640" cy="2834640"/>
            <a:chOff x="0" y="0"/>
            <a:chExt cx="6827520" cy="3779520"/>
          </a:xfrm>
        </p:grpSpPr>
        <p:sp>
          <p:nvSpPr>
            <p:cNvPr name="Freeform 23" id="23"/>
            <p:cNvSpPr/>
            <p:nvPr/>
          </p:nvSpPr>
          <p:spPr>
            <a:xfrm flipH="false" flipV="false" rot="0">
              <a:off x="0" y="0"/>
              <a:ext cx="6827520" cy="3779520"/>
            </a:xfrm>
            <a:custGeom>
              <a:avLst/>
              <a:gdLst/>
              <a:ahLst/>
              <a:cxnLst/>
              <a:rect r="r" b="b" t="t" l="l"/>
              <a:pathLst>
                <a:path h="3779520" w="6827520">
                  <a:moveTo>
                    <a:pt x="0" y="0"/>
                  </a:moveTo>
                  <a:lnTo>
                    <a:pt x="6827520" y="0"/>
                  </a:lnTo>
                  <a:lnTo>
                    <a:pt x="6827520" y="3779520"/>
                  </a:lnTo>
                  <a:lnTo>
                    <a:pt x="0" y="3779520"/>
                  </a:lnTo>
                  <a:close/>
                </a:path>
              </a:pathLst>
            </a:custGeom>
            <a:blipFill>
              <a:blip r:embed="rId3">
                <a:alphaModFix amt="0"/>
              </a:blip>
              <a:stretch>
                <a:fillRect l="-21025" t="0" r="-21025" b="0"/>
              </a:stretch>
            </a:blipFill>
          </p:spPr>
        </p:sp>
        <p:sp>
          <p:nvSpPr>
            <p:cNvPr name="TextBox 24" id="24"/>
            <p:cNvSpPr txBox="true"/>
            <p:nvPr/>
          </p:nvSpPr>
          <p:spPr>
            <a:xfrm>
              <a:off x="0" y="-19050"/>
              <a:ext cx="6827520" cy="3798570"/>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Live online</a:t>
              </a:r>
            </a:p>
            <a:p>
              <a:pPr algn="l">
                <a:lnSpc>
                  <a:spcPts val="2999"/>
                </a:lnSpc>
              </a:pPr>
              <a:r>
                <a:rPr lang="en-US" sz="2499">
                  <a:solidFill>
                    <a:srgbClr val="1B2433"/>
                  </a:solidFill>
                  <a:latin typeface="Arial"/>
                  <a:ea typeface="Arial"/>
                  <a:cs typeface="Arial"/>
                  <a:sym typeface="Arial"/>
                </a:rPr>
                <a:t>Website on Vercel, server on Render.</a:t>
              </a:r>
            </a:p>
            <a:p>
              <a:pPr algn="l">
                <a:lnSpc>
                  <a:spcPts val="2999"/>
                </a:lnSpc>
              </a:pPr>
            </a:p>
            <a:p>
              <a:pPr algn="l">
                <a:lnSpc>
                  <a:spcPts val="2999"/>
                </a:lnSpc>
              </a:pPr>
              <a:r>
                <a:rPr lang="en-US" sz="2499" u="sng">
                  <a:solidFill>
                    <a:srgbClr val="1B2433"/>
                  </a:solidFill>
                  <a:latin typeface="Arial"/>
                  <a:ea typeface="Arial"/>
                  <a:cs typeface="Arial"/>
                  <a:sym typeface="Arial"/>
                  <a:hlinkClick r:id="rId4" tooltip="https://agent-sync.vercel.app"/>
                </a:rPr>
                <a:t>https://agent-sync.vercel.app/</a:t>
              </a:r>
            </a:p>
          </p:txBody>
        </p:sp>
      </p:grpSp>
      <p:sp>
        <p:nvSpPr>
          <p:cNvPr name="TextBox 25" id="25"/>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10</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38100"/>
              <a:ext cx="21945600" cy="1501140"/>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Target Users and Stakeholders</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Who uses AgentSync, and who gains from it.</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901703" y="2547623"/>
            <a:ext cx="7980683" cy="793499"/>
            <a:chOff x="0" y="0"/>
            <a:chExt cx="10640911" cy="1057999"/>
          </a:xfrm>
        </p:grpSpPr>
        <p:sp>
          <p:nvSpPr>
            <p:cNvPr name="Freeform 12" id="12"/>
            <p:cNvSpPr/>
            <p:nvPr/>
          </p:nvSpPr>
          <p:spPr>
            <a:xfrm flipH="false" flipV="false" rot="0">
              <a:off x="0" y="0"/>
              <a:ext cx="10640949" cy="1058037"/>
            </a:xfrm>
            <a:custGeom>
              <a:avLst/>
              <a:gdLst/>
              <a:ahLst/>
              <a:cxnLst/>
              <a:rect r="r" b="b" t="t" l="l"/>
              <a:pathLst>
                <a:path h="1058037" w="10640949">
                  <a:moveTo>
                    <a:pt x="0" y="201549"/>
                  </a:moveTo>
                  <a:cubicBezTo>
                    <a:pt x="0" y="90170"/>
                    <a:pt x="90170" y="0"/>
                    <a:pt x="201549" y="0"/>
                  </a:cubicBezTo>
                  <a:lnTo>
                    <a:pt x="10439400" y="0"/>
                  </a:lnTo>
                  <a:cubicBezTo>
                    <a:pt x="10550652" y="0"/>
                    <a:pt x="10640949" y="90170"/>
                    <a:pt x="10640949" y="201549"/>
                  </a:cubicBezTo>
                  <a:lnTo>
                    <a:pt x="10640949" y="856488"/>
                  </a:lnTo>
                  <a:cubicBezTo>
                    <a:pt x="10640949" y="967740"/>
                    <a:pt x="10550779" y="1058037"/>
                    <a:pt x="10439400" y="1058037"/>
                  </a:cubicBezTo>
                  <a:lnTo>
                    <a:pt x="201549" y="1058037"/>
                  </a:lnTo>
                  <a:cubicBezTo>
                    <a:pt x="90170" y="1058037"/>
                    <a:pt x="0" y="967740"/>
                    <a:pt x="0" y="856488"/>
                  </a:cubicBezTo>
                  <a:close/>
                </a:path>
              </a:pathLst>
            </a:custGeom>
            <a:solidFill>
              <a:srgbClr val="1F5FBF"/>
            </a:solidFill>
            <a:ln w="25400" cap="sq">
              <a:solidFill>
                <a:srgbClr val="1F5FBF"/>
              </a:solidFill>
              <a:prstDash val="solid"/>
              <a:miter/>
            </a:ln>
          </p:spPr>
        </p:sp>
      </p:grpSp>
      <p:grpSp>
        <p:nvGrpSpPr>
          <p:cNvPr name="Group 13" id="13"/>
          <p:cNvGrpSpPr/>
          <p:nvPr/>
        </p:nvGrpSpPr>
        <p:grpSpPr>
          <a:xfrm rot="0">
            <a:off x="1280160" y="2560320"/>
            <a:ext cx="7223760" cy="768096"/>
            <a:chOff x="0" y="0"/>
            <a:chExt cx="9631680" cy="1024128"/>
          </a:xfrm>
        </p:grpSpPr>
        <p:sp>
          <p:nvSpPr>
            <p:cNvPr name="Freeform 14" id="14"/>
            <p:cNvSpPr/>
            <p:nvPr/>
          </p:nvSpPr>
          <p:spPr>
            <a:xfrm flipH="false" flipV="false" rot="0">
              <a:off x="0" y="0"/>
              <a:ext cx="9631680" cy="1024128"/>
            </a:xfrm>
            <a:custGeom>
              <a:avLst/>
              <a:gdLst/>
              <a:ahLst/>
              <a:cxnLst/>
              <a:rect r="r" b="b" t="t" l="l"/>
              <a:pathLst>
                <a:path h="1024128" w="9631680">
                  <a:moveTo>
                    <a:pt x="0" y="0"/>
                  </a:moveTo>
                  <a:lnTo>
                    <a:pt x="9631680" y="0"/>
                  </a:lnTo>
                  <a:lnTo>
                    <a:pt x="9631680" y="1024128"/>
                  </a:lnTo>
                  <a:lnTo>
                    <a:pt x="0" y="1024128"/>
                  </a:lnTo>
                  <a:close/>
                </a:path>
              </a:pathLst>
            </a:custGeom>
            <a:blipFill>
              <a:blip r:embed="rId3">
                <a:alphaModFix amt="0"/>
              </a:blip>
              <a:stretch>
                <a:fillRect l="0" t="-133252" r="0" b="-133252"/>
              </a:stretch>
            </a:blipFill>
          </p:spPr>
        </p:sp>
        <p:sp>
          <p:nvSpPr>
            <p:cNvPr name="TextBox 15" id="15"/>
            <p:cNvSpPr txBox="true"/>
            <p:nvPr/>
          </p:nvSpPr>
          <p:spPr>
            <a:xfrm>
              <a:off x="0" y="-19050"/>
              <a:ext cx="9631680" cy="1043178"/>
            </a:xfrm>
            <a:prstGeom prst="rect">
              <a:avLst/>
            </a:prstGeom>
          </p:spPr>
          <p:txBody>
            <a:bodyPr anchor="ctr" rtlCol="false" tIns="0" lIns="0" bIns="0" rIns="0"/>
            <a:lstStyle/>
            <a:p>
              <a:pPr algn="l">
                <a:lnSpc>
                  <a:spcPts val="3359"/>
                </a:lnSpc>
              </a:pPr>
              <a:r>
                <a:rPr lang="en-US" sz="2799" b="true">
                  <a:solidFill>
                    <a:srgbClr val="FFFFFF"/>
                  </a:solidFill>
                  <a:latin typeface="Arial Bold"/>
                  <a:ea typeface="Arial Bold"/>
                  <a:cs typeface="Arial Bold"/>
                  <a:sym typeface="Arial Bold"/>
                </a:rPr>
                <a:t>Main users</a:t>
              </a:r>
            </a:p>
          </p:txBody>
        </p:sp>
      </p:grpSp>
      <p:grpSp>
        <p:nvGrpSpPr>
          <p:cNvPr name="Group 16" id="16"/>
          <p:cNvGrpSpPr/>
          <p:nvPr/>
        </p:nvGrpSpPr>
        <p:grpSpPr>
          <a:xfrm rot="0">
            <a:off x="9405623" y="2547623"/>
            <a:ext cx="7980683" cy="793499"/>
            <a:chOff x="0" y="0"/>
            <a:chExt cx="10640911" cy="1057999"/>
          </a:xfrm>
        </p:grpSpPr>
        <p:sp>
          <p:nvSpPr>
            <p:cNvPr name="Freeform 17" id="17"/>
            <p:cNvSpPr/>
            <p:nvPr/>
          </p:nvSpPr>
          <p:spPr>
            <a:xfrm flipH="false" flipV="false" rot="0">
              <a:off x="0" y="0"/>
              <a:ext cx="10640949" cy="1058037"/>
            </a:xfrm>
            <a:custGeom>
              <a:avLst/>
              <a:gdLst/>
              <a:ahLst/>
              <a:cxnLst/>
              <a:rect r="r" b="b" t="t" l="l"/>
              <a:pathLst>
                <a:path h="1058037" w="10640949">
                  <a:moveTo>
                    <a:pt x="0" y="201549"/>
                  </a:moveTo>
                  <a:cubicBezTo>
                    <a:pt x="0" y="90170"/>
                    <a:pt x="90170" y="0"/>
                    <a:pt x="201549" y="0"/>
                  </a:cubicBezTo>
                  <a:lnTo>
                    <a:pt x="10439400" y="0"/>
                  </a:lnTo>
                  <a:cubicBezTo>
                    <a:pt x="10550652" y="0"/>
                    <a:pt x="10640949" y="90170"/>
                    <a:pt x="10640949" y="201549"/>
                  </a:cubicBezTo>
                  <a:lnTo>
                    <a:pt x="10640949" y="856488"/>
                  </a:lnTo>
                  <a:cubicBezTo>
                    <a:pt x="10640949" y="967740"/>
                    <a:pt x="10550779" y="1058037"/>
                    <a:pt x="10439400" y="1058037"/>
                  </a:cubicBezTo>
                  <a:lnTo>
                    <a:pt x="201549" y="1058037"/>
                  </a:lnTo>
                  <a:cubicBezTo>
                    <a:pt x="90170" y="1058037"/>
                    <a:pt x="0" y="967740"/>
                    <a:pt x="0" y="856488"/>
                  </a:cubicBezTo>
                  <a:close/>
                </a:path>
              </a:pathLst>
            </a:custGeom>
            <a:solidFill>
              <a:srgbClr val="F28C28"/>
            </a:solidFill>
            <a:ln w="25400" cap="sq">
              <a:solidFill>
                <a:srgbClr val="F28C28"/>
              </a:solidFill>
              <a:prstDash val="solid"/>
              <a:miter/>
            </a:ln>
          </p:spPr>
        </p:sp>
      </p:grpSp>
      <p:grpSp>
        <p:nvGrpSpPr>
          <p:cNvPr name="Group 18" id="18"/>
          <p:cNvGrpSpPr/>
          <p:nvPr/>
        </p:nvGrpSpPr>
        <p:grpSpPr>
          <a:xfrm rot="0">
            <a:off x="9784080" y="2560320"/>
            <a:ext cx="7223760" cy="768096"/>
            <a:chOff x="0" y="0"/>
            <a:chExt cx="9631680" cy="1024128"/>
          </a:xfrm>
        </p:grpSpPr>
        <p:sp>
          <p:nvSpPr>
            <p:cNvPr name="Freeform 19" id="19"/>
            <p:cNvSpPr/>
            <p:nvPr/>
          </p:nvSpPr>
          <p:spPr>
            <a:xfrm flipH="false" flipV="false" rot="0">
              <a:off x="0" y="0"/>
              <a:ext cx="9631680" cy="1024128"/>
            </a:xfrm>
            <a:custGeom>
              <a:avLst/>
              <a:gdLst/>
              <a:ahLst/>
              <a:cxnLst/>
              <a:rect r="r" b="b" t="t" l="l"/>
              <a:pathLst>
                <a:path h="1024128" w="9631680">
                  <a:moveTo>
                    <a:pt x="0" y="0"/>
                  </a:moveTo>
                  <a:lnTo>
                    <a:pt x="9631680" y="0"/>
                  </a:lnTo>
                  <a:lnTo>
                    <a:pt x="9631680" y="1024128"/>
                  </a:lnTo>
                  <a:lnTo>
                    <a:pt x="0" y="1024128"/>
                  </a:lnTo>
                  <a:close/>
                </a:path>
              </a:pathLst>
            </a:custGeom>
            <a:blipFill>
              <a:blip r:embed="rId3">
                <a:alphaModFix amt="0"/>
              </a:blip>
              <a:stretch>
                <a:fillRect l="0" t="-133252" r="0" b="-133252"/>
              </a:stretch>
            </a:blipFill>
          </p:spPr>
        </p:sp>
        <p:sp>
          <p:nvSpPr>
            <p:cNvPr name="TextBox 20" id="20"/>
            <p:cNvSpPr txBox="true"/>
            <p:nvPr/>
          </p:nvSpPr>
          <p:spPr>
            <a:xfrm>
              <a:off x="0" y="-19050"/>
              <a:ext cx="9631680" cy="1043178"/>
            </a:xfrm>
            <a:prstGeom prst="rect">
              <a:avLst/>
            </a:prstGeom>
          </p:spPr>
          <p:txBody>
            <a:bodyPr anchor="ctr" rtlCol="false" tIns="0" lIns="0" bIns="0" rIns="0"/>
            <a:lstStyle/>
            <a:p>
              <a:pPr algn="l">
                <a:lnSpc>
                  <a:spcPts val="3359"/>
                </a:lnSpc>
              </a:pPr>
              <a:r>
                <a:rPr lang="en-US" sz="2799" b="true">
                  <a:solidFill>
                    <a:srgbClr val="FFFFFF"/>
                  </a:solidFill>
                  <a:latin typeface="Arial Bold"/>
                  <a:ea typeface="Arial Bold"/>
                  <a:cs typeface="Arial Bold"/>
                  <a:sym typeface="Arial Bold"/>
                </a:rPr>
                <a:t>Other stakeholders</a:t>
              </a:r>
            </a:p>
          </p:txBody>
        </p:sp>
      </p:grpSp>
      <p:grpSp>
        <p:nvGrpSpPr>
          <p:cNvPr name="Group 21" id="21"/>
          <p:cNvGrpSpPr/>
          <p:nvPr/>
        </p:nvGrpSpPr>
        <p:grpSpPr>
          <a:xfrm rot="0">
            <a:off x="901703" y="3553463"/>
            <a:ext cx="7980683" cy="1762763"/>
            <a:chOff x="0" y="0"/>
            <a:chExt cx="10640911" cy="2350351"/>
          </a:xfrm>
        </p:grpSpPr>
        <p:sp>
          <p:nvSpPr>
            <p:cNvPr name="Freeform 22" id="22"/>
            <p:cNvSpPr/>
            <p:nvPr/>
          </p:nvSpPr>
          <p:spPr>
            <a:xfrm flipH="false" flipV="false" rot="0">
              <a:off x="0" y="0"/>
              <a:ext cx="10640822" cy="2350262"/>
            </a:xfrm>
            <a:custGeom>
              <a:avLst/>
              <a:gdLst/>
              <a:ahLst/>
              <a:cxnLst/>
              <a:rect r="r" b="b" t="t" l="l"/>
              <a:pathLst>
                <a:path h="2350262" w="10640822">
                  <a:moveTo>
                    <a:pt x="0" y="197866"/>
                  </a:moveTo>
                  <a:cubicBezTo>
                    <a:pt x="0" y="88646"/>
                    <a:pt x="88646" y="0"/>
                    <a:pt x="197866" y="0"/>
                  </a:cubicBezTo>
                  <a:lnTo>
                    <a:pt x="10442956" y="0"/>
                  </a:lnTo>
                  <a:cubicBezTo>
                    <a:pt x="10552303" y="0"/>
                    <a:pt x="10640822" y="88646"/>
                    <a:pt x="10640822" y="197866"/>
                  </a:cubicBezTo>
                  <a:lnTo>
                    <a:pt x="10640822" y="2152396"/>
                  </a:lnTo>
                  <a:cubicBezTo>
                    <a:pt x="10640822" y="2261743"/>
                    <a:pt x="10552176" y="2350262"/>
                    <a:pt x="10442956" y="2350262"/>
                  </a:cubicBezTo>
                  <a:lnTo>
                    <a:pt x="197866" y="2350262"/>
                  </a:lnTo>
                  <a:cubicBezTo>
                    <a:pt x="88646" y="2350389"/>
                    <a:pt x="0" y="2261743"/>
                    <a:pt x="0" y="2152396"/>
                  </a:cubicBezTo>
                  <a:close/>
                </a:path>
              </a:pathLst>
            </a:custGeom>
            <a:solidFill>
              <a:srgbClr val="EAF0FA"/>
            </a:solidFill>
            <a:ln w="25400" cap="sq">
              <a:solidFill>
                <a:srgbClr val="EAF0FA"/>
              </a:solidFill>
              <a:prstDash val="solid"/>
              <a:miter/>
            </a:ln>
          </p:spPr>
        </p:sp>
      </p:grpSp>
      <p:grpSp>
        <p:nvGrpSpPr>
          <p:cNvPr name="Group 23" id="23"/>
          <p:cNvGrpSpPr/>
          <p:nvPr/>
        </p:nvGrpSpPr>
        <p:grpSpPr>
          <a:xfrm rot="0">
            <a:off x="901703" y="3827783"/>
            <a:ext cx="135131" cy="1214123"/>
            <a:chOff x="0" y="0"/>
            <a:chExt cx="180175" cy="1618831"/>
          </a:xfrm>
        </p:grpSpPr>
        <p:sp>
          <p:nvSpPr>
            <p:cNvPr name="Freeform 24" id="24"/>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1F5FBF"/>
            </a:solidFill>
            <a:ln w="25400" cap="sq">
              <a:solidFill>
                <a:srgbClr val="1F5FBF"/>
              </a:solidFill>
              <a:prstDash val="solid"/>
              <a:miter/>
            </a:ln>
          </p:spPr>
        </p:sp>
      </p:grpSp>
      <p:grpSp>
        <p:nvGrpSpPr>
          <p:cNvPr name="Group 25" id="25"/>
          <p:cNvGrpSpPr/>
          <p:nvPr/>
        </p:nvGrpSpPr>
        <p:grpSpPr>
          <a:xfrm rot="0">
            <a:off x="1280160" y="3566160"/>
            <a:ext cx="7406640" cy="1737360"/>
            <a:chOff x="0" y="0"/>
            <a:chExt cx="9875520" cy="2316480"/>
          </a:xfrm>
        </p:grpSpPr>
        <p:sp>
          <p:nvSpPr>
            <p:cNvPr name="Freeform 26" id="26"/>
            <p:cNvSpPr/>
            <p:nvPr/>
          </p:nvSpPr>
          <p:spPr>
            <a:xfrm flipH="false" flipV="false" rot="0">
              <a:off x="0" y="0"/>
              <a:ext cx="9875520" cy="2316480"/>
            </a:xfrm>
            <a:custGeom>
              <a:avLst/>
              <a:gdLst/>
              <a:ahLst/>
              <a:cxnLst/>
              <a:rect r="r" b="b" t="t" l="l"/>
              <a:pathLst>
                <a:path h="2316480" w="9875520">
                  <a:moveTo>
                    <a:pt x="0" y="0"/>
                  </a:moveTo>
                  <a:lnTo>
                    <a:pt x="9875520" y="0"/>
                  </a:lnTo>
                  <a:lnTo>
                    <a:pt x="9875520" y="2316480"/>
                  </a:lnTo>
                  <a:lnTo>
                    <a:pt x="0" y="2316480"/>
                  </a:lnTo>
                  <a:close/>
                </a:path>
              </a:pathLst>
            </a:custGeom>
            <a:blipFill>
              <a:blip r:embed="rId3">
                <a:alphaModFix amt="0"/>
              </a:blip>
              <a:stretch>
                <a:fillRect l="0" t="-33067" r="0" b="-33067"/>
              </a:stretch>
            </a:blipFill>
          </p:spPr>
        </p:sp>
        <p:sp>
          <p:nvSpPr>
            <p:cNvPr name="TextBox 27" id="27"/>
            <p:cNvSpPr txBox="true"/>
            <p:nvPr/>
          </p:nvSpPr>
          <p:spPr>
            <a:xfrm>
              <a:off x="0" y="-19050"/>
              <a:ext cx="9875520" cy="2335530"/>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On-call engineers</a:t>
              </a:r>
            </a:p>
            <a:p>
              <a:pPr algn="l">
                <a:lnSpc>
                  <a:spcPts val="2999"/>
                </a:lnSpc>
              </a:pPr>
              <a:r>
                <a:rPr lang="en-US" sz="2499">
                  <a:solidFill>
                    <a:srgbClr val="1B2433"/>
                  </a:solidFill>
                  <a:latin typeface="Arial"/>
                  <a:ea typeface="Arial"/>
                  <a:cs typeface="Arial"/>
                  <a:sym typeface="Arial"/>
                </a:rPr>
                <a:t>Get clear tickets that match their skills.</a:t>
              </a:r>
            </a:p>
          </p:txBody>
        </p:sp>
      </p:grpSp>
      <p:grpSp>
        <p:nvGrpSpPr>
          <p:cNvPr name="Group 28" id="28"/>
          <p:cNvGrpSpPr/>
          <p:nvPr/>
        </p:nvGrpSpPr>
        <p:grpSpPr>
          <a:xfrm rot="0">
            <a:off x="901703" y="5510279"/>
            <a:ext cx="7980683" cy="1762763"/>
            <a:chOff x="0" y="0"/>
            <a:chExt cx="10640911" cy="2350351"/>
          </a:xfrm>
        </p:grpSpPr>
        <p:sp>
          <p:nvSpPr>
            <p:cNvPr name="Freeform 29" id="29"/>
            <p:cNvSpPr/>
            <p:nvPr/>
          </p:nvSpPr>
          <p:spPr>
            <a:xfrm flipH="false" flipV="false" rot="0">
              <a:off x="0" y="0"/>
              <a:ext cx="10640822" cy="2350262"/>
            </a:xfrm>
            <a:custGeom>
              <a:avLst/>
              <a:gdLst/>
              <a:ahLst/>
              <a:cxnLst/>
              <a:rect r="r" b="b" t="t" l="l"/>
              <a:pathLst>
                <a:path h="2350262" w="10640822">
                  <a:moveTo>
                    <a:pt x="0" y="197866"/>
                  </a:moveTo>
                  <a:cubicBezTo>
                    <a:pt x="0" y="88646"/>
                    <a:pt x="88646" y="0"/>
                    <a:pt x="197866" y="0"/>
                  </a:cubicBezTo>
                  <a:lnTo>
                    <a:pt x="10442956" y="0"/>
                  </a:lnTo>
                  <a:cubicBezTo>
                    <a:pt x="10552303" y="0"/>
                    <a:pt x="10640822" y="88646"/>
                    <a:pt x="10640822" y="197866"/>
                  </a:cubicBezTo>
                  <a:lnTo>
                    <a:pt x="10640822" y="2152396"/>
                  </a:lnTo>
                  <a:cubicBezTo>
                    <a:pt x="10640822" y="2261743"/>
                    <a:pt x="10552176" y="2350262"/>
                    <a:pt x="10442956" y="2350262"/>
                  </a:cubicBezTo>
                  <a:lnTo>
                    <a:pt x="197866" y="2350262"/>
                  </a:lnTo>
                  <a:cubicBezTo>
                    <a:pt x="88646" y="2350389"/>
                    <a:pt x="0" y="2261743"/>
                    <a:pt x="0" y="2152396"/>
                  </a:cubicBezTo>
                  <a:close/>
                </a:path>
              </a:pathLst>
            </a:custGeom>
            <a:solidFill>
              <a:srgbClr val="EAF0FA"/>
            </a:solidFill>
            <a:ln w="25400" cap="sq">
              <a:solidFill>
                <a:srgbClr val="EAF0FA"/>
              </a:solidFill>
              <a:prstDash val="solid"/>
              <a:miter/>
            </a:ln>
          </p:spPr>
        </p:sp>
      </p:grpSp>
      <p:grpSp>
        <p:nvGrpSpPr>
          <p:cNvPr name="Group 30" id="30"/>
          <p:cNvGrpSpPr/>
          <p:nvPr/>
        </p:nvGrpSpPr>
        <p:grpSpPr>
          <a:xfrm rot="0">
            <a:off x="901703" y="5784599"/>
            <a:ext cx="135131" cy="1214123"/>
            <a:chOff x="0" y="0"/>
            <a:chExt cx="180175" cy="1618831"/>
          </a:xfrm>
        </p:grpSpPr>
        <p:sp>
          <p:nvSpPr>
            <p:cNvPr name="Freeform 31" id="31"/>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1F5FBF"/>
            </a:solidFill>
            <a:ln w="25400" cap="sq">
              <a:solidFill>
                <a:srgbClr val="1F5FBF"/>
              </a:solidFill>
              <a:prstDash val="solid"/>
              <a:miter/>
            </a:ln>
          </p:spPr>
        </p:sp>
      </p:grpSp>
      <p:grpSp>
        <p:nvGrpSpPr>
          <p:cNvPr name="Group 32" id="32"/>
          <p:cNvGrpSpPr/>
          <p:nvPr/>
        </p:nvGrpSpPr>
        <p:grpSpPr>
          <a:xfrm rot="0">
            <a:off x="1280160" y="5522976"/>
            <a:ext cx="7406640" cy="1737360"/>
            <a:chOff x="0" y="0"/>
            <a:chExt cx="9875520" cy="2316480"/>
          </a:xfrm>
        </p:grpSpPr>
        <p:sp>
          <p:nvSpPr>
            <p:cNvPr name="Freeform 33" id="33"/>
            <p:cNvSpPr/>
            <p:nvPr/>
          </p:nvSpPr>
          <p:spPr>
            <a:xfrm flipH="false" flipV="false" rot="0">
              <a:off x="0" y="0"/>
              <a:ext cx="9875520" cy="2316480"/>
            </a:xfrm>
            <a:custGeom>
              <a:avLst/>
              <a:gdLst/>
              <a:ahLst/>
              <a:cxnLst/>
              <a:rect r="r" b="b" t="t" l="l"/>
              <a:pathLst>
                <a:path h="2316480" w="9875520">
                  <a:moveTo>
                    <a:pt x="0" y="0"/>
                  </a:moveTo>
                  <a:lnTo>
                    <a:pt x="9875520" y="0"/>
                  </a:lnTo>
                  <a:lnTo>
                    <a:pt x="9875520" y="2316480"/>
                  </a:lnTo>
                  <a:lnTo>
                    <a:pt x="0" y="2316480"/>
                  </a:lnTo>
                  <a:close/>
                </a:path>
              </a:pathLst>
            </a:custGeom>
            <a:blipFill>
              <a:blip r:embed="rId3">
                <a:alphaModFix amt="0"/>
              </a:blip>
              <a:stretch>
                <a:fillRect l="0" t="-33067" r="0" b="-33067"/>
              </a:stretch>
            </a:blipFill>
          </p:spPr>
        </p:sp>
        <p:sp>
          <p:nvSpPr>
            <p:cNvPr name="TextBox 34" id="34"/>
            <p:cNvSpPr txBox="true"/>
            <p:nvPr/>
          </p:nvSpPr>
          <p:spPr>
            <a:xfrm>
              <a:off x="0" y="-19050"/>
              <a:ext cx="9875520" cy="2335530"/>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Team managers</a:t>
              </a:r>
            </a:p>
            <a:p>
              <a:pPr algn="l">
                <a:lnSpc>
                  <a:spcPts val="2999"/>
                </a:lnSpc>
              </a:pPr>
              <a:r>
                <a:rPr lang="en-US" sz="2499">
                  <a:solidFill>
                    <a:srgbClr val="1B2433"/>
                  </a:solidFill>
                  <a:latin typeface="Arial"/>
                  <a:ea typeface="Arial"/>
                  <a:cs typeface="Arial"/>
                  <a:sym typeface="Arial"/>
                </a:rPr>
                <a:t>See workload and assign projects easily.</a:t>
              </a:r>
            </a:p>
          </p:txBody>
        </p:sp>
      </p:grpSp>
      <p:grpSp>
        <p:nvGrpSpPr>
          <p:cNvPr name="Group 35" id="35"/>
          <p:cNvGrpSpPr/>
          <p:nvPr/>
        </p:nvGrpSpPr>
        <p:grpSpPr>
          <a:xfrm rot="0">
            <a:off x="901703" y="7467095"/>
            <a:ext cx="7980683" cy="1762763"/>
            <a:chOff x="0" y="0"/>
            <a:chExt cx="10640911" cy="2350351"/>
          </a:xfrm>
        </p:grpSpPr>
        <p:sp>
          <p:nvSpPr>
            <p:cNvPr name="Freeform 36" id="36"/>
            <p:cNvSpPr/>
            <p:nvPr/>
          </p:nvSpPr>
          <p:spPr>
            <a:xfrm flipH="false" flipV="false" rot="0">
              <a:off x="0" y="0"/>
              <a:ext cx="10640822" cy="2350262"/>
            </a:xfrm>
            <a:custGeom>
              <a:avLst/>
              <a:gdLst/>
              <a:ahLst/>
              <a:cxnLst/>
              <a:rect r="r" b="b" t="t" l="l"/>
              <a:pathLst>
                <a:path h="2350262" w="10640822">
                  <a:moveTo>
                    <a:pt x="0" y="197866"/>
                  </a:moveTo>
                  <a:cubicBezTo>
                    <a:pt x="0" y="88646"/>
                    <a:pt x="88646" y="0"/>
                    <a:pt x="197866" y="0"/>
                  </a:cubicBezTo>
                  <a:lnTo>
                    <a:pt x="10442956" y="0"/>
                  </a:lnTo>
                  <a:cubicBezTo>
                    <a:pt x="10552303" y="0"/>
                    <a:pt x="10640822" y="88646"/>
                    <a:pt x="10640822" y="197866"/>
                  </a:cubicBezTo>
                  <a:lnTo>
                    <a:pt x="10640822" y="2152396"/>
                  </a:lnTo>
                  <a:cubicBezTo>
                    <a:pt x="10640822" y="2261743"/>
                    <a:pt x="10552176" y="2350262"/>
                    <a:pt x="10442956" y="2350262"/>
                  </a:cubicBezTo>
                  <a:lnTo>
                    <a:pt x="197866" y="2350262"/>
                  </a:lnTo>
                  <a:cubicBezTo>
                    <a:pt x="88646" y="2350389"/>
                    <a:pt x="0" y="2261743"/>
                    <a:pt x="0" y="2152396"/>
                  </a:cubicBezTo>
                  <a:close/>
                </a:path>
              </a:pathLst>
            </a:custGeom>
            <a:solidFill>
              <a:srgbClr val="EAF0FA"/>
            </a:solidFill>
            <a:ln w="25400" cap="sq">
              <a:solidFill>
                <a:srgbClr val="EAF0FA"/>
              </a:solidFill>
              <a:prstDash val="solid"/>
              <a:miter/>
            </a:ln>
          </p:spPr>
        </p:sp>
      </p:grpSp>
      <p:grpSp>
        <p:nvGrpSpPr>
          <p:cNvPr name="Group 37" id="37"/>
          <p:cNvGrpSpPr/>
          <p:nvPr/>
        </p:nvGrpSpPr>
        <p:grpSpPr>
          <a:xfrm rot="0">
            <a:off x="901703" y="7741415"/>
            <a:ext cx="135131" cy="1214123"/>
            <a:chOff x="0" y="0"/>
            <a:chExt cx="180175" cy="1618831"/>
          </a:xfrm>
        </p:grpSpPr>
        <p:sp>
          <p:nvSpPr>
            <p:cNvPr name="Freeform 38" id="38"/>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1F5FBF"/>
            </a:solidFill>
            <a:ln w="25400" cap="sq">
              <a:solidFill>
                <a:srgbClr val="1F5FBF"/>
              </a:solidFill>
              <a:prstDash val="solid"/>
              <a:miter/>
            </a:ln>
          </p:spPr>
        </p:sp>
      </p:grpSp>
      <p:grpSp>
        <p:nvGrpSpPr>
          <p:cNvPr name="Group 39" id="39"/>
          <p:cNvGrpSpPr/>
          <p:nvPr/>
        </p:nvGrpSpPr>
        <p:grpSpPr>
          <a:xfrm rot="0">
            <a:off x="1280160" y="7479792"/>
            <a:ext cx="7406640" cy="1737360"/>
            <a:chOff x="0" y="0"/>
            <a:chExt cx="9875520" cy="2316480"/>
          </a:xfrm>
        </p:grpSpPr>
        <p:sp>
          <p:nvSpPr>
            <p:cNvPr name="Freeform 40" id="40"/>
            <p:cNvSpPr/>
            <p:nvPr/>
          </p:nvSpPr>
          <p:spPr>
            <a:xfrm flipH="false" flipV="false" rot="0">
              <a:off x="0" y="0"/>
              <a:ext cx="9875520" cy="2316480"/>
            </a:xfrm>
            <a:custGeom>
              <a:avLst/>
              <a:gdLst/>
              <a:ahLst/>
              <a:cxnLst/>
              <a:rect r="r" b="b" t="t" l="l"/>
              <a:pathLst>
                <a:path h="2316480" w="9875520">
                  <a:moveTo>
                    <a:pt x="0" y="0"/>
                  </a:moveTo>
                  <a:lnTo>
                    <a:pt x="9875520" y="0"/>
                  </a:lnTo>
                  <a:lnTo>
                    <a:pt x="9875520" y="2316480"/>
                  </a:lnTo>
                  <a:lnTo>
                    <a:pt x="0" y="2316480"/>
                  </a:lnTo>
                  <a:close/>
                </a:path>
              </a:pathLst>
            </a:custGeom>
            <a:blipFill>
              <a:blip r:embed="rId3">
                <a:alphaModFix amt="0"/>
              </a:blip>
              <a:stretch>
                <a:fillRect l="0" t="-33067" r="0" b="-33067"/>
              </a:stretch>
            </a:blipFill>
          </p:spPr>
        </p:sp>
        <p:sp>
          <p:nvSpPr>
            <p:cNvPr name="TextBox 41" id="41"/>
            <p:cNvSpPr txBox="true"/>
            <p:nvPr/>
          </p:nvSpPr>
          <p:spPr>
            <a:xfrm>
              <a:off x="0" y="-19050"/>
              <a:ext cx="9875520" cy="2335530"/>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HR administrators</a:t>
              </a:r>
            </a:p>
            <a:p>
              <a:pPr algn="l">
                <a:lnSpc>
                  <a:spcPts val="2999"/>
                </a:lnSpc>
              </a:pPr>
              <a:r>
                <a:rPr lang="en-US" sz="2499">
                  <a:solidFill>
                    <a:srgbClr val="1B2433"/>
                  </a:solidFill>
                  <a:latin typeface="Arial"/>
                  <a:ea typeface="Arial"/>
                  <a:cs typeface="Arial"/>
                  <a:sym typeface="Arial"/>
                </a:rPr>
                <a:t>Manage the team list safely with a login.</a:t>
              </a:r>
            </a:p>
          </p:txBody>
        </p:sp>
      </p:grpSp>
      <p:grpSp>
        <p:nvGrpSpPr>
          <p:cNvPr name="Group 42" id="42"/>
          <p:cNvGrpSpPr/>
          <p:nvPr/>
        </p:nvGrpSpPr>
        <p:grpSpPr>
          <a:xfrm rot="0">
            <a:off x="9405623" y="3553463"/>
            <a:ext cx="7980683" cy="1762763"/>
            <a:chOff x="0" y="0"/>
            <a:chExt cx="10640911" cy="2350351"/>
          </a:xfrm>
        </p:grpSpPr>
        <p:sp>
          <p:nvSpPr>
            <p:cNvPr name="Freeform 43" id="43"/>
            <p:cNvSpPr/>
            <p:nvPr/>
          </p:nvSpPr>
          <p:spPr>
            <a:xfrm flipH="false" flipV="false" rot="0">
              <a:off x="0" y="0"/>
              <a:ext cx="10640822" cy="2350262"/>
            </a:xfrm>
            <a:custGeom>
              <a:avLst/>
              <a:gdLst/>
              <a:ahLst/>
              <a:cxnLst/>
              <a:rect r="r" b="b" t="t" l="l"/>
              <a:pathLst>
                <a:path h="2350262" w="10640822">
                  <a:moveTo>
                    <a:pt x="0" y="197866"/>
                  </a:moveTo>
                  <a:cubicBezTo>
                    <a:pt x="0" y="88646"/>
                    <a:pt x="88646" y="0"/>
                    <a:pt x="197866" y="0"/>
                  </a:cubicBezTo>
                  <a:lnTo>
                    <a:pt x="10442956" y="0"/>
                  </a:lnTo>
                  <a:cubicBezTo>
                    <a:pt x="10552303" y="0"/>
                    <a:pt x="10640822" y="88646"/>
                    <a:pt x="10640822" y="197866"/>
                  </a:cubicBezTo>
                  <a:lnTo>
                    <a:pt x="10640822" y="2152396"/>
                  </a:lnTo>
                  <a:cubicBezTo>
                    <a:pt x="10640822" y="2261743"/>
                    <a:pt x="10552176" y="2350262"/>
                    <a:pt x="10442956" y="2350262"/>
                  </a:cubicBezTo>
                  <a:lnTo>
                    <a:pt x="197866" y="2350262"/>
                  </a:lnTo>
                  <a:cubicBezTo>
                    <a:pt x="88646" y="2350389"/>
                    <a:pt x="0" y="2261743"/>
                    <a:pt x="0" y="2152396"/>
                  </a:cubicBezTo>
                  <a:close/>
                </a:path>
              </a:pathLst>
            </a:custGeom>
            <a:solidFill>
              <a:srgbClr val="EAF0FA"/>
            </a:solidFill>
            <a:ln w="25400" cap="sq">
              <a:solidFill>
                <a:srgbClr val="EAF0FA"/>
              </a:solidFill>
              <a:prstDash val="solid"/>
              <a:miter/>
            </a:ln>
          </p:spPr>
        </p:sp>
      </p:grpSp>
      <p:grpSp>
        <p:nvGrpSpPr>
          <p:cNvPr name="Group 44" id="44"/>
          <p:cNvGrpSpPr/>
          <p:nvPr/>
        </p:nvGrpSpPr>
        <p:grpSpPr>
          <a:xfrm rot="0">
            <a:off x="9405623" y="3827783"/>
            <a:ext cx="135131" cy="1214123"/>
            <a:chOff x="0" y="0"/>
            <a:chExt cx="180175" cy="1618831"/>
          </a:xfrm>
        </p:grpSpPr>
        <p:sp>
          <p:nvSpPr>
            <p:cNvPr name="Freeform 45" id="45"/>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F28C28"/>
            </a:solidFill>
            <a:ln w="25400" cap="sq">
              <a:solidFill>
                <a:srgbClr val="F28C28"/>
              </a:solidFill>
              <a:prstDash val="solid"/>
              <a:miter/>
            </a:ln>
          </p:spPr>
        </p:sp>
      </p:grpSp>
      <p:grpSp>
        <p:nvGrpSpPr>
          <p:cNvPr name="Group 46" id="46"/>
          <p:cNvGrpSpPr/>
          <p:nvPr/>
        </p:nvGrpSpPr>
        <p:grpSpPr>
          <a:xfrm rot="0">
            <a:off x="9784080" y="3566160"/>
            <a:ext cx="7406640" cy="1737360"/>
            <a:chOff x="0" y="0"/>
            <a:chExt cx="9875520" cy="2316480"/>
          </a:xfrm>
        </p:grpSpPr>
        <p:sp>
          <p:nvSpPr>
            <p:cNvPr name="Freeform 47" id="47"/>
            <p:cNvSpPr/>
            <p:nvPr/>
          </p:nvSpPr>
          <p:spPr>
            <a:xfrm flipH="false" flipV="false" rot="0">
              <a:off x="0" y="0"/>
              <a:ext cx="9875520" cy="2316480"/>
            </a:xfrm>
            <a:custGeom>
              <a:avLst/>
              <a:gdLst/>
              <a:ahLst/>
              <a:cxnLst/>
              <a:rect r="r" b="b" t="t" l="l"/>
              <a:pathLst>
                <a:path h="2316480" w="9875520">
                  <a:moveTo>
                    <a:pt x="0" y="0"/>
                  </a:moveTo>
                  <a:lnTo>
                    <a:pt x="9875520" y="0"/>
                  </a:lnTo>
                  <a:lnTo>
                    <a:pt x="9875520" y="2316480"/>
                  </a:lnTo>
                  <a:lnTo>
                    <a:pt x="0" y="2316480"/>
                  </a:lnTo>
                  <a:close/>
                </a:path>
              </a:pathLst>
            </a:custGeom>
            <a:blipFill>
              <a:blip r:embed="rId3">
                <a:alphaModFix amt="0"/>
              </a:blip>
              <a:stretch>
                <a:fillRect l="0" t="-33067" r="0" b="-33067"/>
              </a:stretch>
            </a:blipFill>
          </p:spPr>
        </p:sp>
        <p:sp>
          <p:nvSpPr>
            <p:cNvPr name="TextBox 48" id="48"/>
            <p:cNvSpPr txBox="true"/>
            <p:nvPr/>
          </p:nvSpPr>
          <p:spPr>
            <a:xfrm>
              <a:off x="0" y="-19050"/>
              <a:ext cx="9875520" cy="2335530"/>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Company leadership</a:t>
              </a:r>
            </a:p>
            <a:p>
              <a:pPr algn="l">
                <a:lnSpc>
                  <a:spcPts val="2999"/>
                </a:lnSpc>
              </a:pPr>
              <a:r>
                <a:rPr lang="en-US" sz="2499">
                  <a:solidFill>
                    <a:srgbClr val="1B2433"/>
                  </a:solidFill>
                  <a:latin typeface="Arial"/>
                  <a:ea typeface="Arial"/>
                  <a:cs typeface="Arial"/>
                  <a:sym typeface="Arial"/>
                </a:rPr>
                <a:t>Less downtime and lower business risk.</a:t>
              </a:r>
            </a:p>
          </p:txBody>
        </p:sp>
      </p:grpSp>
      <p:grpSp>
        <p:nvGrpSpPr>
          <p:cNvPr name="Group 49" id="49"/>
          <p:cNvGrpSpPr/>
          <p:nvPr/>
        </p:nvGrpSpPr>
        <p:grpSpPr>
          <a:xfrm rot="0">
            <a:off x="9405623" y="5510279"/>
            <a:ext cx="7980683" cy="1762763"/>
            <a:chOff x="0" y="0"/>
            <a:chExt cx="10640911" cy="2350351"/>
          </a:xfrm>
        </p:grpSpPr>
        <p:sp>
          <p:nvSpPr>
            <p:cNvPr name="Freeform 50" id="50"/>
            <p:cNvSpPr/>
            <p:nvPr/>
          </p:nvSpPr>
          <p:spPr>
            <a:xfrm flipH="false" flipV="false" rot="0">
              <a:off x="0" y="0"/>
              <a:ext cx="10640822" cy="2350262"/>
            </a:xfrm>
            <a:custGeom>
              <a:avLst/>
              <a:gdLst/>
              <a:ahLst/>
              <a:cxnLst/>
              <a:rect r="r" b="b" t="t" l="l"/>
              <a:pathLst>
                <a:path h="2350262" w="10640822">
                  <a:moveTo>
                    <a:pt x="0" y="197866"/>
                  </a:moveTo>
                  <a:cubicBezTo>
                    <a:pt x="0" y="88646"/>
                    <a:pt x="88646" y="0"/>
                    <a:pt x="197866" y="0"/>
                  </a:cubicBezTo>
                  <a:lnTo>
                    <a:pt x="10442956" y="0"/>
                  </a:lnTo>
                  <a:cubicBezTo>
                    <a:pt x="10552303" y="0"/>
                    <a:pt x="10640822" y="88646"/>
                    <a:pt x="10640822" y="197866"/>
                  </a:cubicBezTo>
                  <a:lnTo>
                    <a:pt x="10640822" y="2152396"/>
                  </a:lnTo>
                  <a:cubicBezTo>
                    <a:pt x="10640822" y="2261743"/>
                    <a:pt x="10552176" y="2350262"/>
                    <a:pt x="10442956" y="2350262"/>
                  </a:cubicBezTo>
                  <a:lnTo>
                    <a:pt x="197866" y="2350262"/>
                  </a:lnTo>
                  <a:cubicBezTo>
                    <a:pt x="88646" y="2350389"/>
                    <a:pt x="0" y="2261743"/>
                    <a:pt x="0" y="2152396"/>
                  </a:cubicBezTo>
                  <a:close/>
                </a:path>
              </a:pathLst>
            </a:custGeom>
            <a:solidFill>
              <a:srgbClr val="EAF0FA"/>
            </a:solidFill>
            <a:ln w="25400" cap="sq">
              <a:solidFill>
                <a:srgbClr val="EAF0FA"/>
              </a:solidFill>
              <a:prstDash val="solid"/>
              <a:miter/>
            </a:ln>
          </p:spPr>
        </p:sp>
      </p:grpSp>
      <p:grpSp>
        <p:nvGrpSpPr>
          <p:cNvPr name="Group 51" id="51"/>
          <p:cNvGrpSpPr/>
          <p:nvPr/>
        </p:nvGrpSpPr>
        <p:grpSpPr>
          <a:xfrm rot="0">
            <a:off x="9405623" y="5784599"/>
            <a:ext cx="135131" cy="1214123"/>
            <a:chOff x="0" y="0"/>
            <a:chExt cx="180175" cy="1618831"/>
          </a:xfrm>
        </p:grpSpPr>
        <p:sp>
          <p:nvSpPr>
            <p:cNvPr name="Freeform 52" id="52"/>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F28C28"/>
            </a:solidFill>
            <a:ln w="25400" cap="sq">
              <a:solidFill>
                <a:srgbClr val="F28C28"/>
              </a:solidFill>
              <a:prstDash val="solid"/>
              <a:miter/>
            </a:ln>
          </p:spPr>
        </p:sp>
      </p:grpSp>
      <p:grpSp>
        <p:nvGrpSpPr>
          <p:cNvPr name="Group 53" id="53"/>
          <p:cNvGrpSpPr/>
          <p:nvPr/>
        </p:nvGrpSpPr>
        <p:grpSpPr>
          <a:xfrm rot="0">
            <a:off x="9784080" y="5522976"/>
            <a:ext cx="7406640" cy="1737360"/>
            <a:chOff x="0" y="0"/>
            <a:chExt cx="9875520" cy="2316480"/>
          </a:xfrm>
        </p:grpSpPr>
        <p:sp>
          <p:nvSpPr>
            <p:cNvPr name="Freeform 54" id="54"/>
            <p:cNvSpPr/>
            <p:nvPr/>
          </p:nvSpPr>
          <p:spPr>
            <a:xfrm flipH="false" flipV="false" rot="0">
              <a:off x="0" y="0"/>
              <a:ext cx="9875520" cy="2316480"/>
            </a:xfrm>
            <a:custGeom>
              <a:avLst/>
              <a:gdLst/>
              <a:ahLst/>
              <a:cxnLst/>
              <a:rect r="r" b="b" t="t" l="l"/>
              <a:pathLst>
                <a:path h="2316480" w="9875520">
                  <a:moveTo>
                    <a:pt x="0" y="0"/>
                  </a:moveTo>
                  <a:lnTo>
                    <a:pt x="9875520" y="0"/>
                  </a:lnTo>
                  <a:lnTo>
                    <a:pt x="9875520" y="2316480"/>
                  </a:lnTo>
                  <a:lnTo>
                    <a:pt x="0" y="2316480"/>
                  </a:lnTo>
                  <a:close/>
                </a:path>
              </a:pathLst>
            </a:custGeom>
            <a:blipFill>
              <a:blip r:embed="rId3">
                <a:alphaModFix amt="0"/>
              </a:blip>
              <a:stretch>
                <a:fillRect l="0" t="-33067" r="0" b="-33067"/>
              </a:stretch>
            </a:blipFill>
          </p:spPr>
        </p:sp>
        <p:sp>
          <p:nvSpPr>
            <p:cNvPr name="TextBox 55" id="55"/>
            <p:cNvSpPr txBox="true"/>
            <p:nvPr/>
          </p:nvSpPr>
          <p:spPr>
            <a:xfrm>
              <a:off x="0" y="-19050"/>
              <a:ext cx="9875520" cy="2335530"/>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Customers</a:t>
              </a:r>
            </a:p>
            <a:p>
              <a:pPr algn="l">
                <a:lnSpc>
                  <a:spcPts val="2999"/>
                </a:lnSpc>
              </a:pPr>
              <a:r>
                <a:rPr lang="en-US" sz="2499">
                  <a:solidFill>
                    <a:srgbClr val="1B2433"/>
                  </a:solidFill>
                  <a:latin typeface="Arial"/>
                  <a:ea typeface="Arial"/>
                  <a:cs typeface="Arial"/>
                  <a:sym typeface="Arial"/>
                </a:rPr>
                <a:t>Services stay available and get fixed faster.</a:t>
              </a:r>
            </a:p>
          </p:txBody>
        </p:sp>
      </p:grpSp>
      <p:grpSp>
        <p:nvGrpSpPr>
          <p:cNvPr name="Group 56" id="56"/>
          <p:cNvGrpSpPr/>
          <p:nvPr/>
        </p:nvGrpSpPr>
        <p:grpSpPr>
          <a:xfrm rot="0">
            <a:off x="9405623" y="7467095"/>
            <a:ext cx="7980683" cy="1762763"/>
            <a:chOff x="0" y="0"/>
            <a:chExt cx="10640911" cy="2350351"/>
          </a:xfrm>
        </p:grpSpPr>
        <p:sp>
          <p:nvSpPr>
            <p:cNvPr name="Freeform 57" id="57"/>
            <p:cNvSpPr/>
            <p:nvPr/>
          </p:nvSpPr>
          <p:spPr>
            <a:xfrm flipH="false" flipV="false" rot="0">
              <a:off x="0" y="0"/>
              <a:ext cx="10640822" cy="2350262"/>
            </a:xfrm>
            <a:custGeom>
              <a:avLst/>
              <a:gdLst/>
              <a:ahLst/>
              <a:cxnLst/>
              <a:rect r="r" b="b" t="t" l="l"/>
              <a:pathLst>
                <a:path h="2350262" w="10640822">
                  <a:moveTo>
                    <a:pt x="0" y="197866"/>
                  </a:moveTo>
                  <a:cubicBezTo>
                    <a:pt x="0" y="88646"/>
                    <a:pt x="88646" y="0"/>
                    <a:pt x="197866" y="0"/>
                  </a:cubicBezTo>
                  <a:lnTo>
                    <a:pt x="10442956" y="0"/>
                  </a:lnTo>
                  <a:cubicBezTo>
                    <a:pt x="10552303" y="0"/>
                    <a:pt x="10640822" y="88646"/>
                    <a:pt x="10640822" y="197866"/>
                  </a:cubicBezTo>
                  <a:lnTo>
                    <a:pt x="10640822" y="2152396"/>
                  </a:lnTo>
                  <a:cubicBezTo>
                    <a:pt x="10640822" y="2261743"/>
                    <a:pt x="10552176" y="2350262"/>
                    <a:pt x="10442956" y="2350262"/>
                  </a:cubicBezTo>
                  <a:lnTo>
                    <a:pt x="197866" y="2350262"/>
                  </a:lnTo>
                  <a:cubicBezTo>
                    <a:pt x="88646" y="2350389"/>
                    <a:pt x="0" y="2261743"/>
                    <a:pt x="0" y="2152396"/>
                  </a:cubicBezTo>
                  <a:close/>
                </a:path>
              </a:pathLst>
            </a:custGeom>
            <a:solidFill>
              <a:srgbClr val="EAF0FA"/>
            </a:solidFill>
            <a:ln w="25400" cap="sq">
              <a:solidFill>
                <a:srgbClr val="EAF0FA"/>
              </a:solidFill>
              <a:prstDash val="solid"/>
              <a:miter/>
            </a:ln>
          </p:spPr>
        </p:sp>
      </p:grpSp>
      <p:grpSp>
        <p:nvGrpSpPr>
          <p:cNvPr name="Group 58" id="58"/>
          <p:cNvGrpSpPr/>
          <p:nvPr/>
        </p:nvGrpSpPr>
        <p:grpSpPr>
          <a:xfrm rot="0">
            <a:off x="9405623" y="7741415"/>
            <a:ext cx="135131" cy="1214123"/>
            <a:chOff x="0" y="0"/>
            <a:chExt cx="180175" cy="1618831"/>
          </a:xfrm>
        </p:grpSpPr>
        <p:sp>
          <p:nvSpPr>
            <p:cNvPr name="Freeform 59" id="59"/>
            <p:cNvSpPr/>
            <p:nvPr/>
          </p:nvSpPr>
          <p:spPr>
            <a:xfrm flipH="false" flipV="false" rot="0">
              <a:off x="0" y="0"/>
              <a:ext cx="180213" cy="1618869"/>
            </a:xfrm>
            <a:custGeom>
              <a:avLst/>
              <a:gdLst/>
              <a:ahLst/>
              <a:cxnLst/>
              <a:rect r="r" b="b" t="t" l="l"/>
              <a:pathLst>
                <a:path h="1618869" w="180213">
                  <a:moveTo>
                    <a:pt x="0" y="0"/>
                  </a:moveTo>
                  <a:lnTo>
                    <a:pt x="180213" y="0"/>
                  </a:lnTo>
                  <a:lnTo>
                    <a:pt x="180213" y="1618869"/>
                  </a:lnTo>
                  <a:lnTo>
                    <a:pt x="0" y="1618869"/>
                  </a:lnTo>
                  <a:close/>
                </a:path>
              </a:pathLst>
            </a:custGeom>
            <a:solidFill>
              <a:srgbClr val="F28C28"/>
            </a:solidFill>
            <a:ln w="25400" cap="sq">
              <a:solidFill>
                <a:srgbClr val="F28C28"/>
              </a:solidFill>
              <a:prstDash val="solid"/>
              <a:miter/>
            </a:ln>
          </p:spPr>
        </p:sp>
      </p:grpSp>
      <p:grpSp>
        <p:nvGrpSpPr>
          <p:cNvPr name="Group 60" id="60"/>
          <p:cNvGrpSpPr/>
          <p:nvPr/>
        </p:nvGrpSpPr>
        <p:grpSpPr>
          <a:xfrm rot="0">
            <a:off x="9784080" y="7479792"/>
            <a:ext cx="7406640" cy="1737360"/>
            <a:chOff x="0" y="0"/>
            <a:chExt cx="9875520" cy="2316480"/>
          </a:xfrm>
        </p:grpSpPr>
        <p:sp>
          <p:nvSpPr>
            <p:cNvPr name="Freeform 61" id="61"/>
            <p:cNvSpPr/>
            <p:nvPr/>
          </p:nvSpPr>
          <p:spPr>
            <a:xfrm flipH="false" flipV="false" rot="0">
              <a:off x="0" y="0"/>
              <a:ext cx="9875520" cy="2316480"/>
            </a:xfrm>
            <a:custGeom>
              <a:avLst/>
              <a:gdLst/>
              <a:ahLst/>
              <a:cxnLst/>
              <a:rect r="r" b="b" t="t" l="l"/>
              <a:pathLst>
                <a:path h="2316480" w="9875520">
                  <a:moveTo>
                    <a:pt x="0" y="0"/>
                  </a:moveTo>
                  <a:lnTo>
                    <a:pt x="9875520" y="0"/>
                  </a:lnTo>
                  <a:lnTo>
                    <a:pt x="9875520" y="2316480"/>
                  </a:lnTo>
                  <a:lnTo>
                    <a:pt x="0" y="2316480"/>
                  </a:lnTo>
                  <a:close/>
                </a:path>
              </a:pathLst>
            </a:custGeom>
            <a:blipFill>
              <a:blip r:embed="rId3">
                <a:alphaModFix amt="0"/>
              </a:blip>
              <a:stretch>
                <a:fillRect l="0" t="-33067" r="0" b="-33067"/>
              </a:stretch>
            </a:blipFill>
          </p:spPr>
        </p:sp>
        <p:sp>
          <p:nvSpPr>
            <p:cNvPr name="TextBox 62" id="62"/>
            <p:cNvSpPr txBox="true"/>
            <p:nvPr/>
          </p:nvSpPr>
          <p:spPr>
            <a:xfrm>
              <a:off x="0" y="-19050"/>
              <a:ext cx="9875520" cy="2335530"/>
            </a:xfrm>
            <a:prstGeom prst="rect">
              <a:avLst/>
            </a:prstGeom>
          </p:spPr>
          <p:txBody>
            <a:bodyPr anchor="ctr" rtlCol="false" tIns="0" lIns="0" bIns="0" rIns="0"/>
            <a:lstStyle/>
            <a:p>
              <a:pPr algn="l">
                <a:lnSpc>
                  <a:spcPts val="3600"/>
                </a:lnSpc>
              </a:pPr>
              <a:r>
                <a:rPr lang="en-US" sz="3000" b="true">
                  <a:solidFill>
                    <a:srgbClr val="0F2557"/>
                  </a:solidFill>
                  <a:latin typeface="Arial Bold"/>
                  <a:ea typeface="Arial Bold"/>
                  <a:cs typeface="Arial Bold"/>
                  <a:sym typeface="Arial Bold"/>
                </a:rPr>
                <a:t>Employees and requesters</a:t>
              </a:r>
            </a:p>
            <a:p>
              <a:pPr algn="l">
                <a:lnSpc>
                  <a:spcPts val="2999"/>
                </a:lnSpc>
              </a:pPr>
              <a:r>
                <a:rPr lang="en-US" sz="2499">
                  <a:solidFill>
                    <a:srgbClr val="1B2433"/>
                  </a:solidFill>
                  <a:latin typeface="Arial"/>
                  <a:ea typeface="Arial"/>
                  <a:cs typeface="Arial"/>
                  <a:sym typeface="Arial"/>
                </a:rPr>
                <a:t>Get quick answers to general questions.</a:t>
              </a:r>
            </a:p>
          </p:txBody>
        </p:sp>
      </p:grpSp>
      <p:sp>
        <p:nvSpPr>
          <p:cNvPr name="TextBox 63" id="63"/>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8</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097280"/>
            <a:chOff x="0" y="0"/>
            <a:chExt cx="21945600" cy="1463040"/>
          </a:xfrm>
        </p:grpSpPr>
        <p:sp>
          <p:nvSpPr>
            <p:cNvPr name="Freeform 3" id="3"/>
            <p:cNvSpPr/>
            <p:nvPr/>
          </p:nvSpPr>
          <p:spPr>
            <a:xfrm flipH="false" flipV="false" rot="0">
              <a:off x="0" y="0"/>
              <a:ext cx="21945600" cy="1463040"/>
            </a:xfrm>
            <a:custGeom>
              <a:avLst/>
              <a:gdLst/>
              <a:ahLst/>
              <a:cxnLst/>
              <a:rect r="r" b="b" t="t" l="l"/>
              <a:pathLst>
                <a:path h="1463040" w="21945600">
                  <a:moveTo>
                    <a:pt x="0" y="0"/>
                  </a:moveTo>
                  <a:lnTo>
                    <a:pt x="21945600" y="0"/>
                  </a:lnTo>
                  <a:lnTo>
                    <a:pt x="21945600" y="1463040"/>
                  </a:lnTo>
                  <a:lnTo>
                    <a:pt x="0" y="1463040"/>
                  </a:lnTo>
                  <a:close/>
                </a:path>
              </a:pathLst>
            </a:custGeom>
            <a:blipFill>
              <a:blip r:embed="rId3">
                <a:alphaModFix amt="0"/>
              </a:blip>
              <a:stretch>
                <a:fillRect l="0" t="-242275" r="0" b="-242275"/>
              </a:stretch>
            </a:blipFill>
          </p:spPr>
        </p:sp>
        <p:sp>
          <p:nvSpPr>
            <p:cNvPr name="TextBox 4" id="4"/>
            <p:cNvSpPr txBox="true"/>
            <p:nvPr/>
          </p:nvSpPr>
          <p:spPr>
            <a:xfrm>
              <a:off x="0" y="-38100"/>
              <a:ext cx="21945600" cy="1501140"/>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Impact and Benefits</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What changes for the business and for people.</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1028700" y="2738343"/>
            <a:ext cx="8551575" cy="5887286"/>
            <a:chOff x="0" y="0"/>
            <a:chExt cx="11402100" cy="7849715"/>
          </a:xfrm>
        </p:grpSpPr>
        <p:sp>
          <p:nvSpPr>
            <p:cNvPr name="Freeform 12" id="12"/>
            <p:cNvSpPr/>
            <p:nvPr/>
          </p:nvSpPr>
          <p:spPr>
            <a:xfrm flipH="false" flipV="false" rot="0">
              <a:off x="0" y="0"/>
              <a:ext cx="11401952" cy="7849537"/>
            </a:xfrm>
            <a:custGeom>
              <a:avLst/>
              <a:gdLst/>
              <a:ahLst/>
              <a:cxnLst/>
              <a:rect r="r" b="b" t="t" l="l"/>
              <a:pathLst>
                <a:path h="7849537" w="11401952">
                  <a:moveTo>
                    <a:pt x="0" y="392401"/>
                  </a:moveTo>
                  <a:cubicBezTo>
                    <a:pt x="0" y="175808"/>
                    <a:pt x="146466" y="0"/>
                    <a:pt x="326910" y="0"/>
                  </a:cubicBezTo>
                  <a:lnTo>
                    <a:pt x="11075043" y="0"/>
                  </a:lnTo>
                  <a:cubicBezTo>
                    <a:pt x="11255698" y="0"/>
                    <a:pt x="11401952" y="175808"/>
                    <a:pt x="11401952" y="392401"/>
                  </a:cubicBezTo>
                  <a:lnTo>
                    <a:pt x="11401952" y="7457137"/>
                  </a:lnTo>
                  <a:cubicBezTo>
                    <a:pt x="11401952" y="7673984"/>
                    <a:pt x="11255487" y="7849537"/>
                    <a:pt x="11075043" y="7849537"/>
                  </a:cubicBezTo>
                  <a:lnTo>
                    <a:pt x="326910" y="7849537"/>
                  </a:lnTo>
                  <a:cubicBezTo>
                    <a:pt x="146466" y="7849753"/>
                    <a:pt x="0" y="7673984"/>
                    <a:pt x="0" y="7457137"/>
                  </a:cubicBezTo>
                  <a:close/>
                </a:path>
              </a:pathLst>
            </a:custGeom>
            <a:solidFill>
              <a:srgbClr val="EAF0FA"/>
            </a:solidFill>
            <a:ln w="25400" cap="sq">
              <a:solidFill>
                <a:srgbClr val="EAF0FA"/>
              </a:solidFill>
              <a:prstDash val="solid"/>
              <a:miter/>
            </a:ln>
          </p:spPr>
        </p:sp>
      </p:grpSp>
      <p:grpSp>
        <p:nvGrpSpPr>
          <p:cNvPr name="Group 13" id="13"/>
          <p:cNvGrpSpPr/>
          <p:nvPr/>
        </p:nvGrpSpPr>
        <p:grpSpPr>
          <a:xfrm rot="0">
            <a:off x="10556920" y="2738343"/>
            <a:ext cx="6816680" cy="5887286"/>
            <a:chOff x="0" y="0"/>
            <a:chExt cx="6861391" cy="5925901"/>
          </a:xfrm>
        </p:grpSpPr>
        <p:sp>
          <p:nvSpPr>
            <p:cNvPr name="Freeform 14" id="14"/>
            <p:cNvSpPr/>
            <p:nvPr/>
          </p:nvSpPr>
          <p:spPr>
            <a:xfrm flipH="false" flipV="false" rot="0">
              <a:off x="0" y="0"/>
              <a:ext cx="6861302" cy="5925767"/>
            </a:xfrm>
            <a:custGeom>
              <a:avLst/>
              <a:gdLst/>
              <a:ahLst/>
              <a:cxnLst/>
              <a:rect r="r" b="b" t="t" l="l"/>
              <a:pathLst>
                <a:path h="5925767" w="6861302">
                  <a:moveTo>
                    <a:pt x="0" y="296231"/>
                  </a:moveTo>
                  <a:cubicBezTo>
                    <a:pt x="0" y="132721"/>
                    <a:pt x="88138" y="0"/>
                    <a:pt x="196723" y="0"/>
                  </a:cubicBezTo>
                  <a:lnTo>
                    <a:pt x="6664579" y="0"/>
                  </a:lnTo>
                  <a:cubicBezTo>
                    <a:pt x="6773291" y="0"/>
                    <a:pt x="6861302" y="132721"/>
                    <a:pt x="6861302" y="296231"/>
                  </a:cubicBezTo>
                  <a:lnTo>
                    <a:pt x="6861302" y="5629536"/>
                  </a:lnTo>
                  <a:cubicBezTo>
                    <a:pt x="6861302" y="5793237"/>
                    <a:pt x="6773164" y="5925767"/>
                    <a:pt x="6664579" y="5925767"/>
                  </a:cubicBezTo>
                  <a:lnTo>
                    <a:pt x="196723" y="5925767"/>
                  </a:lnTo>
                  <a:cubicBezTo>
                    <a:pt x="88138" y="5925939"/>
                    <a:pt x="0" y="5793237"/>
                    <a:pt x="0" y="5629536"/>
                  </a:cubicBezTo>
                  <a:close/>
                </a:path>
              </a:pathLst>
            </a:custGeom>
            <a:solidFill>
              <a:srgbClr val="EAF0FA"/>
            </a:solidFill>
            <a:ln w="25400" cap="sq">
              <a:solidFill>
                <a:srgbClr val="EAF0FA"/>
              </a:solidFill>
              <a:prstDash val="solid"/>
              <a:miter/>
            </a:ln>
          </p:spPr>
        </p:sp>
      </p:grpSp>
      <p:sp>
        <p:nvSpPr>
          <p:cNvPr name="TextBox 15" id="15"/>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9</a:t>
            </a:r>
          </a:p>
        </p:txBody>
      </p:sp>
      <p:sp>
        <p:nvSpPr>
          <p:cNvPr name="TextBox 16" id="16"/>
          <p:cNvSpPr txBox="true"/>
          <p:nvPr/>
        </p:nvSpPr>
        <p:spPr>
          <a:xfrm rot="0">
            <a:off x="1290183" y="3936682"/>
            <a:ext cx="7677625" cy="3724275"/>
          </a:xfrm>
          <a:prstGeom prst="rect">
            <a:avLst/>
          </a:prstGeom>
        </p:spPr>
        <p:txBody>
          <a:bodyPr anchor="t" rtlCol="false" tIns="0" lIns="0" bIns="0" rIns="0">
            <a:spAutoFit/>
          </a:bodyPr>
          <a:lstStyle/>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Unified workflow: Combines incident diagnosis with workforce assignment.</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Evidence-based decisions: Uses logs, service health, historical incidents, and runbooks.</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Capacity-aware dispatch: Avoids assigning work to overloaded personnel.</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Context-rich handoff: Attaches findings and recommended procedures to tickets.</a:t>
            </a:r>
          </a:p>
          <a:p>
            <a:pPr algn="l" marL="539749" indent="-269875" lvl="1">
              <a:lnSpc>
                <a:spcPts val="2999"/>
              </a:lnSpc>
              <a:spcBef>
                <a:spcPct val="0"/>
              </a:spcBef>
              <a:buFont typeface="Arial"/>
              <a:buChar char="•"/>
            </a:pPr>
            <a:r>
              <a:rPr lang="en-US" sz="2499">
                <a:solidFill>
                  <a:srgbClr val="000000"/>
                </a:solidFill>
                <a:latin typeface="Arial"/>
                <a:ea typeface="Arial"/>
                <a:cs typeface="Arial"/>
                <a:sym typeface="Arial"/>
              </a:rPr>
              <a:t>Wellbeing-aware coordination: Considers stress indicators and workload distribution</a:t>
            </a:r>
            <a:r>
              <a:rPr lang="en-US" sz="2499">
                <a:solidFill>
                  <a:srgbClr val="5B6B8C"/>
                </a:solidFill>
                <a:latin typeface="Arial"/>
                <a:ea typeface="Arial"/>
                <a:cs typeface="Arial"/>
                <a:sym typeface="Arial"/>
              </a:rPr>
              <a:t>.</a:t>
            </a:r>
          </a:p>
        </p:txBody>
      </p:sp>
      <p:sp>
        <p:nvSpPr>
          <p:cNvPr name="TextBox 17" id="17"/>
          <p:cNvSpPr txBox="true"/>
          <p:nvPr/>
        </p:nvSpPr>
        <p:spPr>
          <a:xfrm rot="0">
            <a:off x="10881996" y="2957036"/>
            <a:ext cx="5497196" cy="4013860"/>
          </a:xfrm>
          <a:prstGeom prst="rect">
            <a:avLst/>
          </a:prstGeom>
        </p:spPr>
        <p:txBody>
          <a:bodyPr anchor="t" rtlCol="false" tIns="0" lIns="0" bIns="0" rIns="0">
            <a:spAutoFit/>
          </a:bodyPr>
          <a:lstStyle/>
          <a:p>
            <a:pPr algn="l">
              <a:lnSpc>
                <a:spcPts val="3226"/>
              </a:lnSpc>
              <a:spcBef>
                <a:spcPct val="0"/>
              </a:spcBef>
            </a:pPr>
            <a:r>
              <a:rPr lang="en-US" sz="2688">
                <a:solidFill>
                  <a:srgbClr val="000000"/>
                </a:solidFill>
                <a:latin typeface="Arial"/>
                <a:ea typeface="Arial"/>
                <a:cs typeface="Arial"/>
                <a:sym typeface="Arial"/>
              </a:rPr>
              <a:t>    </a:t>
            </a:r>
            <a:r>
              <a:rPr lang="en-US" b="true" sz="2688">
                <a:solidFill>
                  <a:srgbClr val="000000"/>
                </a:solidFill>
                <a:latin typeface="Arial Bold"/>
                <a:ea typeface="Arial Bold"/>
                <a:cs typeface="Arial Bold"/>
                <a:sym typeface="Arial Bold"/>
              </a:rPr>
              <a:t>Expected Benefits</a:t>
            </a:r>
          </a:p>
          <a:p>
            <a:pPr algn="l">
              <a:lnSpc>
                <a:spcPts val="3226"/>
              </a:lnSpc>
              <a:spcBef>
                <a:spcPct val="0"/>
              </a:spcBef>
            </a:pPr>
          </a:p>
          <a:p>
            <a:pPr algn="l" marL="580442" indent="-290221" lvl="1">
              <a:lnSpc>
                <a:spcPts val="3226"/>
              </a:lnSpc>
              <a:spcBef>
                <a:spcPct val="0"/>
              </a:spcBef>
              <a:buFont typeface="Arial"/>
              <a:buChar char="•"/>
            </a:pPr>
            <a:r>
              <a:rPr lang="en-US" sz="2688">
                <a:solidFill>
                  <a:srgbClr val="000000"/>
                </a:solidFill>
                <a:latin typeface="Arial"/>
                <a:ea typeface="Arial"/>
                <a:cs typeface="Arial"/>
                <a:sym typeface="Arial"/>
              </a:rPr>
              <a:t>Reduced manual investigation effort.</a:t>
            </a:r>
          </a:p>
          <a:p>
            <a:pPr algn="l" marL="580442" indent="-290221" lvl="1">
              <a:lnSpc>
                <a:spcPts val="3226"/>
              </a:lnSpc>
              <a:spcBef>
                <a:spcPct val="0"/>
              </a:spcBef>
              <a:buFont typeface="Arial"/>
              <a:buChar char="•"/>
            </a:pPr>
            <a:r>
              <a:rPr lang="en-US" sz="2688">
                <a:solidFill>
                  <a:srgbClr val="000000"/>
                </a:solidFill>
                <a:latin typeface="Arial"/>
                <a:ea typeface="Arial"/>
                <a:cs typeface="Arial"/>
                <a:sym typeface="Arial"/>
              </a:rPr>
              <a:t>More consistent incident triage.</a:t>
            </a:r>
          </a:p>
          <a:p>
            <a:pPr algn="l" marL="580442" indent="-290221" lvl="1">
              <a:lnSpc>
                <a:spcPts val="3226"/>
              </a:lnSpc>
              <a:spcBef>
                <a:spcPct val="0"/>
              </a:spcBef>
              <a:buFont typeface="Arial"/>
              <a:buChar char="•"/>
            </a:pPr>
            <a:r>
              <a:rPr lang="en-US" sz="2688">
                <a:solidFill>
                  <a:srgbClr val="000000"/>
                </a:solidFill>
                <a:latin typeface="Arial"/>
                <a:ea typeface="Arial"/>
                <a:cs typeface="Arial"/>
                <a:sym typeface="Arial"/>
              </a:rPr>
              <a:t>Better alignment between incident needs and engineer skills.</a:t>
            </a:r>
          </a:p>
          <a:p>
            <a:pPr algn="l" marL="580442" indent="-290221" lvl="1">
              <a:lnSpc>
                <a:spcPts val="3226"/>
              </a:lnSpc>
              <a:spcBef>
                <a:spcPct val="0"/>
              </a:spcBef>
              <a:buFont typeface="Arial"/>
              <a:buChar char="•"/>
            </a:pPr>
            <a:r>
              <a:rPr lang="en-US" sz="2688">
                <a:solidFill>
                  <a:srgbClr val="000000"/>
                </a:solidFill>
                <a:latin typeface="Arial"/>
                <a:ea typeface="Arial"/>
                <a:cs typeface="Arial"/>
                <a:sym typeface="Arial"/>
              </a:rPr>
              <a:t>Improved workload visibility and reduced overload risk.</a:t>
            </a:r>
          </a:p>
        </p:txBody>
      </p:sp>
      <p:sp>
        <p:nvSpPr>
          <p:cNvPr name="TextBox 18" id="18"/>
          <p:cNvSpPr txBox="true"/>
          <p:nvPr/>
        </p:nvSpPr>
        <p:spPr>
          <a:xfrm rot="0">
            <a:off x="1028700" y="2966561"/>
            <a:ext cx="6837066" cy="381000"/>
          </a:xfrm>
          <a:prstGeom prst="rect">
            <a:avLst/>
          </a:prstGeom>
        </p:spPr>
        <p:txBody>
          <a:bodyPr anchor="t" rtlCol="false" tIns="0" lIns="0" bIns="0" rIns="0">
            <a:spAutoFit/>
          </a:bodyPr>
          <a:lstStyle/>
          <a:p>
            <a:pPr algn="ctr">
              <a:lnSpc>
                <a:spcPts val="2999"/>
              </a:lnSpc>
              <a:spcBef>
                <a:spcPct val="0"/>
              </a:spcBef>
            </a:pPr>
            <a:r>
              <a:rPr lang="en-US" b="true" sz="2499">
                <a:solidFill>
                  <a:srgbClr val="000000"/>
                </a:solidFill>
                <a:latin typeface="Arial Bold"/>
                <a:ea typeface="Arial Bold"/>
                <a:cs typeface="Arial Bold"/>
                <a:sym typeface="Arial Bold"/>
              </a:rPr>
              <a:t>What Makes AgentSync Different?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914400" y="548640"/>
            <a:ext cx="16459200" cy="1155055"/>
            <a:chOff x="0" y="0"/>
            <a:chExt cx="21945600" cy="1540074"/>
          </a:xfrm>
        </p:grpSpPr>
        <p:sp>
          <p:nvSpPr>
            <p:cNvPr name="Freeform 3" id="3"/>
            <p:cNvSpPr/>
            <p:nvPr/>
          </p:nvSpPr>
          <p:spPr>
            <a:xfrm flipH="false" flipV="false" rot="0">
              <a:off x="0" y="0"/>
              <a:ext cx="21945600" cy="1540074"/>
            </a:xfrm>
            <a:custGeom>
              <a:avLst/>
              <a:gdLst/>
              <a:ahLst/>
              <a:cxnLst/>
              <a:rect r="r" b="b" t="t" l="l"/>
              <a:pathLst>
                <a:path h="1540074" w="21945600">
                  <a:moveTo>
                    <a:pt x="0" y="0"/>
                  </a:moveTo>
                  <a:lnTo>
                    <a:pt x="21945600" y="0"/>
                  </a:lnTo>
                  <a:lnTo>
                    <a:pt x="21945600" y="1540074"/>
                  </a:lnTo>
                  <a:lnTo>
                    <a:pt x="0" y="1540074"/>
                  </a:lnTo>
                  <a:close/>
                </a:path>
              </a:pathLst>
            </a:custGeom>
            <a:blipFill>
              <a:blip r:embed="rId3">
                <a:alphaModFix amt="0"/>
              </a:blip>
              <a:stretch>
                <a:fillRect l="0" t="-230157" r="0" b="-225155"/>
              </a:stretch>
            </a:blipFill>
          </p:spPr>
        </p:sp>
        <p:sp>
          <p:nvSpPr>
            <p:cNvPr name="TextBox 4" id="4"/>
            <p:cNvSpPr txBox="true"/>
            <p:nvPr/>
          </p:nvSpPr>
          <p:spPr>
            <a:xfrm>
              <a:off x="0" y="-38100"/>
              <a:ext cx="21945600" cy="1578174"/>
            </a:xfrm>
            <a:prstGeom prst="rect">
              <a:avLst/>
            </a:prstGeom>
          </p:spPr>
          <p:txBody>
            <a:bodyPr anchor="ctr" rtlCol="false" tIns="0" lIns="0" bIns="0" rIns="0"/>
            <a:lstStyle/>
            <a:p>
              <a:pPr algn="l">
                <a:lnSpc>
                  <a:spcPts val="6720"/>
                </a:lnSpc>
              </a:pPr>
              <a:r>
                <a:rPr lang="en-US" sz="5600" b="true">
                  <a:solidFill>
                    <a:srgbClr val="0F2557"/>
                  </a:solidFill>
                  <a:latin typeface="Arial Bold"/>
                  <a:ea typeface="Arial Bold"/>
                  <a:cs typeface="Arial Bold"/>
                  <a:sym typeface="Arial Bold"/>
                </a:rPr>
                <a:t>Conclusion and Future Scope</a:t>
              </a:r>
            </a:p>
          </p:txBody>
        </p:sp>
      </p:grpSp>
      <p:grpSp>
        <p:nvGrpSpPr>
          <p:cNvPr name="Group 5" id="5"/>
          <p:cNvGrpSpPr/>
          <p:nvPr/>
        </p:nvGrpSpPr>
        <p:grpSpPr>
          <a:xfrm rot="0">
            <a:off x="914400" y="1645920"/>
            <a:ext cx="16459200" cy="731520"/>
            <a:chOff x="0" y="0"/>
            <a:chExt cx="21945600" cy="975360"/>
          </a:xfrm>
        </p:grpSpPr>
        <p:sp>
          <p:nvSpPr>
            <p:cNvPr name="Freeform 6" id="6"/>
            <p:cNvSpPr/>
            <p:nvPr/>
          </p:nvSpPr>
          <p:spPr>
            <a:xfrm flipH="false" flipV="false" rot="0">
              <a:off x="0" y="0"/>
              <a:ext cx="21945600" cy="975360"/>
            </a:xfrm>
            <a:custGeom>
              <a:avLst/>
              <a:gdLst/>
              <a:ahLst/>
              <a:cxnLst/>
              <a:rect r="r" b="b" t="t" l="l"/>
              <a:pathLst>
                <a:path h="975360" w="21945600">
                  <a:moveTo>
                    <a:pt x="0" y="0"/>
                  </a:moveTo>
                  <a:lnTo>
                    <a:pt x="21945600" y="0"/>
                  </a:lnTo>
                  <a:lnTo>
                    <a:pt x="21945600" y="975360"/>
                  </a:lnTo>
                  <a:lnTo>
                    <a:pt x="0" y="975360"/>
                  </a:lnTo>
                  <a:close/>
                </a:path>
              </a:pathLst>
            </a:custGeom>
            <a:blipFill>
              <a:blip r:embed="rId3">
                <a:alphaModFix amt="0"/>
              </a:blip>
              <a:stretch>
                <a:fillRect l="0" t="-388413" r="0" b="-388413"/>
              </a:stretch>
            </a:blipFill>
          </p:spPr>
        </p:sp>
        <p:sp>
          <p:nvSpPr>
            <p:cNvPr name="TextBox 7" id="7"/>
            <p:cNvSpPr txBox="true"/>
            <p:nvPr/>
          </p:nvSpPr>
          <p:spPr>
            <a:xfrm>
              <a:off x="0" y="-19050"/>
              <a:ext cx="21945600" cy="994410"/>
            </a:xfrm>
            <a:prstGeom prst="rect">
              <a:avLst/>
            </a:prstGeom>
          </p:spPr>
          <p:txBody>
            <a:bodyPr anchor="ctr" rtlCol="false" tIns="0" lIns="0" bIns="0" rIns="0"/>
            <a:lstStyle/>
            <a:p>
              <a:pPr algn="l">
                <a:lnSpc>
                  <a:spcPts val="3359"/>
                </a:lnSpc>
              </a:pPr>
              <a:r>
                <a:rPr lang="en-US" sz="2799">
                  <a:solidFill>
                    <a:srgbClr val="5B6B8C"/>
                  </a:solidFill>
                  <a:latin typeface="Arial"/>
                  <a:ea typeface="Arial"/>
                  <a:cs typeface="Arial"/>
                  <a:sym typeface="Arial"/>
                </a:rPr>
                <a:t>Agen</a:t>
              </a:r>
              <a:r>
                <a:rPr lang="en-US" sz="2799">
                  <a:solidFill>
                    <a:srgbClr val="5B6B8C"/>
                  </a:solidFill>
                  <a:latin typeface="Arial"/>
                  <a:ea typeface="Arial"/>
                  <a:cs typeface="Arial"/>
                  <a:sym typeface="Arial"/>
                </a:rPr>
                <a:t>tSync — Intelligent Operations, Balanced Teams</a:t>
              </a:r>
            </a:p>
          </p:txBody>
        </p:sp>
      </p:grpSp>
      <p:grpSp>
        <p:nvGrpSpPr>
          <p:cNvPr name="Group 8" id="8"/>
          <p:cNvGrpSpPr/>
          <p:nvPr/>
        </p:nvGrpSpPr>
        <p:grpSpPr>
          <a:xfrm rot="0">
            <a:off x="914400" y="9601200"/>
            <a:ext cx="5486400" cy="457200"/>
            <a:chOff x="0" y="0"/>
            <a:chExt cx="7315200" cy="609600"/>
          </a:xfrm>
        </p:grpSpPr>
        <p:sp>
          <p:nvSpPr>
            <p:cNvPr name="Freeform 9" id="9"/>
            <p:cNvSpPr/>
            <p:nvPr/>
          </p:nvSpPr>
          <p:spPr>
            <a:xfrm flipH="false" flipV="false" rot="0">
              <a:off x="0" y="0"/>
              <a:ext cx="7315200" cy="609600"/>
            </a:xfrm>
            <a:custGeom>
              <a:avLst/>
              <a:gdLst/>
              <a:ahLst/>
              <a:cxnLst/>
              <a:rect r="r" b="b" t="t" l="l"/>
              <a:pathLst>
                <a:path h="609600" w="7315200">
                  <a:moveTo>
                    <a:pt x="0" y="0"/>
                  </a:moveTo>
                  <a:lnTo>
                    <a:pt x="7315200" y="0"/>
                  </a:lnTo>
                  <a:lnTo>
                    <a:pt x="7315200" y="609600"/>
                  </a:lnTo>
                  <a:lnTo>
                    <a:pt x="0" y="609600"/>
                  </a:lnTo>
                  <a:close/>
                </a:path>
              </a:pathLst>
            </a:custGeom>
            <a:blipFill>
              <a:blip r:embed="rId3">
                <a:alphaModFix amt="0"/>
              </a:blip>
              <a:stretch>
                <a:fillRect l="0" t="-183820" r="0" b="-183820"/>
              </a:stretch>
            </a:blipFill>
          </p:spPr>
        </p:sp>
        <p:sp>
          <p:nvSpPr>
            <p:cNvPr name="TextBox 10" id="10"/>
            <p:cNvSpPr txBox="true"/>
            <p:nvPr/>
          </p:nvSpPr>
          <p:spPr>
            <a:xfrm>
              <a:off x="0" y="-19050"/>
              <a:ext cx="7315200" cy="628650"/>
            </a:xfrm>
            <a:prstGeom prst="rect">
              <a:avLst/>
            </a:prstGeom>
          </p:spPr>
          <p:txBody>
            <a:bodyPr anchor="ctr" rtlCol="false" tIns="0" lIns="0" bIns="0" rIns="0"/>
            <a:lstStyle/>
            <a:p>
              <a:pPr algn="l">
                <a:lnSpc>
                  <a:spcPts val="2160"/>
                </a:lnSpc>
              </a:pPr>
              <a:r>
                <a:rPr lang="en-US" sz="1800">
                  <a:solidFill>
                    <a:srgbClr val="5B6B8C"/>
                  </a:solidFill>
                  <a:latin typeface="Arial"/>
                  <a:ea typeface="Arial"/>
                  <a:cs typeface="Arial"/>
                  <a:sym typeface="Arial"/>
                </a:rPr>
                <a:t>AgentSync</a:t>
              </a:r>
            </a:p>
          </p:txBody>
        </p:sp>
      </p:grpSp>
      <p:grpSp>
        <p:nvGrpSpPr>
          <p:cNvPr name="Group 11" id="11"/>
          <p:cNvGrpSpPr/>
          <p:nvPr/>
        </p:nvGrpSpPr>
        <p:grpSpPr>
          <a:xfrm rot="0">
            <a:off x="1028700" y="2738343"/>
            <a:ext cx="8551575" cy="2943643"/>
            <a:chOff x="0" y="0"/>
            <a:chExt cx="11402100" cy="3924858"/>
          </a:xfrm>
        </p:grpSpPr>
        <p:sp>
          <p:nvSpPr>
            <p:cNvPr name="Freeform 12" id="12"/>
            <p:cNvSpPr/>
            <p:nvPr/>
          </p:nvSpPr>
          <p:spPr>
            <a:xfrm flipH="false" flipV="false" rot="0">
              <a:off x="0" y="0"/>
              <a:ext cx="11401952" cy="3924769"/>
            </a:xfrm>
            <a:custGeom>
              <a:avLst/>
              <a:gdLst/>
              <a:ahLst/>
              <a:cxnLst/>
              <a:rect r="r" b="b" t="t" l="l"/>
              <a:pathLst>
                <a:path h="3924769" w="11401952">
                  <a:moveTo>
                    <a:pt x="0" y="196200"/>
                  </a:moveTo>
                  <a:cubicBezTo>
                    <a:pt x="0" y="87904"/>
                    <a:pt x="146466" y="0"/>
                    <a:pt x="326910" y="0"/>
                  </a:cubicBezTo>
                  <a:lnTo>
                    <a:pt x="11075043" y="0"/>
                  </a:lnTo>
                  <a:cubicBezTo>
                    <a:pt x="11255698" y="0"/>
                    <a:pt x="11401952" y="87904"/>
                    <a:pt x="11401952" y="196200"/>
                  </a:cubicBezTo>
                  <a:lnTo>
                    <a:pt x="11401952" y="3728569"/>
                  </a:lnTo>
                  <a:cubicBezTo>
                    <a:pt x="11401952" y="3836992"/>
                    <a:pt x="11255487" y="3924769"/>
                    <a:pt x="11075043" y="3924769"/>
                  </a:cubicBezTo>
                  <a:lnTo>
                    <a:pt x="326910" y="3924769"/>
                  </a:lnTo>
                  <a:cubicBezTo>
                    <a:pt x="146466" y="3924896"/>
                    <a:pt x="0" y="3836992"/>
                    <a:pt x="0" y="3728569"/>
                  </a:cubicBezTo>
                  <a:close/>
                </a:path>
              </a:pathLst>
            </a:custGeom>
            <a:solidFill>
              <a:srgbClr val="EAF0FA"/>
            </a:solidFill>
            <a:ln w="25400" cap="sq">
              <a:solidFill>
                <a:srgbClr val="EAF0FA"/>
              </a:solidFill>
              <a:prstDash val="solid"/>
              <a:miter/>
            </a:ln>
          </p:spPr>
        </p:sp>
      </p:grpSp>
      <p:grpSp>
        <p:nvGrpSpPr>
          <p:cNvPr name="Group 13" id="13"/>
          <p:cNvGrpSpPr/>
          <p:nvPr/>
        </p:nvGrpSpPr>
        <p:grpSpPr>
          <a:xfrm rot="0">
            <a:off x="10556920" y="2738343"/>
            <a:ext cx="7549227" cy="6519957"/>
            <a:chOff x="0" y="0"/>
            <a:chExt cx="6861391" cy="5925901"/>
          </a:xfrm>
        </p:grpSpPr>
        <p:sp>
          <p:nvSpPr>
            <p:cNvPr name="Freeform 14" id="14"/>
            <p:cNvSpPr/>
            <p:nvPr/>
          </p:nvSpPr>
          <p:spPr>
            <a:xfrm flipH="false" flipV="false" rot="0">
              <a:off x="0" y="0"/>
              <a:ext cx="6861302" cy="5925767"/>
            </a:xfrm>
            <a:custGeom>
              <a:avLst/>
              <a:gdLst/>
              <a:ahLst/>
              <a:cxnLst/>
              <a:rect r="r" b="b" t="t" l="l"/>
              <a:pathLst>
                <a:path h="5925767" w="6861302">
                  <a:moveTo>
                    <a:pt x="0" y="296231"/>
                  </a:moveTo>
                  <a:cubicBezTo>
                    <a:pt x="0" y="132721"/>
                    <a:pt x="88138" y="0"/>
                    <a:pt x="196723" y="0"/>
                  </a:cubicBezTo>
                  <a:lnTo>
                    <a:pt x="6664579" y="0"/>
                  </a:lnTo>
                  <a:cubicBezTo>
                    <a:pt x="6773291" y="0"/>
                    <a:pt x="6861302" y="132721"/>
                    <a:pt x="6861302" y="296231"/>
                  </a:cubicBezTo>
                  <a:lnTo>
                    <a:pt x="6861302" y="5629536"/>
                  </a:lnTo>
                  <a:cubicBezTo>
                    <a:pt x="6861302" y="5793237"/>
                    <a:pt x="6773164" y="5925767"/>
                    <a:pt x="6664579" y="5925767"/>
                  </a:cubicBezTo>
                  <a:lnTo>
                    <a:pt x="196723" y="5925767"/>
                  </a:lnTo>
                  <a:cubicBezTo>
                    <a:pt x="88138" y="5925939"/>
                    <a:pt x="0" y="5793237"/>
                    <a:pt x="0" y="5629536"/>
                  </a:cubicBezTo>
                  <a:close/>
                </a:path>
              </a:pathLst>
            </a:custGeom>
            <a:solidFill>
              <a:srgbClr val="EAF0FA"/>
            </a:solidFill>
            <a:ln w="25400" cap="sq">
              <a:solidFill>
                <a:srgbClr val="EAF0FA"/>
              </a:solidFill>
              <a:prstDash val="solid"/>
              <a:miter/>
            </a:ln>
          </p:spPr>
        </p:sp>
      </p:grpSp>
      <p:sp>
        <p:nvSpPr>
          <p:cNvPr name="TextBox 15" id="15"/>
          <p:cNvSpPr txBox="true"/>
          <p:nvPr/>
        </p:nvSpPr>
        <p:spPr>
          <a:xfrm rot="0">
            <a:off x="16550640" y="9627870"/>
            <a:ext cx="731520" cy="384810"/>
          </a:xfrm>
          <a:prstGeom prst="rect">
            <a:avLst/>
          </a:prstGeom>
        </p:spPr>
        <p:txBody>
          <a:bodyPr anchor="t" rtlCol="false" tIns="0" lIns="0" bIns="0" rIns="0">
            <a:spAutoFit/>
          </a:bodyPr>
          <a:lstStyle/>
          <a:p>
            <a:pPr algn="r">
              <a:lnSpc>
                <a:spcPts val="2160"/>
              </a:lnSpc>
            </a:pPr>
            <a:r>
              <a:rPr lang="en-US" sz="1800">
                <a:solidFill>
                  <a:srgbClr val="5B6B8C"/>
                </a:solidFill>
                <a:latin typeface="Arial"/>
                <a:ea typeface="Arial"/>
                <a:cs typeface="Arial"/>
                <a:sym typeface="Arial"/>
              </a:rPr>
              <a:t>9</a:t>
            </a:r>
          </a:p>
        </p:txBody>
      </p:sp>
      <p:sp>
        <p:nvSpPr>
          <p:cNvPr name="TextBox 16" id="16"/>
          <p:cNvSpPr txBox="true"/>
          <p:nvPr/>
        </p:nvSpPr>
        <p:spPr>
          <a:xfrm rot="0">
            <a:off x="10881996" y="2957036"/>
            <a:ext cx="5497196" cy="6162675"/>
          </a:xfrm>
          <a:prstGeom prst="rect">
            <a:avLst/>
          </a:prstGeom>
        </p:spPr>
        <p:txBody>
          <a:bodyPr anchor="t" rtlCol="false" tIns="0" lIns="0" bIns="0" rIns="0">
            <a:spAutoFit/>
          </a:bodyPr>
          <a:lstStyle/>
          <a:p>
            <a:pPr algn="l">
              <a:lnSpc>
                <a:spcPts val="3226"/>
              </a:lnSpc>
              <a:spcBef>
                <a:spcPct val="0"/>
              </a:spcBef>
            </a:pPr>
            <a:r>
              <a:rPr lang="en-US" b="true" sz="2688">
                <a:solidFill>
                  <a:srgbClr val="000000"/>
                </a:solidFill>
                <a:latin typeface="Arial Bold"/>
                <a:ea typeface="Arial Bold"/>
                <a:cs typeface="Arial Bold"/>
                <a:sym typeface="Arial Bold"/>
              </a:rPr>
              <a:t>Fu</a:t>
            </a:r>
            <a:r>
              <a:rPr lang="en-US" b="true" sz="2688">
                <a:solidFill>
                  <a:srgbClr val="000000"/>
                </a:solidFill>
                <a:latin typeface="Arial Bold"/>
                <a:ea typeface="Arial Bold"/>
                <a:cs typeface="Arial Bold"/>
                <a:sym typeface="Arial Bold"/>
              </a:rPr>
              <a:t>ture Scope</a:t>
            </a:r>
          </a:p>
          <a:p>
            <a:pPr algn="l">
              <a:lnSpc>
                <a:spcPts val="3226"/>
              </a:lnSpc>
              <a:spcBef>
                <a:spcPct val="0"/>
              </a:spcBef>
            </a:pPr>
          </a:p>
          <a:p>
            <a:pPr algn="l" marL="580441" indent="-290221" lvl="1">
              <a:lnSpc>
                <a:spcPts val="3226"/>
              </a:lnSpc>
              <a:spcBef>
                <a:spcPct val="0"/>
              </a:spcBef>
              <a:buFont typeface="Arial"/>
              <a:buChar char="•"/>
            </a:pPr>
            <a:r>
              <a:rPr lang="en-US" sz="2688">
                <a:solidFill>
                  <a:srgbClr val="000000"/>
                </a:solidFill>
                <a:latin typeface="Arial"/>
                <a:ea typeface="Arial"/>
                <a:cs typeface="Arial"/>
                <a:sym typeface="Arial"/>
              </a:rPr>
              <a:t>Int</a:t>
            </a:r>
            <a:r>
              <a:rPr lang="en-US" sz="2688">
                <a:solidFill>
                  <a:srgbClr val="000000"/>
                </a:solidFill>
                <a:latin typeface="Arial"/>
                <a:ea typeface="Arial"/>
                <a:cs typeface="Arial"/>
                <a:sym typeface="Arial"/>
              </a:rPr>
              <a:t>egrate with real monitoring platforms and IT service-management tools.</a:t>
            </a:r>
          </a:p>
          <a:p>
            <a:pPr algn="l" marL="580441" indent="-290221" lvl="1">
              <a:lnSpc>
                <a:spcPts val="3226"/>
              </a:lnSpc>
              <a:spcBef>
                <a:spcPct val="0"/>
              </a:spcBef>
              <a:buFont typeface="Arial"/>
              <a:buChar char="•"/>
            </a:pPr>
            <a:r>
              <a:rPr lang="en-US" sz="2688">
                <a:solidFill>
                  <a:srgbClr val="000000"/>
                </a:solidFill>
                <a:latin typeface="Arial"/>
                <a:ea typeface="Arial"/>
                <a:cs typeface="Arial"/>
                <a:sym typeface="Arial"/>
              </a:rPr>
              <a:t>Add live workforce calendars and on-call schedules.</a:t>
            </a:r>
          </a:p>
          <a:p>
            <a:pPr algn="l" marL="580441" indent="-290221" lvl="1">
              <a:lnSpc>
                <a:spcPts val="3226"/>
              </a:lnSpc>
              <a:spcBef>
                <a:spcPct val="0"/>
              </a:spcBef>
              <a:buFont typeface="Arial"/>
              <a:buChar char="•"/>
            </a:pPr>
            <a:r>
              <a:rPr lang="en-US" sz="2688">
                <a:solidFill>
                  <a:srgbClr val="000000"/>
                </a:solidFill>
                <a:latin typeface="Arial"/>
                <a:ea typeface="Arial"/>
                <a:cs typeface="Arial"/>
                <a:sym typeface="Arial"/>
              </a:rPr>
              <a:t>Introduce incident-resolution time and assignment-quality analytics.</a:t>
            </a:r>
          </a:p>
          <a:p>
            <a:pPr algn="l" marL="580441" indent="-290221" lvl="1">
              <a:lnSpc>
                <a:spcPts val="3226"/>
              </a:lnSpc>
              <a:spcBef>
                <a:spcPct val="0"/>
              </a:spcBef>
              <a:buFont typeface="Arial"/>
              <a:buChar char="•"/>
            </a:pPr>
            <a:r>
              <a:rPr lang="en-US" sz="2688">
                <a:solidFill>
                  <a:srgbClr val="000000"/>
                </a:solidFill>
                <a:latin typeface="Arial"/>
                <a:ea typeface="Arial"/>
                <a:cs typeface="Arial"/>
                <a:sym typeface="Arial"/>
              </a:rPr>
              <a:t>Strengthen role-based access control and production security.</a:t>
            </a:r>
          </a:p>
          <a:p>
            <a:pPr algn="l" marL="580441" indent="-290221" lvl="1">
              <a:lnSpc>
                <a:spcPts val="3226"/>
              </a:lnSpc>
              <a:spcBef>
                <a:spcPct val="0"/>
              </a:spcBef>
              <a:buFont typeface="Arial"/>
              <a:buChar char="•"/>
            </a:pPr>
            <a:r>
              <a:rPr lang="en-US" sz="2688">
                <a:solidFill>
                  <a:srgbClr val="000000"/>
                </a:solidFill>
                <a:latin typeface="Arial"/>
                <a:ea typeface="Arial"/>
                <a:cs typeface="Arial"/>
                <a:sym typeface="Arial"/>
              </a:rPr>
              <a:t>Evaluate performance using real incident datasets.</a:t>
            </a:r>
          </a:p>
          <a:p>
            <a:pPr algn="l">
              <a:lnSpc>
                <a:spcPts val="3226"/>
              </a:lnSpc>
              <a:spcBef>
                <a:spcPct val="0"/>
              </a:spcBef>
            </a:pPr>
          </a:p>
        </p:txBody>
      </p:sp>
      <p:sp>
        <p:nvSpPr>
          <p:cNvPr name="TextBox 17" id="17"/>
          <p:cNvSpPr txBox="true"/>
          <p:nvPr/>
        </p:nvSpPr>
        <p:spPr>
          <a:xfrm rot="0">
            <a:off x="1028700" y="2966561"/>
            <a:ext cx="6837066" cy="381000"/>
          </a:xfrm>
          <a:prstGeom prst="rect">
            <a:avLst/>
          </a:prstGeom>
        </p:spPr>
        <p:txBody>
          <a:bodyPr anchor="t" rtlCol="false" tIns="0" lIns="0" bIns="0" rIns="0">
            <a:spAutoFit/>
          </a:bodyPr>
          <a:lstStyle/>
          <a:p>
            <a:pPr algn="ctr">
              <a:lnSpc>
                <a:spcPts val="2999"/>
              </a:lnSpc>
              <a:spcBef>
                <a:spcPct val="0"/>
              </a:spcBef>
            </a:pPr>
            <a:r>
              <a:rPr lang="en-US" b="true" sz="2499">
                <a:solidFill>
                  <a:srgbClr val="000000"/>
                </a:solidFill>
                <a:latin typeface="Arial Bold"/>
                <a:ea typeface="Arial Bold"/>
                <a:cs typeface="Arial Bold"/>
                <a:sym typeface="Arial Bold"/>
              </a:rPr>
              <a:t>Co</a:t>
            </a:r>
            <a:r>
              <a:rPr lang="en-US" b="true" sz="2499">
                <a:solidFill>
                  <a:srgbClr val="000000"/>
                </a:solidFill>
                <a:latin typeface="Arial Bold"/>
                <a:ea typeface="Arial Bold"/>
                <a:cs typeface="Arial Bold"/>
                <a:sym typeface="Arial Bold"/>
              </a:rPr>
              <a:t>nclusion</a:t>
            </a:r>
          </a:p>
        </p:txBody>
      </p:sp>
      <p:sp>
        <p:nvSpPr>
          <p:cNvPr name="TextBox 18" id="18"/>
          <p:cNvSpPr txBox="true"/>
          <p:nvPr/>
        </p:nvSpPr>
        <p:spPr>
          <a:xfrm rot="0">
            <a:off x="1169619" y="3648075"/>
            <a:ext cx="8128819" cy="1495425"/>
          </a:xfrm>
          <a:prstGeom prst="rect">
            <a:avLst/>
          </a:prstGeom>
        </p:spPr>
        <p:txBody>
          <a:bodyPr anchor="t" rtlCol="false" tIns="0" lIns="0" bIns="0" rIns="0">
            <a:spAutoFit/>
          </a:bodyPr>
          <a:lstStyle/>
          <a:p>
            <a:pPr algn="l">
              <a:lnSpc>
                <a:spcPts val="2999"/>
              </a:lnSpc>
              <a:spcBef>
                <a:spcPct val="0"/>
              </a:spcBef>
            </a:pPr>
            <a:r>
              <a:rPr lang="en-US" sz="2499">
                <a:solidFill>
                  <a:srgbClr val="000000"/>
                </a:solidFill>
                <a:latin typeface="Arial"/>
                <a:ea typeface="Arial"/>
                <a:cs typeface="Arial"/>
                <a:sym typeface="Arial"/>
              </a:rPr>
              <a:t>AgentSync connects multi-agent AI incident investigation with workforce-aware assignment, helping teams make evidence-based operational decisions while respecting employee capacity.</a:t>
            </a:r>
          </a:p>
        </p:txBody>
      </p:sp>
      <p:sp>
        <p:nvSpPr>
          <p:cNvPr name="TextBox 19" id="19"/>
          <p:cNvSpPr txBox="true"/>
          <p:nvPr/>
        </p:nvSpPr>
        <p:spPr>
          <a:xfrm rot="0">
            <a:off x="2775417" y="7596511"/>
            <a:ext cx="4844177" cy="1190625"/>
          </a:xfrm>
          <a:prstGeom prst="rect">
            <a:avLst/>
          </a:prstGeom>
        </p:spPr>
        <p:txBody>
          <a:bodyPr anchor="t" rtlCol="false" tIns="0" lIns="0" bIns="0" rIns="0">
            <a:spAutoFit/>
          </a:bodyPr>
          <a:lstStyle/>
          <a:p>
            <a:pPr algn="ctr">
              <a:lnSpc>
                <a:spcPts val="9119"/>
              </a:lnSpc>
              <a:spcBef>
                <a:spcPct val="0"/>
              </a:spcBef>
            </a:pPr>
            <a:r>
              <a:rPr lang="en-US" b="true" sz="7599">
                <a:solidFill>
                  <a:srgbClr val="000000"/>
                </a:solidFill>
                <a:latin typeface="Arial Bold"/>
                <a:ea typeface="Arial Bold"/>
                <a:cs typeface="Arial Bold"/>
                <a:sym typeface="Arial Bold"/>
              </a:rPr>
              <a:t>Thank You</a:t>
            </a:r>
          </a:p>
        </p:txBody>
      </p:sp>
    </p:spTree>
  </p:cSld>
  <p:clrMapOvr>
    <a:masterClrMapping/>
  </p:clrMapOvr>
</p:sld>
</file>

<file path=ppt/slides/slide1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DAHYA6r1NLc</dc:identifier>
  <dcterms:modified xsi:type="dcterms:W3CDTF">2011-08-01T06:04:30Z</dcterms:modified>
  <cp:revision>1</cp:revision>
  <dc:title>AgentSync_SIH_Pitch_Simple_v2.pptx</dc:title>
</cp:coreProperties>
</file>